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19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20.xml" ContentType="application/vnd.openxmlformats-officedocument.presentationml.notesSlide+xml"/>
  <Override PartName="/ppt/notesSlides/notesSlide21.xml" ContentType="application/vnd.openxmlformats-officedocument.presentationml.notesSlide+xml"/>
  <Override PartName="/ppt/notesSlides/notesSlide22.xml" ContentType="application/vnd.openxmlformats-officedocument.presentationml.notesSlide+xml"/>
  <Override PartName="/ppt/notesSlides/notesSlide23.xml" ContentType="application/vnd.openxmlformats-officedocument.presentationml.notesSlide+xml"/>
  <Override PartName="/ppt/notesSlides/notesSlide24.xml" ContentType="application/vnd.openxmlformats-officedocument.presentationml.notesSlide+xml"/>
  <Override PartName="/ppt/notesSlides/notesSlide25.xml" ContentType="application/vnd.openxmlformats-officedocument.presentationml.notesSlide+xml"/>
  <Override PartName="/ppt/notesSlides/notesSlide26.xml" ContentType="application/vnd.openxmlformats-officedocument.presentationml.notesSlide+xml"/>
  <Override PartName="/ppt/notesSlides/notesSlide27.xml" ContentType="application/vnd.openxmlformats-officedocument.presentationml.notesSlide+xml"/>
  <Override PartName="/ppt/notesSlides/notesSlide28.xml" ContentType="application/vnd.openxmlformats-officedocument.presentationml.notesSlide+xml"/>
  <Override PartName="/ppt/notesSlides/notesSlide29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30.xml" ContentType="application/vnd.openxmlformats-officedocument.presentationml.notesSlide+xml"/>
  <Override PartName="/ppt/notesSlides/notesSlide31.xml" ContentType="application/vnd.openxmlformats-officedocument.presentationml.notesSlide+xml"/>
  <Override PartName="/ppt/notesSlides/notesSlide32.xml" ContentType="application/vnd.openxmlformats-officedocument.presentationml.notesSlide+xml"/>
  <Override PartName="/ppt/notesSlides/notesSlide33.xml" ContentType="application/vnd.openxmlformats-officedocument.presentationml.notesSlide+xml"/>
  <Override PartName="/ppt/notesSlides/notesSlide34.xml" ContentType="application/vnd.openxmlformats-officedocument.presentationml.notesSlide+xml"/>
  <Override PartName="/ppt/notesSlides/notesSlide35.xml" ContentType="application/vnd.openxmlformats-officedocument.presentationml.notesSlide+xml"/>
  <Override PartName="/ppt/notesSlides/notesSlide36.xml" ContentType="application/vnd.openxmlformats-officedocument.presentationml.notesSlide+xml"/>
  <Override PartName="/ppt/notesSlides/notesSlide37.xml" ContentType="application/vnd.openxmlformats-officedocument.presentationml.notesSlide+xml"/>
  <Override PartName="/ppt/notesSlides/notesSlide38.xml" ContentType="application/vnd.openxmlformats-officedocument.presentationml.notesSlide+xml"/>
  <Override PartName="/ppt/notesSlides/notesSlide39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40.xml" ContentType="application/vnd.openxmlformats-officedocument.presentationml.notesSlide+xml"/>
  <Override PartName="/ppt/notesSlides/notesSlide41.xml" ContentType="application/vnd.openxmlformats-officedocument.presentationml.notesSlide+xml"/>
  <Override PartName="/ppt/notesSlides/notesSlide42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28.xml" ContentType="application/vnd.openxmlformats-officedocument.presentationml.slide+xml"/>
  <Override PartName="/ppt/slides/slide29.xml" ContentType="application/vnd.openxmlformats-officedocument.presentationml.slide+xml"/>
  <Override PartName="/ppt/slides/slide3.xml" ContentType="application/vnd.openxmlformats-officedocument.presentationml.slide+xml"/>
  <Override PartName="/ppt/slides/slide30.xml" ContentType="application/vnd.openxmlformats-officedocument.presentationml.slide+xml"/>
  <Override PartName="/ppt/slides/slide31.xml" ContentType="application/vnd.openxmlformats-officedocument.presentationml.slide+xml"/>
  <Override PartName="/ppt/slides/slide32.xml" ContentType="application/vnd.openxmlformats-officedocument.presentationml.slide+xml"/>
  <Override PartName="/ppt/slides/slide33.xml" ContentType="application/vnd.openxmlformats-officedocument.presentationml.slide+xml"/>
  <Override PartName="/ppt/slides/slide34.xml" ContentType="application/vnd.openxmlformats-officedocument.presentationml.slide+xml"/>
  <Override PartName="/ppt/slides/slide35.xml" ContentType="application/vnd.openxmlformats-officedocument.presentationml.slide+xml"/>
  <Override PartName="/ppt/slides/slide36.xml" ContentType="application/vnd.openxmlformats-officedocument.presentationml.slide+xml"/>
  <Override PartName="/ppt/slides/slide37.xml" ContentType="application/vnd.openxmlformats-officedocument.presentationml.slide+xml"/>
  <Override PartName="/ppt/slides/slide38.xml" ContentType="application/vnd.openxmlformats-officedocument.presentationml.slide+xml"/>
  <Override PartName="/ppt/slides/slide39.xml" ContentType="application/vnd.openxmlformats-officedocument.presentationml.slide+xml"/>
  <Override PartName="/ppt/slides/slide4.xml" ContentType="application/vnd.openxmlformats-officedocument.presentationml.slide+xml"/>
  <Override PartName="/ppt/slides/slide40.xml" ContentType="application/vnd.openxmlformats-officedocument.presentationml.slide+xml"/>
  <Override PartName="/ppt/slides/slide41.xml" ContentType="application/vnd.openxmlformats-officedocument.presentationml.slide+xml"/>
  <Override PartName="/ppt/slides/slide42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theme/theme2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9"/>
    <p:sldId id="258" r:id="rId10"/>
    <p:sldId id="259" r:id="rId11"/>
    <p:sldId id="260" r:id="rId12"/>
    <p:sldId id="261" r:id="rId13"/>
    <p:sldId id="262" r:id="rId14"/>
    <p:sldId id="263" r:id="rId15"/>
    <p:sldId id="264" r:id="rId16"/>
    <p:sldId id="265" r:id="rId17"/>
    <p:sldId id="266" r:id="rId18"/>
    <p:sldId id="267" r:id="rId19"/>
    <p:sldId id="268" r:id="rId20"/>
    <p:sldId id="269" r:id="rId21"/>
    <p:sldId id="270" r:id="rId22"/>
    <p:sldId id="271" r:id="rId23"/>
    <p:sldId id="272" r:id="rId24"/>
    <p:sldId id="273" r:id="rId25"/>
    <p:sldId id="274" r:id="rId26"/>
    <p:sldId id="275" r:id="rId27"/>
    <p:sldId id="276" r:id="rId28"/>
    <p:sldId id="277" r:id="rId29"/>
    <p:sldId id="278" r:id="rId30"/>
    <p:sldId id="279" r:id="rId31"/>
    <p:sldId id="280" r:id="rId32"/>
    <p:sldId id="281" r:id="rId33"/>
    <p:sldId id="282" r:id="rId34"/>
    <p:sldId id="283" r:id="rId35"/>
    <p:sldId id="284" r:id="rId36"/>
    <p:sldId id="285" r:id="rId37"/>
    <p:sldId id="286" r:id="rId38"/>
    <p:sldId id="287" r:id="rId39"/>
    <p:sldId id="288" r:id="rId40"/>
    <p:sldId id="289" r:id="rId41"/>
    <p:sldId id="290" r:id="rId42"/>
    <p:sldId id="291" r:id="rId43"/>
    <p:sldId id="292" r:id="rId44"/>
    <p:sldId id="293" r:id="rId45"/>
    <p:sldId id="294" r:id="rId46"/>
    <p:sldId id="295" r:id="rId47"/>
    <p:sldId id="296" r:id="rId48"/>
    <p:sldId id="297" r:id="rId49"/>
  </p:sldIdLst>
  <p:sldSz cx="12191999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notesMaster" Target="notesMasters/notesMaster1.xml"/><Relationship Id="rId9" Type="http://schemas.openxmlformats.org/officeDocument/2006/relationships/slide" Target="slides/slide2.xml"/><Relationship Id="rId10" Type="http://schemas.openxmlformats.org/officeDocument/2006/relationships/slide" Target="slides/slide3.xml"/><Relationship Id="rId11" Type="http://schemas.openxmlformats.org/officeDocument/2006/relationships/slide" Target="slides/slide4.xml"/><Relationship Id="rId12" Type="http://schemas.openxmlformats.org/officeDocument/2006/relationships/slide" Target="slides/slide5.xml"/><Relationship Id="rId13" Type="http://schemas.openxmlformats.org/officeDocument/2006/relationships/slide" Target="slides/slide6.xml"/><Relationship Id="rId14" Type="http://schemas.openxmlformats.org/officeDocument/2006/relationships/slide" Target="slides/slide7.xml"/><Relationship Id="rId15" Type="http://schemas.openxmlformats.org/officeDocument/2006/relationships/slide" Target="slides/slide8.xml"/><Relationship Id="rId16" Type="http://schemas.openxmlformats.org/officeDocument/2006/relationships/slide" Target="slides/slide9.xml"/><Relationship Id="rId17" Type="http://schemas.openxmlformats.org/officeDocument/2006/relationships/slide" Target="slides/slide10.xml"/><Relationship Id="rId18" Type="http://schemas.openxmlformats.org/officeDocument/2006/relationships/slide" Target="slides/slide11.xml"/><Relationship Id="rId19" Type="http://schemas.openxmlformats.org/officeDocument/2006/relationships/slide" Target="slides/slide12.xml"/><Relationship Id="rId20" Type="http://schemas.openxmlformats.org/officeDocument/2006/relationships/slide" Target="slides/slide13.xml"/><Relationship Id="rId21" Type="http://schemas.openxmlformats.org/officeDocument/2006/relationships/slide" Target="slides/slide14.xml"/><Relationship Id="rId22" Type="http://schemas.openxmlformats.org/officeDocument/2006/relationships/slide" Target="slides/slide15.xml"/><Relationship Id="rId23" Type="http://schemas.openxmlformats.org/officeDocument/2006/relationships/slide" Target="slides/slide16.xml"/><Relationship Id="rId24" Type="http://schemas.openxmlformats.org/officeDocument/2006/relationships/slide" Target="slides/slide17.xml"/><Relationship Id="rId25" Type="http://schemas.openxmlformats.org/officeDocument/2006/relationships/slide" Target="slides/slide18.xml"/><Relationship Id="rId26" Type="http://schemas.openxmlformats.org/officeDocument/2006/relationships/slide" Target="slides/slide19.xml"/><Relationship Id="rId27" Type="http://schemas.openxmlformats.org/officeDocument/2006/relationships/slide" Target="slides/slide20.xml"/><Relationship Id="rId28" Type="http://schemas.openxmlformats.org/officeDocument/2006/relationships/slide" Target="slides/slide21.xml"/><Relationship Id="rId29" Type="http://schemas.openxmlformats.org/officeDocument/2006/relationships/slide" Target="slides/slide22.xml"/><Relationship Id="rId30" Type="http://schemas.openxmlformats.org/officeDocument/2006/relationships/slide" Target="slides/slide23.xml"/><Relationship Id="rId31" Type="http://schemas.openxmlformats.org/officeDocument/2006/relationships/slide" Target="slides/slide24.xml"/><Relationship Id="rId32" Type="http://schemas.openxmlformats.org/officeDocument/2006/relationships/slide" Target="slides/slide25.xml"/><Relationship Id="rId33" Type="http://schemas.openxmlformats.org/officeDocument/2006/relationships/slide" Target="slides/slide26.xml"/><Relationship Id="rId34" Type="http://schemas.openxmlformats.org/officeDocument/2006/relationships/slide" Target="slides/slide27.xml"/><Relationship Id="rId35" Type="http://schemas.openxmlformats.org/officeDocument/2006/relationships/slide" Target="slides/slide28.xml"/><Relationship Id="rId36" Type="http://schemas.openxmlformats.org/officeDocument/2006/relationships/slide" Target="slides/slide29.xml"/><Relationship Id="rId37" Type="http://schemas.openxmlformats.org/officeDocument/2006/relationships/slide" Target="slides/slide30.xml"/><Relationship Id="rId38" Type="http://schemas.openxmlformats.org/officeDocument/2006/relationships/slide" Target="slides/slide31.xml"/><Relationship Id="rId39" Type="http://schemas.openxmlformats.org/officeDocument/2006/relationships/slide" Target="slides/slide32.xml"/><Relationship Id="rId40" Type="http://schemas.openxmlformats.org/officeDocument/2006/relationships/slide" Target="slides/slide33.xml"/><Relationship Id="rId41" Type="http://schemas.openxmlformats.org/officeDocument/2006/relationships/slide" Target="slides/slide34.xml"/><Relationship Id="rId42" Type="http://schemas.openxmlformats.org/officeDocument/2006/relationships/slide" Target="slides/slide35.xml"/><Relationship Id="rId43" Type="http://schemas.openxmlformats.org/officeDocument/2006/relationships/slide" Target="slides/slide36.xml"/><Relationship Id="rId44" Type="http://schemas.openxmlformats.org/officeDocument/2006/relationships/slide" Target="slides/slide37.xml"/><Relationship Id="rId45" Type="http://schemas.openxmlformats.org/officeDocument/2006/relationships/slide" Target="slides/slide38.xml"/><Relationship Id="rId46" Type="http://schemas.openxmlformats.org/officeDocument/2006/relationships/slide" Target="slides/slide39.xml"/><Relationship Id="rId47" Type="http://schemas.openxmlformats.org/officeDocument/2006/relationships/slide" Target="slides/slide40.xml"/><Relationship Id="rId48" Type="http://schemas.openxmlformats.org/officeDocument/2006/relationships/slide" Target="slides/slide41.xml"/><Relationship Id="rId49" Type="http://schemas.openxmlformats.org/officeDocument/2006/relationships/slide" Target="slides/slide42.xml"/></Relationships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p="http://schemas.openxmlformats.org/presentationml/2006/main" xmlns:r="http://schemas.openxmlformats.org/officeDocument/2006/relationships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0F89C1C7-3DCD-1040-A9CF-14679D8B5DDD}" type="datetimeFigureOut">
              <a:rPr lang="en-US" smtClean="0"/>
              <a:t>10/17/16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1143000" y="685800"/>
            <a:ext cx="4572000" cy="34290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BB5E49A5-4136-284D-997B-48E1D791AD67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23252185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.xml"/></Relationships>
</file>

<file path=ppt/notesSlides/_rels/notesSlide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.xml"/></Relationships>
</file>

<file path=ppt/notesSlides/_rels/notesSlide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.xml"/></Relationships>
</file>

<file path=ppt/notesSlides/_rels/notesSlide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.xml"/></Relationships>
</file>

<file path=ppt/notesSlides/_rels/notesSlide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.xml"/></Relationships>
</file>

<file path=ppt/notesSlides/_rels/notesSlide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.xml"/></Relationships>
</file>

<file path=ppt/notesSlides/_rels/notesSlide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7.xml"/></Relationships>
</file>

<file path=ppt/notesSlides/_rels/notesSlide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8.xml"/></Relationships>
</file>

<file path=ppt/notesSlides/_rels/notesSlide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9.xml"/></Relationships>
</file>

<file path=ppt/notesSlides/_rels/notesSlide1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0.xml"/></Relationships>
</file>

<file path=ppt/notesSlides/_rels/notesSlide1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1.xml"/></Relationships>
</file>

<file path=ppt/notesSlides/_rels/notesSlide1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2.xml"/></Relationships>
</file>

<file path=ppt/notesSlides/_rels/notesSlide1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3.xml"/></Relationships>
</file>

<file path=ppt/notesSlides/_rels/notesSlide1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4.xml"/></Relationships>
</file>

<file path=ppt/notesSlides/_rels/notesSlide1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5.xml"/></Relationships>
</file>

<file path=ppt/notesSlides/_rels/notesSlide1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6.xml"/></Relationships>
</file>

<file path=ppt/notesSlides/_rels/notesSlide1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7.xml"/></Relationships>
</file>

<file path=ppt/notesSlides/_rels/notesSlide1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8.xml"/></Relationships>
</file>

<file path=ppt/notesSlides/_rels/notesSlide1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9.xml"/></Relationships>
</file>

<file path=ppt/notesSlides/_rels/notesSlide2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0.xml"/></Relationships>
</file>

<file path=ppt/notesSlides/_rels/notesSlide2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1.xml"/></Relationships>
</file>

<file path=ppt/notesSlides/_rels/notesSlide2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2.xml"/></Relationships>
</file>

<file path=ppt/notesSlides/_rels/notesSlide2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3.xml"/></Relationships>
</file>

<file path=ppt/notesSlides/_rels/notesSlide2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4.xml"/></Relationships>
</file>

<file path=ppt/notesSlides/_rels/notesSlide2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5.xml"/></Relationships>
</file>

<file path=ppt/notesSlides/_rels/notesSlide2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6.xml"/></Relationships>
</file>

<file path=ppt/notesSlides/_rels/notesSlide2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7.xml"/></Relationships>
</file>

<file path=ppt/notesSlides/_rels/notesSlide2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8.xml"/></Relationships>
</file>

<file path=ppt/notesSlides/_rels/notesSlide2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9.xml"/></Relationships>
</file>

<file path=ppt/notesSlides/_rels/notesSlide3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0.xml"/></Relationships>
</file>

<file path=ppt/notesSlides/_rels/notesSlide3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1.xml"/></Relationships>
</file>

<file path=ppt/notesSlides/_rels/notesSlide3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2.xml"/></Relationships>
</file>

<file path=ppt/notesSlides/_rels/notesSlide3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3.xml"/></Relationships>
</file>

<file path=ppt/notesSlides/_rels/notesSlide3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4.xml"/></Relationships>
</file>

<file path=ppt/notesSlides/_rels/notesSlide3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5.xml"/></Relationships>
</file>

<file path=ppt/notesSlides/_rels/notesSlide3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6.xml"/></Relationships>
</file>

<file path=ppt/notesSlides/_rels/notesSlide3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7.xml"/></Relationships>
</file>

<file path=ppt/notesSlides/_rels/notesSlide3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8.xml"/></Relationships>
</file>

<file path=ppt/notesSlides/_rels/notesSlide3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9.xml"/></Relationships>
</file>

<file path=ppt/notesSlides/_rels/notesSlide4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0.xml"/></Relationships>
</file>

<file path=ppt/notesSlides/_rels/notesSlide4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1.xml"/></Relationships>
</file>

<file path=ppt/notesSlides/_rels/notesSlide4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2.xml"/></Relationships>
</file>

<file path=ppt/notesSlides/notesSlide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[설명] 좌우 바퀴 속도 차이와 Twist linear.x/angular.z로 직진·회전·곡선 주행을 설명한다.</a:t>
            </a:r>
          </a:p>
          <a:p>
            <a:r>
              <a:t>[실행] 슬라이드의 명령 또는 파일 작성 단계를 진행한다.</a:t>
            </a:r>
          </a:p>
          <a:p>
            <a:r>
              <a:t>[확인] /cmd_vel에서 odom과 바퀴 구동 topic으로 이어지는 경로를 확인한다.</a:t>
            </a:r>
          </a:p>
          <a:p>
            <a:r>
              <a:t>[멈춤] 교육생이 현재 체크포인트를 통과할 때까지 기다린다.</a:t>
            </a:r>
          </a:p>
          <a:p>
            <a:r>
              <a:t>[오류] 오류가 나면 현재 폴더, source, 파일 경로를 먼저 확인한다.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[설명] 현재 모듈이 앞뒤 과정과 분리된 예제가 아님을 보여 준다.</a:t>
            </a:r>
          </a:p>
          <a:p>
            <a:r>
              <a:t>[실행] 슬라이드의 명령 또는 파일 작성 단계를 진행한다.</a:t>
            </a:r>
          </a:p>
          <a:p>
            <a:r>
              <a:t>[확인] 이전=M08 World/AGV, 다음=M10 ros_gz_bridge을 말할 수 있다.</a:t>
            </a:r>
          </a:p>
          <a:p>
            <a:r>
              <a:t>[멈춤] 교육생이 현재 체크포인트를 통과할 때까지 기다린다.</a:t>
            </a:r>
          </a:p>
          <a:p>
            <a:r>
              <a:t>[오류] 오류가 나면 현재 폴더, source, 파일 경로를 먼저 확인한다.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[설명] 교육생의 시작 상태를 통일한다.</a:t>
            </a:r>
          </a:p>
          <a:p>
            <a:r>
              <a:t>[실행] pwd; source /opt/ros/jazzy/setup.bash; source ~/agv_ws/install/setup.bash</a:t>
            </a:r>
          </a:p>
          <a:p>
            <a:r>
              <a:t>[확인] 현재 폴더와 source 상태를 모두 확인한다.</a:t>
            </a:r>
          </a:p>
          <a:p>
            <a:r>
              <a:t>[멈춤] 교육생이 현재 체크포인트를 통과할 때까지 기다린다.</a:t>
            </a:r>
          </a:p>
          <a:p>
            <a:r>
              <a:t>[오류] 오류가 나면 현재 폴더, source, 파일 경로를 먼저 확인한다.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[설명] 좌우 바퀴 속도 차이와 Twist linear.x/angular.z로 직진·회전·곡선 주행을 설명한다.</a:t>
            </a:r>
          </a:p>
          <a:p>
            <a:r>
              <a:t>[실행] 슬라이드의 명령 또는 파일 작성 단계를 진행한다.</a:t>
            </a:r>
          </a:p>
          <a:p>
            <a:r>
              <a:t>[확인] /cmd_vel에서 odom과 바퀴 구동 topic으로 이어지는 경로를 확인한다.</a:t>
            </a:r>
          </a:p>
          <a:p>
            <a:r>
              <a:t>[멈춤] 교육생이 현재 체크포인트를 통과할 때까지 기다린다.</a:t>
            </a:r>
          </a:p>
          <a:p>
            <a:r>
              <a:t>[오류] 오류가 나면 현재 폴더, source, 파일 경로를 먼저 확인한다.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[설명] 도식의 각 상자가 무엇을 만들고 화살표가 어떤 방향으로 데이터를 보내는지 설명한다.</a:t>
            </a:r>
          </a:p>
          <a:p>
            <a:r>
              <a:t>[실행] 슬라이드의 명령 또는 파일 작성 단계를 진행한다.</a:t>
            </a:r>
          </a:p>
          <a:p>
            <a:r>
              <a:t>[확인] 교육생이 왼쪽에서 오른쪽(또는 제어 방향)으로 흐름을 말할 수 있다.</a:t>
            </a:r>
          </a:p>
          <a:p>
            <a:r>
              <a:t>[멈춤] 교육생이 현재 체크포인트를 통과할 때까지 기다린다.</a:t>
            </a:r>
          </a:p>
          <a:p>
            <a:r>
              <a:t>[오류] 오류가 나면 현재 폴더, source, 파일 경로를 먼저 확인한다.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[설명] 실제 파일 경로를 보여 주고 어떤 package의 책임인지 설명한다.</a:t>
            </a:r>
          </a:p>
          <a:p>
            <a:r>
              <a:t>[실행] 슬라이드의 명령 또는 파일 작성 단계를 진행한다.</a:t>
            </a:r>
          </a:p>
          <a:p>
            <a:r>
              <a:t>[확인] 교육생이 파일의 부모 package를 찾을 수 있다.</a:t>
            </a:r>
          </a:p>
          <a:p>
            <a:r>
              <a:t>[멈춤] 교육생이 현재 체크포인트를 통과할 때까지 기다린다.</a:t>
            </a:r>
          </a:p>
          <a:p>
            <a:r>
              <a:t>[오류] 오류가 나면 현재 폴더, source, 파일 경로를 먼저 확인한다.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[설명] linear.x는 m/s이고 angular.z는 rad/s다.</a:t>
            </a:r>
          </a:p>
          <a:p>
            <a:r>
              <a:t>[실행] ros2 topic pub --rate 10 /cmd_vel geometry_msgs/msg/Twist \</a:t>
            </a:r>
          </a:p>
          <a:p>
            <a:r>
              <a:t>  "{linear: {x: 0.15}, angular: {z: 0.0}}"</a:t>
            </a:r>
          </a:p>
          <a:p>
            <a:r>
              <a:t>[확인] 명령 출력에서 슬라이드의 확인 항목을 찾는다.</a:t>
            </a:r>
          </a:p>
          <a:p>
            <a:r>
              <a:t>[멈춤] 교육생이 현재 체크포인트를 통과할 때까지 기다린다.</a:t>
            </a:r>
          </a:p>
          <a:p>
            <a:r>
              <a:t>[오류] 오류가 나면 현재 폴더, source, 파일 경로를 먼저 확인한다.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[설명] 제자리 회전은 linear.x=0, angular.z만 양수/음수로 바꾼다.</a:t>
            </a:r>
          </a:p>
          <a:p>
            <a:r>
              <a:t>[실행] ros2 topic pub --rate 10 /cmd_vel geometry_msgs/msg/Twist \</a:t>
            </a:r>
          </a:p>
          <a:p>
            <a:r>
              <a:t>  "{linear: {x: 0.0}, angular: {z: 0.4}}"</a:t>
            </a:r>
          </a:p>
          <a:p>
            <a:r>
              <a:t>ros2 topic echo /odom --once</a:t>
            </a:r>
          </a:p>
          <a:p>
            <a:r>
              <a:t>[확인] 명령 출력에서 슬라이드의 확인 항목을 찾는다.</a:t>
            </a:r>
          </a:p>
          <a:p>
            <a:r>
              <a:t>[멈춤] 교육생이 현재 체크포인트를 통과할 때까지 기다린다.</a:t>
            </a:r>
          </a:p>
          <a:p>
            <a:r>
              <a:t>[오류] 오류가 나면 현재 폴더, source, 파일 경로를 먼저 확인한다.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[설명] ~/agv_ws/src/agv_gazebo/models/agv/model.sdf의 전체 파일을 1/24 구간으로 작성한다.</a:t>
            </a:r>
          </a:p>
          <a:p>
            <a:r>
              <a:t>[실행] nano ~/agv_ws/src/agv_gazebo/models/agv/model.sdf</a:t>
            </a:r>
          </a:p>
          <a:p>
            <a:r>
              <a:t>[확인] 코드를 저장하고 다음 코드 슬라이드 또는 build 단계로 이동한다.</a:t>
            </a:r>
          </a:p>
          <a:p>
            <a:r>
              <a:t>[멈춤] 교육생이 현재 체크포인트를 통과할 때까지 기다린다.</a:t>
            </a:r>
          </a:p>
          <a:p>
            <a:r>
              <a:t>[오류] 들여쓰기·XML 태그·따옴표가 슬라이드와 정확히 같은지 확인한다.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[설명] ~/agv_ws/src/agv_gazebo/models/agv/model.sdf의 전체 파일을 2/24 구간으로 작성한다.</a:t>
            </a:r>
          </a:p>
          <a:p>
            <a:r>
              <a:t>[실행] nano ~/agv_ws/src/agv_gazebo/models/agv/model.sdf</a:t>
            </a:r>
          </a:p>
          <a:p>
            <a:r>
              <a:t>[확인] 코드를 저장하고 다음 코드 슬라이드 또는 build 단계로 이동한다.</a:t>
            </a:r>
          </a:p>
          <a:p>
            <a:r>
              <a:t>[멈춤] 교육생이 현재 체크포인트를 통과할 때까지 기다린다.</a:t>
            </a:r>
          </a:p>
          <a:p>
            <a:r>
              <a:t>[오류] 들여쓰기·XML 태그·따옴표가 슬라이드와 정확히 같은지 확인한다.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[설명] ~/agv_ws/src/agv_gazebo/models/agv/model.sdf의 전체 파일을 3/24 구간으로 작성한다.</a:t>
            </a:r>
          </a:p>
          <a:p>
            <a:r>
              <a:t>[실행] nano ~/agv_ws/src/agv_gazebo/models/agv/model.sdf</a:t>
            </a:r>
          </a:p>
          <a:p>
            <a:r>
              <a:t>[확인] 코드를 저장하고 다음 코드 슬라이드 또는 build 단계로 이동한다.</a:t>
            </a:r>
          </a:p>
          <a:p>
            <a:r>
              <a:t>[멈춤] 교육생이 현재 체크포인트를 통과할 때까지 기다린다.</a:t>
            </a:r>
          </a:p>
          <a:p>
            <a:r>
              <a:t>[오류] 들여쓰기·XML 태그·따옴표가 슬라이드와 정확히 같은지 확인한다.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[설명] ~/agv_ws/src/agv_gazebo/models/agv/model.sdf의 전체 파일을 4/24 구간으로 작성한다.</a:t>
            </a:r>
          </a:p>
          <a:p>
            <a:r>
              <a:t>[실행] nano ~/agv_ws/src/agv_gazebo/models/agv/model.sdf</a:t>
            </a:r>
          </a:p>
          <a:p>
            <a:r>
              <a:t>[확인] 코드를 저장하고 다음 코드 슬라이드 또는 build 단계로 이동한다.</a:t>
            </a:r>
          </a:p>
          <a:p>
            <a:r>
              <a:t>[멈춤] 교육생이 현재 체크포인트를 통과할 때까지 기다린다.</a:t>
            </a:r>
          </a:p>
          <a:p>
            <a:r>
              <a:t>[오류] 들여쓰기·XML 태그·따옴표가 슬라이드와 정확히 같은지 확인한다.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[설명] ~/agv_ws/src/agv_gazebo/models/agv/model.sdf의 전체 파일을 5/24 구간으로 작성한다.</a:t>
            </a:r>
          </a:p>
          <a:p>
            <a:r>
              <a:t>[실행] nano ~/agv_ws/src/agv_gazebo/models/agv/model.sdf</a:t>
            </a:r>
          </a:p>
          <a:p>
            <a:r>
              <a:t>[확인] 코드를 저장하고 다음 코드 슬라이드 또는 build 단계로 이동한다.</a:t>
            </a:r>
          </a:p>
          <a:p>
            <a:r>
              <a:t>[멈춤] 교육생이 현재 체크포인트를 통과할 때까지 기다린다.</a:t>
            </a:r>
          </a:p>
          <a:p>
            <a:r>
              <a:t>[오류] 들여쓰기·XML 태그·따옴표가 슬라이드와 정확히 같은지 확인한다.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[설명] ~/agv_ws/src/agv_gazebo/models/agv/model.sdf의 전체 파일을 6/24 구간으로 작성한다.</a:t>
            </a:r>
          </a:p>
          <a:p>
            <a:r>
              <a:t>[실행] nano ~/agv_ws/src/agv_gazebo/models/agv/model.sdf</a:t>
            </a:r>
          </a:p>
          <a:p>
            <a:r>
              <a:t>[확인] 코드를 저장하고 다음 코드 슬라이드 또는 build 단계로 이동한다.</a:t>
            </a:r>
          </a:p>
          <a:p>
            <a:r>
              <a:t>[멈춤] 교육생이 현재 체크포인트를 통과할 때까지 기다린다.</a:t>
            </a:r>
          </a:p>
          <a:p>
            <a:r>
              <a:t>[오류] 들여쓰기·XML 태그·따옴표가 슬라이드와 정확히 같은지 확인한다.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[설명] ~/agv_ws/src/agv_gazebo/models/agv/model.sdf의 전체 파일을 7/24 구간으로 작성한다.</a:t>
            </a:r>
          </a:p>
          <a:p>
            <a:r>
              <a:t>[실행] nano ~/agv_ws/src/agv_gazebo/models/agv/model.sdf</a:t>
            </a:r>
          </a:p>
          <a:p>
            <a:r>
              <a:t>[확인] 코드를 저장하고 다음 코드 슬라이드 또는 build 단계로 이동한다.</a:t>
            </a:r>
          </a:p>
          <a:p>
            <a:r>
              <a:t>[멈춤] 교육생이 현재 체크포인트를 통과할 때까지 기다린다.</a:t>
            </a:r>
          </a:p>
          <a:p>
            <a:r>
              <a:t>[오류] 들여쓰기·XML 태그·따옴표가 슬라이드와 정확히 같은지 확인한다.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[설명] ~/agv_ws/src/agv_gazebo/models/agv/model.sdf의 전체 파일을 8/24 구간으로 작성한다.</a:t>
            </a:r>
          </a:p>
          <a:p>
            <a:r>
              <a:t>[실행] nano ~/agv_ws/src/agv_gazebo/models/agv/model.sdf</a:t>
            </a:r>
          </a:p>
          <a:p>
            <a:r>
              <a:t>[확인] 코드를 저장하고 다음 코드 슬라이드 또는 build 단계로 이동한다.</a:t>
            </a:r>
          </a:p>
          <a:p>
            <a:r>
              <a:t>[멈춤] 교육생이 현재 체크포인트를 통과할 때까지 기다린다.</a:t>
            </a:r>
          </a:p>
          <a:p>
            <a:r>
              <a:t>[오류] 들여쓰기·XML 태그·따옴표가 슬라이드와 정확히 같은지 확인한다.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[설명] ~/agv_ws/src/agv_gazebo/models/agv/model.sdf의 전체 파일을 9/24 구간으로 작성한다.</a:t>
            </a:r>
          </a:p>
          <a:p>
            <a:r>
              <a:t>[실행] nano ~/agv_ws/src/agv_gazebo/models/agv/model.sdf</a:t>
            </a:r>
          </a:p>
          <a:p>
            <a:r>
              <a:t>[확인] 코드를 저장하고 다음 코드 슬라이드 또는 build 단계로 이동한다.</a:t>
            </a:r>
          </a:p>
          <a:p>
            <a:r>
              <a:t>[멈춤] 교육생이 현재 체크포인트를 통과할 때까지 기다린다.</a:t>
            </a:r>
          </a:p>
          <a:p>
            <a:r>
              <a:t>[오류] 들여쓰기·XML 태그·따옴표가 슬라이드와 정확히 같은지 확인한다.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8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[설명] ~/agv_ws/src/agv_gazebo/models/agv/model.sdf의 전체 파일을 10/24 구간으로 작성한다.</a:t>
            </a:r>
          </a:p>
          <a:p>
            <a:r>
              <a:t>[실행] nano ~/agv_ws/src/agv_gazebo/models/agv/model.sdf</a:t>
            </a:r>
          </a:p>
          <a:p>
            <a:r>
              <a:t>[확인] 코드를 저장하고 다음 코드 슬라이드 또는 build 단계로 이동한다.</a:t>
            </a:r>
          </a:p>
          <a:p>
            <a:r>
              <a:t>[멈춤] 교육생이 현재 체크포인트를 통과할 때까지 기다린다.</a:t>
            </a:r>
          </a:p>
          <a:p>
            <a:r>
              <a:t>[오류] 들여쓰기·XML 태그·따옴표가 슬라이드와 정확히 같은지 확인한다.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9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[설명] ~/agv_ws/src/agv_gazebo/models/agv/model.sdf의 전체 파일을 11/24 구간으로 작성한다.</a:t>
            </a:r>
          </a:p>
          <a:p>
            <a:r>
              <a:t>[실행] nano ~/agv_ws/src/agv_gazebo/models/agv/model.sdf</a:t>
            </a:r>
          </a:p>
          <a:p>
            <a:r>
              <a:t>[확인] 코드를 저장하고 다음 코드 슬라이드 또는 build 단계로 이동한다.</a:t>
            </a:r>
          </a:p>
          <a:p>
            <a:r>
              <a:t>[멈춤] 교육생이 현재 체크포인트를 통과할 때까지 기다린다.</a:t>
            </a:r>
          </a:p>
          <a:p>
            <a:r>
              <a:t>[오류] 들여쓰기·XML 태그·따옴표가 슬라이드와 정확히 같은지 확인한다.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0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[설명] ~/agv_ws/src/agv_gazebo/models/agv/model.sdf의 전체 파일을 12/24 구간으로 작성한다.</a:t>
            </a:r>
          </a:p>
          <a:p>
            <a:r>
              <a:t>[실행] nano ~/agv_ws/src/agv_gazebo/models/agv/model.sdf</a:t>
            </a:r>
          </a:p>
          <a:p>
            <a:r>
              <a:t>[확인] 코드를 저장하고 다음 코드 슬라이드 또는 build 단계로 이동한다.</a:t>
            </a:r>
          </a:p>
          <a:p>
            <a:r>
              <a:t>[멈춤] 교육생이 현재 체크포인트를 통과할 때까지 기다린다.</a:t>
            </a:r>
          </a:p>
          <a:p>
            <a:r>
              <a:t>[오류] 들여쓰기·XML 태그·따옴표가 슬라이드와 정확히 같은지 확인한다.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[설명] ~/agv_ws/src/agv_gazebo/models/agv/model.sdf의 전체 파일을 13/24 구간으로 작성한다.</a:t>
            </a:r>
          </a:p>
          <a:p>
            <a:r>
              <a:t>[실행] nano ~/agv_ws/src/agv_gazebo/models/agv/model.sdf</a:t>
            </a:r>
          </a:p>
          <a:p>
            <a:r>
              <a:t>[확인] 코드를 저장하고 다음 코드 슬라이드 또는 build 단계로 이동한다.</a:t>
            </a:r>
          </a:p>
          <a:p>
            <a:r>
              <a:t>[멈춤] 교육생이 현재 체크포인트를 통과할 때까지 기다린다.</a:t>
            </a:r>
          </a:p>
          <a:p>
            <a:r>
              <a:t>[오류] 들여쓰기·XML 태그·따옴표가 슬라이드와 정확히 같은지 확인한다.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[설명] ~/agv_ws/src/agv_gazebo/models/agv/model.sdf의 전체 파일을 14/24 구간으로 작성한다.</a:t>
            </a:r>
          </a:p>
          <a:p>
            <a:r>
              <a:t>[실행] nano ~/agv_ws/src/agv_gazebo/models/agv/model.sdf</a:t>
            </a:r>
          </a:p>
          <a:p>
            <a:r>
              <a:t>[확인] 코드를 저장하고 다음 코드 슬라이드 또는 build 단계로 이동한다.</a:t>
            </a:r>
          </a:p>
          <a:p>
            <a:r>
              <a:t>[멈춤] 교육생이 현재 체크포인트를 통과할 때까지 기다린다.</a:t>
            </a:r>
          </a:p>
          <a:p>
            <a:r>
              <a:t>[오류] 들여쓰기·XML 태그·따옴표가 슬라이드와 정확히 같은지 확인한다.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[설명] ~/agv_ws/src/agv_gazebo/models/agv/model.sdf의 전체 파일을 15/24 구간으로 작성한다.</a:t>
            </a:r>
          </a:p>
          <a:p>
            <a:r>
              <a:t>[실행] nano ~/agv_ws/src/agv_gazebo/models/agv/model.sdf</a:t>
            </a:r>
          </a:p>
          <a:p>
            <a:r>
              <a:t>[확인] 코드를 저장하고 다음 코드 슬라이드 또는 build 단계로 이동한다.</a:t>
            </a:r>
          </a:p>
          <a:p>
            <a:r>
              <a:t>[멈춤] 교육생이 현재 체크포인트를 통과할 때까지 기다린다.</a:t>
            </a:r>
          </a:p>
          <a:p>
            <a:r>
              <a:t>[오류] 들여쓰기·XML 태그·따옴표가 슬라이드와 정확히 같은지 확인한다.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[설명] ~/agv_ws/src/agv_gazebo/models/agv/model.sdf의 전체 파일을 16/24 구간으로 작성한다.</a:t>
            </a:r>
          </a:p>
          <a:p>
            <a:r>
              <a:t>[실행] nano ~/agv_ws/src/agv_gazebo/models/agv/model.sdf</a:t>
            </a:r>
          </a:p>
          <a:p>
            <a:r>
              <a:t>[확인] 코드를 저장하고 다음 코드 슬라이드 또는 build 단계로 이동한다.</a:t>
            </a:r>
          </a:p>
          <a:p>
            <a:r>
              <a:t>[멈춤] 교육생이 현재 체크포인트를 통과할 때까지 기다린다.</a:t>
            </a:r>
          </a:p>
          <a:p>
            <a:r>
              <a:t>[오류] 들여쓰기·XML 태그·따옴표가 슬라이드와 정확히 같은지 확인한다.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[설명] ~/agv_ws/src/agv_gazebo/models/agv/model.sdf의 전체 파일을 17/24 구간으로 작성한다.</a:t>
            </a:r>
          </a:p>
          <a:p>
            <a:r>
              <a:t>[실행] nano ~/agv_ws/src/agv_gazebo/models/agv/model.sdf</a:t>
            </a:r>
          </a:p>
          <a:p>
            <a:r>
              <a:t>[확인] 코드를 저장하고 다음 코드 슬라이드 또는 build 단계로 이동한다.</a:t>
            </a:r>
          </a:p>
          <a:p>
            <a:r>
              <a:t>[멈춤] 교육생이 현재 체크포인트를 통과할 때까지 기다린다.</a:t>
            </a:r>
          </a:p>
          <a:p>
            <a:r>
              <a:t>[오류] 들여쓰기·XML 태그·따옴표가 슬라이드와 정확히 같은지 확인한다.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[설명] ~/agv_ws/src/agv_gazebo/models/agv/model.sdf의 전체 파일을 18/24 구간으로 작성한다.</a:t>
            </a:r>
          </a:p>
          <a:p>
            <a:r>
              <a:t>[실행] nano ~/agv_ws/src/agv_gazebo/models/agv/model.sdf</a:t>
            </a:r>
          </a:p>
          <a:p>
            <a:r>
              <a:t>[확인] 코드를 저장하고 다음 코드 슬라이드 또는 build 단계로 이동한다.</a:t>
            </a:r>
          </a:p>
          <a:p>
            <a:r>
              <a:t>[멈춤] 교육생이 현재 체크포인트를 통과할 때까지 기다린다.</a:t>
            </a:r>
          </a:p>
          <a:p>
            <a:r>
              <a:t>[오류] 들여쓰기·XML 태그·따옴표가 슬라이드와 정확히 같은지 확인한다.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[설명] ~/agv_ws/src/agv_gazebo/models/agv/model.sdf의 전체 파일을 19/24 구간으로 작성한다.</a:t>
            </a:r>
          </a:p>
          <a:p>
            <a:r>
              <a:t>[실행] nano ~/agv_ws/src/agv_gazebo/models/agv/model.sdf</a:t>
            </a:r>
          </a:p>
          <a:p>
            <a:r>
              <a:t>[확인] 코드를 저장하고 다음 코드 슬라이드 또는 build 단계로 이동한다.</a:t>
            </a:r>
          </a:p>
          <a:p>
            <a:r>
              <a:t>[멈춤] 교육생이 현재 체크포인트를 통과할 때까지 기다린다.</a:t>
            </a:r>
          </a:p>
          <a:p>
            <a:r>
              <a:t>[오류] 들여쓰기·XML 태그·따옴표가 슬라이드와 정확히 같은지 확인한다.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8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[설명] ~/agv_ws/src/agv_gazebo/models/agv/model.sdf의 전체 파일을 20/24 구간으로 작성한다.</a:t>
            </a:r>
          </a:p>
          <a:p>
            <a:r>
              <a:t>[실행] nano ~/agv_ws/src/agv_gazebo/models/agv/model.sdf</a:t>
            </a:r>
          </a:p>
          <a:p>
            <a:r>
              <a:t>[확인] 코드를 저장하고 다음 코드 슬라이드 또는 build 단계로 이동한다.</a:t>
            </a:r>
          </a:p>
          <a:p>
            <a:r>
              <a:t>[멈춤] 교육생이 현재 체크포인트를 통과할 때까지 기다린다.</a:t>
            </a:r>
          </a:p>
          <a:p>
            <a:r>
              <a:t>[오류] 들여쓰기·XML 태그·따옴표가 슬라이드와 정확히 같은지 확인한다.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9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[설명] ~/agv_ws/src/agv_gazebo/models/agv/model.sdf의 전체 파일을 21/24 구간으로 작성한다.</a:t>
            </a:r>
          </a:p>
          <a:p>
            <a:r>
              <a:t>[실행] nano ~/agv_ws/src/agv_gazebo/models/agv/model.sdf</a:t>
            </a:r>
          </a:p>
          <a:p>
            <a:r>
              <a:t>[확인] 코드를 저장하고 다음 코드 슬라이드 또는 build 단계로 이동한다.</a:t>
            </a:r>
          </a:p>
          <a:p>
            <a:r>
              <a:t>[멈춤] 교육생이 현재 체크포인트를 통과할 때까지 기다린다.</a:t>
            </a:r>
          </a:p>
          <a:p>
            <a:r>
              <a:t>[오류] 들여쓰기·XML 태그·따옴표가 슬라이드와 정확히 같은지 확인한다.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0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[설명] ~/agv_ws/src/agv_gazebo/models/agv/model.sdf의 전체 파일을 22/24 구간으로 작성한다.</a:t>
            </a:r>
          </a:p>
          <a:p>
            <a:r>
              <a:t>[실행] nano ~/agv_ws/src/agv_gazebo/models/agv/model.sdf</a:t>
            </a:r>
          </a:p>
          <a:p>
            <a:r>
              <a:t>[확인] 코드를 저장하고 다음 코드 슬라이드 또는 build 단계로 이동한다.</a:t>
            </a:r>
          </a:p>
          <a:p>
            <a:r>
              <a:t>[멈춤] 교육생이 현재 체크포인트를 통과할 때까지 기다린다.</a:t>
            </a:r>
          </a:p>
          <a:p>
            <a:r>
              <a:t>[오류] 들여쓰기·XML 태그·따옴표가 슬라이드와 정확히 같은지 확인한다.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[설명] ~/agv_ws/src/agv_gazebo/models/agv/model.sdf의 전체 파일을 23/24 구간으로 작성한다.</a:t>
            </a:r>
          </a:p>
          <a:p>
            <a:r>
              <a:t>[실행] nano ~/agv_ws/src/agv_gazebo/models/agv/model.sdf</a:t>
            </a:r>
          </a:p>
          <a:p>
            <a:r>
              <a:t>[확인] 코드를 저장하고 다음 코드 슬라이드 또는 build 단계로 이동한다.</a:t>
            </a:r>
          </a:p>
          <a:p>
            <a:r>
              <a:t>[멈춤] 교육생이 현재 체크포인트를 통과할 때까지 기다린다.</a:t>
            </a:r>
          </a:p>
          <a:p>
            <a:r>
              <a:t>[오류] 들여쓰기·XML 태그·따옴표가 슬라이드와 정확히 같은지 확인한다.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[설명] ~/agv_ws/src/agv_gazebo/models/agv/model.sdf의 전체 파일을 24/24 구간으로 작성한다.</a:t>
            </a:r>
          </a:p>
          <a:p>
            <a:r>
              <a:t>[실행] nano ~/agv_ws/src/agv_gazebo/models/agv/model.sdf</a:t>
            </a:r>
          </a:p>
          <a:p>
            <a:r>
              <a:t>[확인] 코드를 저장하고 다음 코드 슬라이드 또는 build 단계로 이동한다.</a:t>
            </a:r>
          </a:p>
          <a:p>
            <a:r>
              <a:t>[멈춤] 교육생이 현재 체크포인트를 통과할 때까지 기다린다.</a:t>
            </a:r>
          </a:p>
          <a:p>
            <a:r>
              <a:t>[오류] 들여쓰기·XML 태그·따옴표가 슬라이드와 정확히 같은지 확인한다.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[설명] ~/agv_ws/src/agv_control/agv_control/cmd_test_node.py의 전체 파일을 1/3 구간으로 작성한다.</a:t>
            </a:r>
          </a:p>
          <a:p>
            <a:r>
              <a:t>[실행] nano ~/agv_ws/src/agv_control/agv_control/cmd_test_node.py</a:t>
            </a:r>
          </a:p>
          <a:p>
            <a:r>
              <a:t>[확인] 코드를 저장하고 다음 코드 슬라이드 또는 build 단계로 이동한다.</a:t>
            </a:r>
          </a:p>
          <a:p>
            <a:r>
              <a:t>[멈춤] 교육생이 현재 체크포인트를 통과할 때까지 기다린다.</a:t>
            </a:r>
          </a:p>
          <a:p>
            <a:r>
              <a:t>[오류] 들여쓰기·XML 태그·따옴표가 슬라이드와 정확히 같은지 확인한다.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[설명] ~/agv_ws/src/agv_control/agv_control/cmd_test_node.py의 전체 파일을 2/3 구간으로 작성한다.</a:t>
            </a:r>
          </a:p>
          <a:p>
            <a:r>
              <a:t>[실행] nano ~/agv_ws/src/agv_control/agv_control/cmd_test_node.py</a:t>
            </a:r>
          </a:p>
          <a:p>
            <a:r>
              <a:t>[확인] 코드를 저장하고 다음 코드 슬라이드 또는 build 단계로 이동한다.</a:t>
            </a:r>
          </a:p>
          <a:p>
            <a:r>
              <a:t>[멈춤] 교육생이 현재 체크포인트를 통과할 때까지 기다린다.</a:t>
            </a:r>
          </a:p>
          <a:p>
            <a:r>
              <a:t>[오류] 들여쓰기·XML 태그·따옴표가 슬라이드와 정확히 같은지 확인한다.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[설명] ~/agv_ws/src/agv_control/agv_control/cmd_test_node.py의 전체 파일을 3/3 구간으로 작성한다.</a:t>
            </a:r>
          </a:p>
          <a:p>
            <a:r>
              <a:t>[실행] nano ~/agv_ws/src/agv_control/agv_control/cmd_test_node.py</a:t>
            </a:r>
          </a:p>
          <a:p>
            <a:r>
              <a:t>[확인] 코드를 저장하고 다음 코드 슬라이드 또는 build 단계로 이동한다.</a:t>
            </a:r>
          </a:p>
          <a:p>
            <a:r>
              <a:t>[멈춤] 교육생이 현재 체크포인트를 통과할 때까지 기다린다.</a:t>
            </a:r>
          </a:p>
          <a:p>
            <a:r>
              <a:t>[오류] 들여쓰기·XML 태그·따옴표가 슬라이드와 정확히 같은지 확인한다.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[설명] build/source/run을 생략 없이 실행한다.</a:t>
            </a:r>
          </a:p>
          <a:p>
            <a:r>
              <a:t>[실행] ros2 launch agv_gazebo gazebo.launch.py</a:t>
            </a:r>
          </a:p>
          <a:p>
            <a:r>
              <a:t># 새 터미널: ros2 run agv_control cmd_test_node</a:t>
            </a:r>
          </a:p>
          <a:p>
            <a:r>
              <a:t>[확인] /cmd_vel에서 odom과 바퀴 구동 topic으로 이어지는 경로를 확인한다.</a:t>
            </a:r>
          </a:p>
          <a:p>
            <a:r>
              <a:t>[멈춤] 교육생이 현재 체크포인트를 통과할 때까지 기다린다.</a:t>
            </a:r>
          </a:p>
          <a:p>
            <a:r>
              <a:t>[오류] 오류가 나면 현재 폴더, source, 파일 경로를 먼저 확인한다.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[설명] 실제 Ubuntu/ROS 2 환경에서 생성한 검증 화면이다.</a:t>
            </a:r>
          </a:p>
          <a:p>
            <a:r>
              <a:t>[실행] 슬라이드의 명령 또는 파일 작성 단계를 진행한다.</a:t>
            </a:r>
          </a:p>
          <a:p>
            <a:r>
              <a:t>[확인] 캡처의 명령과 다음 슬라이드의 검증 명령을 비교한다.</a:t>
            </a:r>
          </a:p>
          <a:p>
            <a:r>
              <a:t>[멈춤] 교육생이 현재 체크포인트를 통과할 때까지 기다린다.</a:t>
            </a:r>
          </a:p>
          <a:p>
            <a:r>
              <a:t>[오류] 오류가 나면 현재 폴더, source, 파일 경로를 먼저 확인한다.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8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[설명] 검증 명령은 GUI 결과와 별도로 실행해 재현 가능한 완료 기준을 만든다.</a:t>
            </a:r>
          </a:p>
          <a:p>
            <a:r>
              <a:t>[실행] ros2 topic info /cmd_vel</a:t>
            </a:r>
          </a:p>
          <a:p>
            <a:r>
              <a:t>ros2 topic echo /odom --once</a:t>
            </a:r>
          </a:p>
          <a:p>
            <a:r>
              <a:t>[확인] /cmd_vel에서 odom과 바퀴 구동 topic으로 이어지는 경로를 확인한다.</a:t>
            </a:r>
          </a:p>
          <a:p>
            <a:r>
              <a:t>[멈춤] 교육생이 현재 체크포인트를 통과할 때까지 기다린다.</a:t>
            </a:r>
          </a:p>
          <a:p>
            <a:r>
              <a:t>[오류] 오류가 나면 현재 폴더, source, 파일 경로를 먼저 확인한다.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9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[설명] 오류를 대신 해결하지 말고 증상부터 우선 확인 순서대로 교육생이 실행하게 한다.</a:t>
            </a:r>
          </a:p>
          <a:p>
            <a:r>
              <a:t>[실행] 슬라이드의 명령 또는 파일 작성 단계를 진행한다.</a:t>
            </a:r>
          </a:p>
          <a:p>
            <a:r>
              <a:t>[확인] 수정 뒤 첫 검증 명령을 다시 실행한다.</a:t>
            </a:r>
          </a:p>
          <a:p>
            <a:r>
              <a:t>[멈춤] 교육생이 현재 체크포인트를 통과할 때까지 기다린다.</a:t>
            </a:r>
          </a:p>
          <a:p>
            <a:r>
              <a:t>[오류] 슬라이드의 두 대표 오류를 먼저 사용한다.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40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[설명] 교육생이 직접 한 값만 바꿔 원인과 결과를 연결하게 한다.</a:t>
            </a:r>
          </a:p>
          <a:p>
            <a:r>
              <a:t>[실행] 슬라이드의 명령 또는 파일 작성 단계를 진행한다.</a:t>
            </a:r>
          </a:p>
          <a:p>
            <a:r>
              <a:t>[확인] 원래 값과 변경 값을 모두 기록한다.</a:t>
            </a:r>
          </a:p>
          <a:p>
            <a:r>
              <a:t>[멈춤] 교육생이 현재 체크포인트를 통과할 때까지 기다린다.</a:t>
            </a:r>
          </a:p>
          <a:p>
            <a:r>
              <a:t>[오류] 오류가 나면 현재 폴더, source, 파일 경로를 먼저 확인한다.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4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[설명] 교육생이 Complete·캡처·로그를 저장했는지 확인하고 다음 모듈의 시작 상태를 읽는다.</a:t>
            </a:r>
          </a:p>
          <a:p>
            <a:r>
              <a:t>[실행] 슬라이드의 명령 또는 파일 작성 단계를 진행한다.</a:t>
            </a:r>
          </a:p>
          <a:p>
            <a:r>
              <a:t>[확인] M10 ros_gz_bridge 시작 조건을 말할 수 있다.</a:t>
            </a:r>
          </a:p>
          <a:p>
            <a:r>
              <a:t>[멈춤] 교육생이 현재 체크포인트를 통과할 때까지 기다린다.</a:t>
            </a:r>
          </a:p>
          <a:p>
            <a:r>
              <a:t>[오류] 오류가 나면 현재 폴더, source, 파일 경로를 먼저 확인한다.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4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[설명] 공식 문서는 버전 차이와 확장 학습을 확인할 때 사용한다.</a:t>
            </a:r>
          </a:p>
          <a:p>
            <a:r>
              <a:t>[실행] 슬라이드의 명령 또는 파일 작성 단계를 진행한다.</a:t>
            </a:r>
          </a:p>
          <a:p>
            <a:r>
              <a:t>[확인] 학습자는 본문만으로 현재 모듈을 완료한 상태여야 한다.</a:t>
            </a:r>
          </a:p>
          <a:p>
            <a:r>
              <a:t>[멈춤] 교육생이 현재 체크포인트를 통과할 때까지 기다린다.</a:t>
            </a:r>
          </a:p>
          <a:p>
            <a:r>
              <a:t>[오류] 오류가 나면 현재 폴더, source, 파일 경로를 먼저 확인한다.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3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4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5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6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8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9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0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1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2.xml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3.xml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4.xml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5.xml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6.xml"/></Relationships>
</file>

<file path=ppt/slides/_rels/slide1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7.xml"/></Relationships>
</file>

<file path=ppt/slides/_rels/slide1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8.xml"/></Relationships>
</file>

<file path=ppt/slides/_rels/slide1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9.xml"/></Relationships>
</file>

<file path=ppt/slides/_rels/slide2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0.xml"/></Relationships>
</file>

<file path=ppt/slides/_rels/slide2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1.xml"/></Relationships>
</file>

<file path=ppt/slides/_rels/slide2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2.xml"/></Relationships>
</file>

<file path=ppt/slides/_rels/slide2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3.xml"/></Relationships>
</file>

<file path=ppt/slides/_rels/slide2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4.xml"/></Relationships>
</file>

<file path=ppt/slides/_rels/slide2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5.xml"/></Relationships>
</file>

<file path=ppt/slides/_rels/slide2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6.xml"/></Relationships>
</file>

<file path=ppt/slides/_rels/slide2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7.xml"/></Relationships>
</file>

<file path=ppt/slides/_rels/slide2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8.xml"/></Relationships>
</file>

<file path=ppt/slides/_rels/slide2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9.xml"/></Relationships>
</file>

<file path=ppt/slides/_rels/slide3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30.xml"/></Relationships>
</file>

<file path=ppt/slides/_rels/slide3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31.xml"/></Relationships>
</file>

<file path=ppt/slides/_rels/slide3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32.xml"/></Relationships>
</file>

<file path=ppt/slides/_rels/slide3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33.xml"/></Relationships>
</file>

<file path=ppt/slides/_rels/slide3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34.xml"/></Relationships>
</file>

<file path=ppt/slides/_rels/slide3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35.xml"/></Relationships>
</file>

<file path=ppt/slides/_rels/slide3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36.xml"/></Relationships>
</file>

<file path=ppt/slides/_rels/slide3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Relationship Id="rId3" Type="http://schemas.openxmlformats.org/officeDocument/2006/relationships/notesSlide" Target="../notesSlides/notesSlide37.xml"/></Relationships>
</file>

<file path=ppt/slides/_rels/slide3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38.xml"/></Relationships>
</file>

<file path=ppt/slides/_rels/slide3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39.xml"/></Relationships>
</file>

<file path=ppt/slides/_rels/slide4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40.xml"/></Relationships>
</file>

<file path=ppt/slides/_rels/slide4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41.xml"/></Relationships>
</file>

<file path=ppt/slides/_rels/slide4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42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051560"/>
          </a:xfrm>
          <a:prstGeom prst="rect">
            <a:avLst/>
          </a:prstGeom>
          <a:solidFill>
            <a:srgbClr val="122C4E"/>
          </a:solidFill>
          <a:ln>
            <a:solidFill>
              <a:srgbClr val="122C4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ctr">
              <a:spcAft>
                <a:spcPts val="0"/>
              </a:spcAft>
              <a:defRPr sz="1800" b="1">
                <a:solidFill>
                  <a:srgbClr val="FFFFFF"/>
                </a:solidFill>
                <a:latin typeface="Noto Sans CJK KR"/>
              </a:defRPr>
            </a:pPr>
            <a:r>
              <a:t>M09 · Block C · ROS 2 + Gazebo Sim AGV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713232" y="1600200"/>
            <a:ext cx="10698480" cy="1005840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ctr">
              <a:spcAft>
                <a:spcPts val="0"/>
              </a:spcAft>
              <a:defRPr sz="3400" b="1">
                <a:solidFill>
                  <a:srgbClr val="122C4E"/>
                </a:solidFill>
                <a:latin typeface="Noto Sans CJK KR"/>
              </a:defRPr>
            </a:pPr>
            <a:r>
              <a:t>Differential Drive 구동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05840" y="2834640"/>
            <a:ext cx="10149840" cy="502920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ctr">
              <a:spcAft>
                <a:spcPts val="0"/>
              </a:spcAft>
              <a:defRPr sz="2200" b="1">
                <a:solidFill>
                  <a:srgbClr val="2A8B5A"/>
                </a:solidFill>
                <a:latin typeface="Noto Sans CJK KR"/>
              </a:defRPr>
            </a:pPr>
            <a:r>
              <a:t>/cmd_vel에서 odom과 바퀴 구동 topic으로 이어지는 경로를 확인한다.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1371600" y="3822191"/>
            <a:ext cx="9418320" cy="1051560"/>
          </a:xfrm>
          <a:prstGeom prst="roundRect">
            <a:avLst/>
          </a:prstGeom>
          <a:solidFill>
            <a:srgbClr val="F4F7FB"/>
          </a:solidFill>
          <a:ln>
            <a:solidFill>
              <a:srgbClr val="F4F7F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ctr">
              <a:spcAft>
                <a:spcPts val="0"/>
              </a:spcAft>
              <a:defRPr sz="1800" b="1">
                <a:solidFill>
                  <a:srgbClr val="122C4E"/>
                </a:solidFill>
                <a:latin typeface="Noto Sans CJK KR"/>
              </a:defRPr>
            </a:pPr>
            <a:r>
              <a:t>기준 환경</a:t>
            </a:r>
            <a:br/>
            <a:r>
              <a:t>Ubuntu 24.04 LTS · ROS 2 Jazzy · Gazebo Harmonic · RViz2 · Python(rclpy)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6080760"/>
            <a:ext cx="10972800" cy="256032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ctr">
              <a:spcAft>
                <a:spcPts val="0"/>
              </a:spcAft>
              <a:defRPr sz="1500" b="0">
                <a:solidFill>
                  <a:srgbClr val="5C6672"/>
                </a:solidFill>
                <a:latin typeface="Noto Sans CJK KR"/>
              </a:defRPr>
            </a:pPr>
            <a:r>
              <a:t>이 PPT만 보고 시작 상태 → 파일 작성 → build/run → 검증 → 오류 대응 → checkpoint를 순서대로 수행합니다.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30352" y="6510528"/>
            <a:ext cx="777240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000" b="0">
                <a:solidFill>
                  <a:srgbClr val="5C6672"/>
                </a:solidFill>
                <a:latin typeface="Noto Sans CJK KR"/>
              </a:defRPr>
            </a:pPr>
            <a:r>
              <a:t>ROS 2 Jazzy · Gazebo Harmonic · M09 · 따라 하기형 AGV 실습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9144000" y="6510528"/>
            <a:ext cx="246888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r">
              <a:spcAft>
                <a:spcPts val="0"/>
              </a:spcAft>
              <a:defRPr sz="1000" b="0">
                <a:solidFill>
                  <a:srgbClr val="5C6672"/>
                </a:solidFill>
                <a:latin typeface="Noto Sans CJK KR"/>
              </a:defRPr>
            </a:pPr>
            <a:r>
              <a:t>명령·파일 경로는 슬라이드에서 복사 가능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66928" y="347472"/>
            <a:ext cx="10881360" cy="438912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3200" b="1">
                <a:solidFill>
                  <a:srgbClr val="122C4E"/>
                </a:solidFill>
                <a:latin typeface="Noto Sans CJK KR"/>
              </a:defRPr>
            </a:pPr>
            <a:r>
              <a:t>전체 과정에서 현재 위치를 확인한다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03504" y="859536"/>
            <a:ext cx="10698480" cy="29260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700" b="0">
                <a:solidFill>
                  <a:srgbClr val="5C6672"/>
                </a:solidFill>
                <a:latin typeface="Noto Sans CJK KR"/>
              </a:defRPr>
            </a:pPr>
            <a:r>
              <a:t>앞 모듈의 Complete가 현재 Starter가 되고, 현재 Complete가 다음 모듈로 넘어갑니다.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30352" y="6510528"/>
            <a:ext cx="777240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000" b="0">
                <a:solidFill>
                  <a:srgbClr val="5C6672"/>
                </a:solidFill>
                <a:latin typeface="Noto Sans CJK KR"/>
              </a:defRPr>
            </a:pPr>
            <a:r>
              <a:t>ROS 2 Jazzy · Gazebo Harmonic · M09 · 따라 하기형 AGV 실습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144000" y="6510528"/>
            <a:ext cx="246888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r">
              <a:spcAft>
                <a:spcPts val="0"/>
              </a:spcAft>
              <a:defRPr sz="1000" b="0">
                <a:solidFill>
                  <a:srgbClr val="5C6672"/>
                </a:solidFill>
                <a:latin typeface="Noto Sans CJK KR"/>
              </a:defRPr>
            </a:pPr>
            <a:r>
              <a:t>명령·파일 경로는 슬라이드에서 복사 가능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713232" y="2377440"/>
            <a:ext cx="3246120" cy="1325880"/>
          </a:xfrm>
          <a:prstGeom prst="roundRect">
            <a:avLst/>
          </a:prstGeom>
          <a:solidFill>
            <a:srgbClr val="FFFFFF"/>
          </a:solidFill>
          <a:ln>
            <a:solidFill>
              <a:srgbClr val="5C667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ctr">
              <a:spcAft>
                <a:spcPts val="0"/>
              </a:spcAft>
              <a:defRPr sz="2000" b="1">
                <a:solidFill>
                  <a:srgbClr val="5C6672"/>
                </a:solidFill>
                <a:latin typeface="Noto Sans CJK KR"/>
              </a:defRPr>
            </a:pPr>
            <a:r>
              <a:t>M08 World/AGV</a:t>
            </a:r>
          </a:p>
        </p:txBody>
      </p:sp>
      <p:cxnSp>
        <p:nvCxnSpPr>
          <p:cNvPr id="7" name="Connector 6"/>
          <p:cNvCxnSpPr/>
          <p:nvPr/>
        </p:nvCxnSpPr>
        <p:spPr>
          <a:xfrm>
            <a:off x="3968496" y="3035808"/>
            <a:ext cx="457200" cy="0"/>
          </a:xfrm>
          <a:prstGeom prst="line">
            <a:avLst/>
          </a:prstGeom>
          <a:ln w="38100">
            <a:solidFill>
              <a:srgbClr val="5C6672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8" name="Rounded Rectangle 7"/>
          <p:cNvSpPr/>
          <p:nvPr/>
        </p:nvSpPr>
        <p:spPr>
          <a:xfrm>
            <a:off x="4553712" y="2377440"/>
            <a:ext cx="3246120" cy="1325880"/>
          </a:xfrm>
          <a:prstGeom prst="roundRect">
            <a:avLst/>
          </a:prstGeom>
          <a:solidFill>
            <a:srgbClr val="FFFFFF"/>
          </a:solidFill>
          <a:ln>
            <a:solidFill>
              <a:srgbClr val="225B9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ctr">
              <a:spcAft>
                <a:spcPts val="0"/>
              </a:spcAft>
              <a:defRPr sz="2000" b="1">
                <a:solidFill>
                  <a:srgbClr val="225B9B"/>
                </a:solidFill>
                <a:latin typeface="Noto Sans CJK KR"/>
              </a:defRPr>
            </a:pPr>
            <a:r>
              <a:t>M09</a:t>
            </a:r>
            <a:br/>
            <a:r>
              <a:t>Differential Drive 구동</a:t>
            </a:r>
          </a:p>
        </p:txBody>
      </p:sp>
      <p:cxnSp>
        <p:nvCxnSpPr>
          <p:cNvPr id="9" name="Connector 8"/>
          <p:cNvCxnSpPr/>
          <p:nvPr/>
        </p:nvCxnSpPr>
        <p:spPr>
          <a:xfrm>
            <a:off x="7808976" y="3035808"/>
            <a:ext cx="457199" cy="0"/>
          </a:xfrm>
          <a:prstGeom prst="line">
            <a:avLst/>
          </a:prstGeom>
          <a:ln w="38100">
            <a:solidFill>
              <a:srgbClr val="225B9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0" name="Rounded Rectangle 9"/>
          <p:cNvSpPr/>
          <p:nvPr/>
        </p:nvSpPr>
        <p:spPr>
          <a:xfrm>
            <a:off x="8394192" y="2377440"/>
            <a:ext cx="3246120" cy="1325880"/>
          </a:xfrm>
          <a:prstGeom prst="roundRect">
            <a:avLst/>
          </a:prstGeom>
          <a:solidFill>
            <a:srgbClr val="FFFFFF"/>
          </a:solidFill>
          <a:ln>
            <a:solidFill>
              <a:srgbClr val="2A8B5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ctr">
              <a:spcAft>
                <a:spcPts val="0"/>
              </a:spcAft>
              <a:defRPr sz="2000" b="1">
                <a:solidFill>
                  <a:srgbClr val="2A8B5A"/>
                </a:solidFill>
                <a:latin typeface="Noto Sans CJK KR"/>
              </a:defRPr>
            </a:pPr>
            <a:r>
              <a:t>M10 ros_gz_bridge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868680" y="4617720"/>
            <a:ext cx="10424160" cy="56692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ctr">
              <a:spcAft>
                <a:spcPts val="0"/>
              </a:spcAft>
              <a:defRPr sz="2200" b="1">
                <a:solidFill>
                  <a:srgbClr val="122C4E"/>
                </a:solidFill>
                <a:latin typeface="Noto Sans CJK KR"/>
              </a:defRPr>
            </a:pPr>
            <a:r>
              <a:t>이번 모듈의 인계: /cmd_vel에서 odom과 바퀴 구동 topic으로 이어지는 경로를 확인한다.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66928" y="347472"/>
            <a:ext cx="10881360" cy="438912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3200" b="1">
                <a:solidFill>
                  <a:srgbClr val="122C4E"/>
                </a:solidFill>
                <a:latin typeface="Noto Sans CJK KR"/>
              </a:defRPr>
            </a:pPr>
            <a:r>
              <a:t>시작 상태를 먼저 맞춘다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03504" y="859536"/>
            <a:ext cx="10698480" cy="29260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700" b="0">
                <a:solidFill>
                  <a:srgbClr val="5C6672"/>
                </a:solidFill>
                <a:latin typeface="Noto Sans CJK KR"/>
              </a:defRPr>
            </a:pPr>
            <a:r>
              <a:t>실습 시작 전에 현재 폴더·이전 파일·실행 프로그램을 확인합니다.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30352" y="6510528"/>
            <a:ext cx="777240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000" b="0">
                <a:solidFill>
                  <a:srgbClr val="5C6672"/>
                </a:solidFill>
                <a:latin typeface="Noto Sans CJK KR"/>
              </a:defRPr>
            </a:pPr>
            <a:r>
              <a:t>ROS 2 Jazzy · Gazebo Harmonic · M09 · 따라 하기형 AGV 실습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144000" y="6510528"/>
            <a:ext cx="246888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r">
              <a:spcAft>
                <a:spcPts val="0"/>
              </a:spcAft>
              <a:defRPr sz="1000" b="0">
                <a:solidFill>
                  <a:srgbClr val="5C6672"/>
                </a:solidFill>
                <a:latin typeface="Noto Sans CJK KR"/>
              </a:defRPr>
            </a:pPr>
            <a:r>
              <a:t>명령·파일 경로는 슬라이드에서 복사 가능</a:t>
            </a:r>
          </a:p>
        </p:txBody>
      </p:sp>
      <p:sp>
        <p:nvSpPr>
          <p:cNvPr id="6" name="Rectangle 5"/>
          <p:cNvSpPr/>
          <p:nvPr/>
        </p:nvSpPr>
        <p:spPr>
          <a:xfrm>
            <a:off x="566928" y="1188720"/>
            <a:ext cx="11064240" cy="347472"/>
          </a:xfrm>
          <a:prstGeom prst="rect">
            <a:avLst/>
          </a:prstGeom>
          <a:solidFill>
            <a:srgbClr val="F4F7FB"/>
          </a:solidFill>
          <a:ln>
            <a:solidFill>
              <a:srgbClr val="F4F7F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l">
              <a:spcAft>
                <a:spcPts val="0"/>
              </a:spcAft>
              <a:defRPr sz="1300" b="1">
                <a:solidFill>
                  <a:srgbClr val="122C4E"/>
                </a:solidFill>
                <a:latin typeface="Noto Sans CJK KR"/>
              </a:defRPr>
            </a:pPr>
            <a:r>
              <a:t>현재 단계 시작    |    현재 폴더 ~/agv_ws    |    현재 터미널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713232" y="1783080"/>
            <a:ext cx="10972800" cy="3429000"/>
          </a:xfrm>
          <a:prstGeom prst="roundRect">
            <a:avLst/>
          </a:prstGeom>
          <a:solidFill>
            <a:srgbClr val="F4F7FB"/>
          </a:solidFill>
          <a:ln>
            <a:solidFill>
              <a:srgbClr val="D7E1E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914400" y="2011680"/>
            <a:ext cx="10424160" cy="2834640"/>
          </a:xfrm>
          <a:prstGeom prst="rect">
            <a:avLst/>
          </a:prstGeom>
          <a:noFill/>
        </p:spPr>
        <p:txBody>
          <a:bodyPr wrap="square" lIns="109728" rIns="109728">
            <a:spAutoFit/>
          </a:bodyPr>
          <a:lstStyle/>
          <a:p>
            <a:pPr>
              <a:spcAft>
                <a:spcPts val="800"/>
              </a:spcAft>
              <a:defRPr sz="1900">
                <a:solidFill>
                  <a:srgbClr val="122C4E"/>
                </a:solidFill>
                <a:latin typeface="Noto Sans CJK KR"/>
              </a:defRPr>
            </a:pPr>
            <a:r>
              <a:t>• 시작 상태: M08에서 AGV가 World에 안정적으로 spawn된 상태.</a:t>
            </a:r>
          </a:p>
          <a:p>
            <a:pPr>
              <a:spcAft>
                <a:spcPts val="800"/>
              </a:spcAft>
              <a:defRPr sz="1900">
                <a:solidFill>
                  <a:srgbClr val="122C4E"/>
                </a:solidFill>
                <a:latin typeface="Noto Sans CJK KR"/>
              </a:defRPr>
            </a:pPr>
            <a:r>
              <a:t>• 이전 Complete: M08 World/AGV</a:t>
            </a:r>
          </a:p>
          <a:p>
            <a:pPr>
              <a:spcAft>
                <a:spcPts val="800"/>
              </a:spcAft>
              <a:defRPr sz="1900">
                <a:solidFill>
                  <a:srgbClr val="122C4E"/>
                </a:solidFill>
                <a:latin typeface="Noto Sans CJK KR"/>
              </a:defRPr>
            </a:pPr>
            <a:r>
              <a:t>• 현재 폴더: ~/agv_ws</a:t>
            </a:r>
          </a:p>
          <a:p>
            <a:pPr>
              <a:spcAft>
                <a:spcPts val="800"/>
              </a:spcAft>
              <a:defRPr sz="1900">
                <a:solidFill>
                  <a:srgbClr val="122C4E"/>
                </a:solidFill>
                <a:latin typeface="Noto Sans CJK KR"/>
              </a:defRPr>
            </a:pPr>
            <a:r>
              <a:t>• 새 터미널마다: source /opt/ros/jazzy/setup.bash → source install/setup.bash</a:t>
            </a:r>
          </a:p>
          <a:p>
            <a:pPr>
              <a:spcAft>
                <a:spcPts val="800"/>
              </a:spcAft>
              <a:defRPr sz="1900">
                <a:solidFill>
                  <a:srgbClr val="122C4E"/>
                </a:solidFill>
                <a:latin typeface="Noto Sans CJK KR"/>
              </a:defRPr>
            </a:pPr>
            <a:r>
              <a:t>• 파일 경로는 PPT와 Complete 폴더에서 같은 이름으로 유지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896112" y="5532120"/>
            <a:ext cx="10515600" cy="320040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ctr">
              <a:spcAft>
                <a:spcPts val="0"/>
              </a:spcAft>
              <a:defRPr sz="1600" b="1">
                <a:solidFill>
                  <a:srgbClr val="2A8B5A"/>
                </a:solidFill>
                <a:latin typeface="Noto Sans CJK KR"/>
              </a:defRPr>
            </a:pPr>
            <a:r>
              <a:t>확인: pwd가 ~/agv_ws이고, 이전 모듈의 완료 조건을 한 문장으로 설명할 수 있으면 시작합니다.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66928" y="347472"/>
            <a:ext cx="10881360" cy="438912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3200" b="1">
                <a:solidFill>
                  <a:srgbClr val="122C4E"/>
                </a:solidFill>
                <a:latin typeface="Noto Sans CJK KR"/>
              </a:defRPr>
            </a:pPr>
            <a:r>
              <a:t>이번 모듈의 눈으로 확인할 완료 조건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03504" y="859536"/>
            <a:ext cx="10698480" cy="29260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700" b="0">
                <a:solidFill>
                  <a:srgbClr val="5C6672"/>
                </a:solidFill>
                <a:latin typeface="Noto Sans CJK KR"/>
              </a:defRPr>
            </a:pPr>
            <a:r>
              <a:t>‘이해했다’가 아니라 실제로 보이는 결과를 기준으로 합니다.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30352" y="6510528"/>
            <a:ext cx="777240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000" b="0">
                <a:solidFill>
                  <a:srgbClr val="5C6672"/>
                </a:solidFill>
                <a:latin typeface="Noto Sans CJK KR"/>
              </a:defRPr>
            </a:pPr>
            <a:r>
              <a:t>ROS 2 Jazzy · Gazebo Harmonic · M09 · 따라 하기형 AGV 실습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144000" y="6510528"/>
            <a:ext cx="246888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r">
              <a:spcAft>
                <a:spcPts val="0"/>
              </a:spcAft>
              <a:defRPr sz="1000" b="0">
                <a:solidFill>
                  <a:srgbClr val="5C6672"/>
                </a:solidFill>
                <a:latin typeface="Noto Sans CJK KR"/>
              </a:defRPr>
            </a:pPr>
            <a:r>
              <a:t>명령·파일 경로는 슬라이드에서 복사 가능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777240" y="1700784"/>
            <a:ext cx="10744200" cy="1325880"/>
          </a:xfrm>
          <a:prstGeom prst="roundRect">
            <a:avLst/>
          </a:prstGeom>
          <a:solidFill>
            <a:srgbClr val="EEF7F1"/>
          </a:solidFill>
          <a:ln>
            <a:solidFill>
              <a:srgbClr val="A8D3B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ctr">
              <a:spcAft>
                <a:spcPts val="0"/>
              </a:spcAft>
              <a:defRPr sz="2500" b="1">
                <a:solidFill>
                  <a:srgbClr val="122C4E"/>
                </a:solidFill>
                <a:latin typeface="Noto Sans CJK KR"/>
              </a:defRPr>
            </a:pPr>
            <a:r>
              <a:t>좌우 바퀴 속도 차이와 Twist linear.x/angular.z로 직진·회전·곡선 주행을 설명한다.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777240" y="3401568"/>
            <a:ext cx="10744200" cy="1325880"/>
          </a:xfrm>
          <a:prstGeom prst="roundRect">
            <a:avLst/>
          </a:prstGeom>
          <a:solidFill>
            <a:srgbClr val="F4F7FB"/>
          </a:solidFill>
          <a:ln>
            <a:solidFill>
              <a:srgbClr val="D6E0E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ctr">
              <a:spcAft>
                <a:spcPts val="0"/>
              </a:spcAft>
              <a:defRPr sz="2200" b="1">
                <a:solidFill>
                  <a:srgbClr val="2A8B5A"/>
                </a:solidFill>
                <a:latin typeface="Noto Sans CJK KR"/>
              </a:defRPr>
            </a:pPr>
            <a:r>
              <a:t>완료 화면/결과</a:t>
            </a:r>
            <a:br/>
            <a:r>
              <a:t>/cmd_vel에서 odom과 바퀴 구동 topic으로 이어지는 경로를 확인한다.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868680" y="5349240"/>
            <a:ext cx="10424160" cy="411480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ctr">
              <a:spcAft>
                <a:spcPts val="0"/>
              </a:spcAft>
              <a:defRPr sz="1800" b="0">
                <a:solidFill>
                  <a:srgbClr val="122C4E"/>
                </a:solidFill>
                <a:latin typeface="Noto Sans CJK KR"/>
              </a:defRPr>
            </a:pPr>
            <a:r>
              <a:t>종료 전에는 ‘무엇이 보이면 성공인가’를 terminal 또는 Gazebo/RViz 화면에서 반드시 확인합니다.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66928" y="347472"/>
            <a:ext cx="10881360" cy="438912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3200" b="1">
                <a:solidFill>
                  <a:srgbClr val="122C4E"/>
                </a:solidFill>
                <a:latin typeface="Noto Sans CJK KR"/>
              </a:defRPr>
            </a:pPr>
            <a:r>
              <a:t>핵심 흐름을 한 장으로 이해하기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03504" y="859536"/>
            <a:ext cx="10698480" cy="29260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700" b="0">
                <a:solidFill>
                  <a:srgbClr val="5C6672"/>
                </a:solidFill>
                <a:latin typeface="Noto Sans CJK KR"/>
              </a:defRPr>
            </a:pPr>
            <a:r>
              <a:t>상자와 화살표의 방향을 따라 데이터 또는 제어의 흐름을 읽습니다.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30352" y="6510528"/>
            <a:ext cx="777240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000" b="0">
                <a:solidFill>
                  <a:srgbClr val="5C6672"/>
                </a:solidFill>
                <a:latin typeface="Noto Sans CJK KR"/>
              </a:defRPr>
            </a:pPr>
            <a:r>
              <a:t>ROS 2 Jazzy · Gazebo Harmonic · M09 · 따라 하기형 AGV 실습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144000" y="6510528"/>
            <a:ext cx="246888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r">
              <a:spcAft>
                <a:spcPts val="0"/>
              </a:spcAft>
              <a:defRPr sz="1000" b="0">
                <a:solidFill>
                  <a:srgbClr val="5C6672"/>
                </a:solidFill>
                <a:latin typeface="Noto Sans CJK KR"/>
              </a:defRPr>
            </a:pPr>
            <a:r>
              <a:t>명령·파일 경로는 슬라이드에서 복사 가능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1568195" y="2743200"/>
            <a:ext cx="2029968" cy="1051560"/>
          </a:xfrm>
          <a:prstGeom prst="roundRect">
            <a:avLst/>
          </a:prstGeom>
          <a:solidFill>
            <a:srgbClr val="FFFFFF"/>
          </a:solidFill>
          <a:ln>
            <a:solidFill>
              <a:srgbClr val="225B9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ctr">
              <a:spcAft>
                <a:spcPts val="0"/>
              </a:spcAft>
              <a:defRPr sz="1900" b="1">
                <a:solidFill>
                  <a:srgbClr val="122C4E"/>
                </a:solidFill>
                <a:latin typeface="Noto Sans CJK KR"/>
              </a:defRPr>
            </a:pPr>
            <a:r>
              <a:t>/cmd_vel</a:t>
            </a:r>
            <a:br/>
            <a:r>
              <a:t>Twist</a:t>
            </a:r>
          </a:p>
        </p:txBody>
      </p:sp>
      <p:cxnSp>
        <p:nvCxnSpPr>
          <p:cNvPr id="7" name="Connector 6"/>
          <p:cNvCxnSpPr/>
          <p:nvPr/>
        </p:nvCxnSpPr>
        <p:spPr>
          <a:xfrm>
            <a:off x="3598164" y="3264408"/>
            <a:ext cx="283464" cy="0"/>
          </a:xfrm>
          <a:prstGeom prst="line">
            <a:avLst/>
          </a:prstGeom>
          <a:ln w="31750">
            <a:solidFill>
              <a:srgbClr val="225B9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8" name="Rounded Rectangle 7"/>
          <p:cNvSpPr/>
          <p:nvPr/>
        </p:nvSpPr>
        <p:spPr>
          <a:xfrm>
            <a:off x="3909060" y="2743200"/>
            <a:ext cx="2029968" cy="1051560"/>
          </a:xfrm>
          <a:prstGeom prst="roundRect">
            <a:avLst/>
          </a:prstGeom>
          <a:solidFill>
            <a:srgbClr val="FFFFFF"/>
          </a:solidFill>
          <a:ln>
            <a:solidFill>
              <a:srgbClr val="225B9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ctr">
              <a:spcAft>
                <a:spcPts val="0"/>
              </a:spcAft>
              <a:defRPr sz="1900" b="1">
                <a:solidFill>
                  <a:srgbClr val="122C4E"/>
                </a:solidFill>
                <a:latin typeface="Noto Sans CJK KR"/>
              </a:defRPr>
            </a:pPr>
            <a:r>
              <a:t>DiffDrive</a:t>
            </a:r>
          </a:p>
        </p:txBody>
      </p:sp>
      <p:cxnSp>
        <p:nvCxnSpPr>
          <p:cNvPr id="9" name="Connector 8"/>
          <p:cNvCxnSpPr/>
          <p:nvPr/>
        </p:nvCxnSpPr>
        <p:spPr>
          <a:xfrm>
            <a:off x="5939028" y="3264408"/>
            <a:ext cx="283464" cy="0"/>
          </a:xfrm>
          <a:prstGeom prst="line">
            <a:avLst/>
          </a:prstGeom>
          <a:ln w="31750">
            <a:solidFill>
              <a:srgbClr val="225B9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0" name="Rounded Rectangle 9"/>
          <p:cNvSpPr/>
          <p:nvPr/>
        </p:nvSpPr>
        <p:spPr>
          <a:xfrm>
            <a:off x="6249924" y="2743200"/>
            <a:ext cx="2029968" cy="1051560"/>
          </a:xfrm>
          <a:prstGeom prst="roundRect">
            <a:avLst/>
          </a:prstGeom>
          <a:solidFill>
            <a:srgbClr val="FFFFFF"/>
          </a:solidFill>
          <a:ln>
            <a:solidFill>
              <a:srgbClr val="225B9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ctr">
              <a:spcAft>
                <a:spcPts val="0"/>
              </a:spcAft>
              <a:defRPr sz="1900" b="1">
                <a:solidFill>
                  <a:srgbClr val="122C4E"/>
                </a:solidFill>
                <a:latin typeface="Noto Sans CJK KR"/>
              </a:defRPr>
            </a:pPr>
            <a:r>
              <a:t>left/right</a:t>
            </a:r>
            <a:br/>
            <a:r>
              <a:t>wheel</a:t>
            </a:r>
          </a:p>
        </p:txBody>
      </p:sp>
      <p:cxnSp>
        <p:nvCxnSpPr>
          <p:cNvPr id="11" name="Connector 10"/>
          <p:cNvCxnSpPr/>
          <p:nvPr/>
        </p:nvCxnSpPr>
        <p:spPr>
          <a:xfrm>
            <a:off x="8279892" y="3264408"/>
            <a:ext cx="283464" cy="0"/>
          </a:xfrm>
          <a:prstGeom prst="line">
            <a:avLst/>
          </a:prstGeom>
          <a:ln w="31750">
            <a:solidFill>
              <a:srgbClr val="225B9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2" name="Rounded Rectangle 11"/>
          <p:cNvSpPr/>
          <p:nvPr/>
        </p:nvSpPr>
        <p:spPr>
          <a:xfrm>
            <a:off x="8590788" y="2743200"/>
            <a:ext cx="2029968" cy="1051560"/>
          </a:xfrm>
          <a:prstGeom prst="roundRect">
            <a:avLst/>
          </a:prstGeom>
          <a:solidFill>
            <a:srgbClr val="FFFFFF"/>
          </a:solidFill>
          <a:ln>
            <a:solidFill>
              <a:srgbClr val="225B9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ctr">
              <a:spcAft>
                <a:spcPts val="0"/>
              </a:spcAft>
              <a:defRPr sz="1900" b="1">
                <a:solidFill>
                  <a:srgbClr val="122C4E"/>
                </a:solidFill>
                <a:latin typeface="Noto Sans CJK KR"/>
              </a:defRPr>
            </a:pPr>
            <a:r>
              <a:t>/odom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914400" y="4800600"/>
            <a:ext cx="10332720" cy="502920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ctr">
              <a:spcAft>
                <a:spcPts val="0"/>
              </a:spcAft>
              <a:defRPr sz="2000" b="1">
                <a:solidFill>
                  <a:srgbClr val="225B9B"/>
                </a:solidFill>
                <a:latin typeface="Noto Sans CJK KR"/>
              </a:defRPr>
            </a:pPr>
            <a:r>
              <a:t>기억할 한 문장: 앞 단계의 출력이 다음 단계의 입력이 되도록 topic·frame·파일 이름을 끝까지 유지합니다.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66928" y="347472"/>
            <a:ext cx="10881360" cy="438912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3200" b="1">
                <a:solidFill>
                  <a:srgbClr val="122C4E"/>
                </a:solidFill>
                <a:latin typeface="Noto Sans CJK KR"/>
              </a:defRPr>
            </a:pPr>
            <a:r>
              <a:t>이번 모듈에서 생성·수정하는 파일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03504" y="859536"/>
            <a:ext cx="10698480" cy="29260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700" b="0">
                <a:solidFill>
                  <a:srgbClr val="5C6672"/>
                </a:solidFill>
                <a:latin typeface="Noto Sans CJK KR"/>
              </a:defRPr>
            </a:pPr>
            <a:r>
              <a:t>파일명과 package 경로를 끝까지 동일하게 사용합니다.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30352" y="6510528"/>
            <a:ext cx="777240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000" b="0">
                <a:solidFill>
                  <a:srgbClr val="5C6672"/>
                </a:solidFill>
                <a:latin typeface="Noto Sans CJK KR"/>
              </a:defRPr>
            </a:pPr>
            <a:r>
              <a:t>ROS 2 Jazzy · Gazebo Harmonic · M09 · 따라 하기형 AGV 실습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144000" y="6510528"/>
            <a:ext cx="246888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r">
              <a:spcAft>
                <a:spcPts val="0"/>
              </a:spcAft>
              <a:defRPr sz="1000" b="0">
                <a:solidFill>
                  <a:srgbClr val="5C6672"/>
                </a:solidFill>
                <a:latin typeface="Noto Sans CJK KR"/>
              </a:defRPr>
            </a:pPr>
            <a:r>
              <a:t>명령·파일 경로는 슬라이드에서 복사 가능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777240" y="1600200"/>
            <a:ext cx="10789920" cy="4407408"/>
          </a:xfrm>
          <a:prstGeom prst="roundRect">
            <a:avLst/>
          </a:prstGeom>
          <a:solidFill>
            <a:srgbClr val="1D232D"/>
          </a:solidFill>
          <a:ln>
            <a:solidFill>
              <a:srgbClr val="1D232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l">
              <a:spcAft>
                <a:spcPts val="0"/>
              </a:spcAft>
              <a:defRPr sz="1600" b="0">
                <a:solidFill>
                  <a:srgbClr val="FFFFFF"/>
                </a:solidFill>
                <a:latin typeface="DejaVu Sans Mono"/>
              </a:defRPr>
            </a:pPr>
            <a:r>
              <a:t>~/agv_ws/src/</a:t>
            </a:r>
            <a:br/>
            <a:r>
              <a:t>└── agv_gazebo/models/agv/model.sdf</a:t>
            </a:r>
            <a:br/>
            <a:r>
              <a:t>└── agv_control/agv_control/cmd_test_node.py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877824" y="6144768"/>
            <a:ext cx="1033272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ctr">
              <a:spcAft>
                <a:spcPts val="0"/>
              </a:spcAft>
              <a:defRPr sz="1100" b="0">
                <a:solidFill>
                  <a:srgbClr val="5C6672"/>
                </a:solidFill>
                <a:latin typeface="Noto Sans CJK KR"/>
              </a:defRPr>
            </a:pPr>
            <a:r>
              <a:t>파일 전체 코드는 다음 슬라이드에 이어집니다. 중간 줄을 빼지 않고 끝까지 제공합니다.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66928" y="347472"/>
            <a:ext cx="10881360" cy="438912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3200" b="1">
                <a:solidFill>
                  <a:srgbClr val="122C4E"/>
                </a:solidFill>
                <a:latin typeface="Noto Sans CJK KR"/>
              </a:defRPr>
            </a:pPr>
            <a:r>
              <a:t>직진 명령을 보낸다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03504" y="859536"/>
            <a:ext cx="10698480" cy="29260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700" b="0">
                <a:solidFill>
                  <a:srgbClr val="5C6672"/>
                </a:solidFill>
                <a:latin typeface="Noto Sans CJK KR"/>
              </a:defRPr>
            </a:pPr>
            <a:r>
              <a:t>한 장에는 한 행동만 수행합니다.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30352" y="6510528"/>
            <a:ext cx="777240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000" b="0">
                <a:solidFill>
                  <a:srgbClr val="5C6672"/>
                </a:solidFill>
                <a:latin typeface="Noto Sans CJK KR"/>
              </a:defRPr>
            </a:pPr>
            <a:r>
              <a:t>ROS 2 Jazzy · Gazebo Harmonic · M09 · 따라 하기형 AGV 실습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144000" y="6510528"/>
            <a:ext cx="246888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r">
              <a:spcAft>
                <a:spcPts val="0"/>
              </a:spcAft>
              <a:defRPr sz="1000" b="0">
                <a:solidFill>
                  <a:srgbClr val="5C6672"/>
                </a:solidFill>
                <a:latin typeface="Noto Sans CJK KR"/>
              </a:defRPr>
            </a:pPr>
            <a:r>
              <a:t>명령·파일 경로는 슬라이드에서 복사 가능</a:t>
            </a:r>
          </a:p>
        </p:txBody>
      </p:sp>
      <p:sp>
        <p:nvSpPr>
          <p:cNvPr id="6" name="Rectangle 5"/>
          <p:cNvSpPr/>
          <p:nvPr/>
        </p:nvSpPr>
        <p:spPr>
          <a:xfrm>
            <a:off x="566928" y="1188720"/>
            <a:ext cx="11064240" cy="347472"/>
          </a:xfrm>
          <a:prstGeom prst="rect">
            <a:avLst/>
          </a:prstGeom>
          <a:solidFill>
            <a:srgbClr val="F4F7FB"/>
          </a:solidFill>
          <a:ln>
            <a:solidFill>
              <a:srgbClr val="F4F7F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l">
              <a:spcAft>
                <a:spcPts val="0"/>
              </a:spcAft>
              <a:defRPr sz="1300" b="1">
                <a:solidFill>
                  <a:srgbClr val="122C4E"/>
                </a:solidFill>
                <a:latin typeface="Noto Sans CJK KR"/>
              </a:defRPr>
            </a:pPr>
            <a:r>
              <a:t>현재 단계 1/2    |    현재 폴더 ~/agv_ws    |    현재 터미널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76656" y="1764792"/>
            <a:ext cx="1828800" cy="347472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800" b="1">
                <a:solidFill>
                  <a:srgbClr val="225B9B"/>
                </a:solidFill>
                <a:latin typeface="Noto Sans CJK KR"/>
              </a:defRPr>
            </a:pPr>
            <a:r>
              <a:t>왜 하는가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76656" y="2103120"/>
            <a:ext cx="10789920" cy="512064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2000" b="0">
                <a:solidFill>
                  <a:srgbClr val="122C4E"/>
                </a:solidFill>
                <a:latin typeface="Noto Sans CJK KR"/>
              </a:defRPr>
            </a:pPr>
            <a:r>
              <a:t>linear.x는 m/s이고 angular.z는 rad/s다.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676656" y="2871216"/>
            <a:ext cx="10835640" cy="2331720"/>
          </a:xfrm>
          <a:prstGeom prst="roundRect">
            <a:avLst/>
          </a:prstGeom>
          <a:solidFill>
            <a:srgbClr val="1D232D"/>
          </a:solidFill>
          <a:ln>
            <a:solidFill>
              <a:srgbClr val="1D232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l">
              <a:spcAft>
                <a:spcPts val="0"/>
              </a:spcAft>
              <a:defRPr sz="1600" b="0">
                <a:solidFill>
                  <a:srgbClr val="FFFFFF"/>
                </a:solidFill>
                <a:latin typeface="DejaVu Sans Mono"/>
              </a:defRPr>
            </a:pPr>
            <a:r>
              <a:t>ros2 topic pub --rate 10 /cmd_vel geometry_msgs/msg/Twist \</a:t>
            </a:r>
            <a:br/>
            <a:r>
              <a:t>  "{linear: {x: 0.15}, angular: {z: 0.0}}"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768096" y="5468112"/>
            <a:ext cx="1143000" cy="256032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800" b="1">
                <a:solidFill>
                  <a:srgbClr val="2A8B5A"/>
                </a:solidFill>
                <a:latin typeface="Noto Sans CJK KR"/>
              </a:defRPr>
            </a:pPr>
            <a:r>
              <a:t>확인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768096" y="5742432"/>
            <a:ext cx="10561320" cy="347472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800" b="0">
                <a:solidFill>
                  <a:srgbClr val="122C4E"/>
                </a:solidFill>
                <a:latin typeface="Noto Sans CJK KR"/>
              </a:defRPr>
            </a:pPr>
            <a:r>
              <a:t>명령의 출력에서 topic·frame·파일 이름 또는 성공 메시지를 찾으면 이 단계가 완료됩니다.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66928" y="347472"/>
            <a:ext cx="10881360" cy="438912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3200" b="1">
                <a:solidFill>
                  <a:srgbClr val="122C4E"/>
                </a:solidFill>
                <a:latin typeface="Noto Sans CJK KR"/>
              </a:defRPr>
            </a:pPr>
            <a:r>
              <a:t>회전과 odom을 확인한다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03504" y="859536"/>
            <a:ext cx="10698480" cy="29260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700" b="0">
                <a:solidFill>
                  <a:srgbClr val="5C6672"/>
                </a:solidFill>
                <a:latin typeface="Noto Sans CJK KR"/>
              </a:defRPr>
            </a:pPr>
            <a:r>
              <a:t>한 장에는 한 행동만 수행합니다.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30352" y="6510528"/>
            <a:ext cx="777240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000" b="0">
                <a:solidFill>
                  <a:srgbClr val="5C6672"/>
                </a:solidFill>
                <a:latin typeface="Noto Sans CJK KR"/>
              </a:defRPr>
            </a:pPr>
            <a:r>
              <a:t>ROS 2 Jazzy · Gazebo Harmonic · M09 · 따라 하기형 AGV 실습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144000" y="6510528"/>
            <a:ext cx="246888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r">
              <a:spcAft>
                <a:spcPts val="0"/>
              </a:spcAft>
              <a:defRPr sz="1000" b="0">
                <a:solidFill>
                  <a:srgbClr val="5C6672"/>
                </a:solidFill>
                <a:latin typeface="Noto Sans CJK KR"/>
              </a:defRPr>
            </a:pPr>
            <a:r>
              <a:t>명령·파일 경로는 슬라이드에서 복사 가능</a:t>
            </a:r>
          </a:p>
        </p:txBody>
      </p:sp>
      <p:sp>
        <p:nvSpPr>
          <p:cNvPr id="6" name="Rectangle 5"/>
          <p:cNvSpPr/>
          <p:nvPr/>
        </p:nvSpPr>
        <p:spPr>
          <a:xfrm>
            <a:off x="566928" y="1188720"/>
            <a:ext cx="11064240" cy="347472"/>
          </a:xfrm>
          <a:prstGeom prst="rect">
            <a:avLst/>
          </a:prstGeom>
          <a:solidFill>
            <a:srgbClr val="F4F7FB"/>
          </a:solidFill>
          <a:ln>
            <a:solidFill>
              <a:srgbClr val="F4F7F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l">
              <a:spcAft>
                <a:spcPts val="0"/>
              </a:spcAft>
              <a:defRPr sz="1300" b="1">
                <a:solidFill>
                  <a:srgbClr val="122C4E"/>
                </a:solidFill>
                <a:latin typeface="Noto Sans CJK KR"/>
              </a:defRPr>
            </a:pPr>
            <a:r>
              <a:t>현재 단계 2/2    |    현재 폴더 ~/agv_ws    |    현재 터미널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76656" y="1764792"/>
            <a:ext cx="1828800" cy="347472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800" b="1">
                <a:solidFill>
                  <a:srgbClr val="225B9B"/>
                </a:solidFill>
                <a:latin typeface="Noto Sans CJK KR"/>
              </a:defRPr>
            </a:pPr>
            <a:r>
              <a:t>왜 하는가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76656" y="2103120"/>
            <a:ext cx="10789920" cy="512064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2000" b="0">
                <a:solidFill>
                  <a:srgbClr val="122C4E"/>
                </a:solidFill>
                <a:latin typeface="Noto Sans CJK KR"/>
              </a:defRPr>
            </a:pPr>
            <a:r>
              <a:t>제자리 회전은 linear.x=0, angular.z만 양수/음수로 바꾼다.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676656" y="2871216"/>
            <a:ext cx="10835640" cy="2331720"/>
          </a:xfrm>
          <a:prstGeom prst="roundRect">
            <a:avLst/>
          </a:prstGeom>
          <a:solidFill>
            <a:srgbClr val="1D232D"/>
          </a:solidFill>
          <a:ln>
            <a:solidFill>
              <a:srgbClr val="1D232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l">
              <a:spcAft>
                <a:spcPts val="0"/>
              </a:spcAft>
              <a:defRPr sz="1600" b="0">
                <a:solidFill>
                  <a:srgbClr val="FFFFFF"/>
                </a:solidFill>
                <a:latin typeface="DejaVu Sans Mono"/>
              </a:defRPr>
            </a:pPr>
            <a:r>
              <a:t>ros2 topic pub --rate 10 /cmd_vel geometry_msgs/msg/Twist \</a:t>
            </a:r>
            <a:br/>
            <a:r>
              <a:t>  "{linear: {x: 0.0}, angular: {z: 0.4}}"</a:t>
            </a:r>
            <a:br/>
            <a:r>
              <a:t>ros2 topic echo /odom --once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768096" y="5468112"/>
            <a:ext cx="1143000" cy="256032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800" b="1">
                <a:solidFill>
                  <a:srgbClr val="2A8B5A"/>
                </a:solidFill>
                <a:latin typeface="Noto Sans CJK KR"/>
              </a:defRPr>
            </a:pPr>
            <a:r>
              <a:t>확인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768096" y="5742432"/>
            <a:ext cx="10561320" cy="347472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800" b="0">
                <a:solidFill>
                  <a:srgbClr val="122C4E"/>
                </a:solidFill>
                <a:latin typeface="Noto Sans CJK KR"/>
              </a:defRPr>
            </a:pPr>
            <a:r>
              <a:t>명령의 출력에서 topic·frame·파일 이름 또는 성공 메시지를 찾으면 이 단계가 완료됩니다.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66928" y="347472"/>
            <a:ext cx="10881360" cy="438912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3200" b="1">
                <a:solidFill>
                  <a:srgbClr val="122C4E"/>
                </a:solidFill>
                <a:latin typeface="Noto Sans CJK KR"/>
              </a:defRPr>
            </a:pPr>
            <a:r>
              <a:t>파일을 새로 만들고 저장한다 (1/24)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03504" y="859536"/>
            <a:ext cx="10698480" cy="29260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700" b="0">
                <a:solidFill>
                  <a:srgbClr val="5C6672"/>
                </a:solidFill>
                <a:latin typeface="Noto Sans CJK KR"/>
              </a:defRPr>
            </a:pPr>
            <a:r>
              <a:t>~/agv_ws/src/agv_gazebo/models/agv/model.sdf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30352" y="6510528"/>
            <a:ext cx="777240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000" b="0">
                <a:solidFill>
                  <a:srgbClr val="5C6672"/>
                </a:solidFill>
                <a:latin typeface="Noto Sans CJK KR"/>
              </a:defRPr>
            </a:pPr>
            <a:r>
              <a:t>ROS 2 Jazzy · Gazebo Harmonic · M09 · 따라 하기형 AGV 실습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144000" y="6510528"/>
            <a:ext cx="246888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r">
              <a:spcAft>
                <a:spcPts val="0"/>
              </a:spcAft>
              <a:defRPr sz="1000" b="0">
                <a:solidFill>
                  <a:srgbClr val="5C6672"/>
                </a:solidFill>
                <a:latin typeface="Noto Sans CJK KR"/>
              </a:defRPr>
            </a:pPr>
            <a:r>
              <a:t>명령·파일 경로는 슬라이드에서 복사 가능</a:t>
            </a:r>
          </a:p>
        </p:txBody>
      </p:sp>
      <p:sp>
        <p:nvSpPr>
          <p:cNvPr id="6" name="Rectangle 5"/>
          <p:cNvSpPr/>
          <p:nvPr/>
        </p:nvSpPr>
        <p:spPr>
          <a:xfrm>
            <a:off x="566928" y="1188720"/>
            <a:ext cx="11064240" cy="347472"/>
          </a:xfrm>
          <a:prstGeom prst="rect">
            <a:avLst/>
          </a:prstGeom>
          <a:solidFill>
            <a:srgbClr val="F4F7FB"/>
          </a:solidFill>
          <a:ln>
            <a:solidFill>
              <a:srgbClr val="F4F7F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l">
              <a:spcAft>
                <a:spcPts val="0"/>
              </a:spcAft>
              <a:defRPr sz="1300" b="1">
                <a:solidFill>
                  <a:srgbClr val="122C4E"/>
                </a:solidFill>
                <a:latin typeface="Noto Sans CJK KR"/>
              </a:defRPr>
            </a:pPr>
            <a:r>
              <a:t>현재 단계 3/27    |    현재 폴더 ~/agv_ws    |    현재 터미널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58368" y="1627632"/>
            <a:ext cx="10972800" cy="256032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500" b="1">
                <a:solidFill>
                  <a:srgbClr val="122C4E"/>
                </a:solidFill>
                <a:latin typeface="Noto Sans CJK KR"/>
              </a:defRPr>
            </a:pPr>
            <a:r>
              <a:t>이번 단계: 파일의 전체 내용을 중간 생략 없이 작성합니다. 아래 줄 범위를 끝까지 입력하세요.</a:t>
            </a:r>
          </a:p>
        </p:txBody>
      </p:sp>
      <p:sp>
        <p:nvSpPr>
          <p:cNvPr id="8" name="Rectangle 7"/>
          <p:cNvSpPr/>
          <p:nvPr/>
        </p:nvSpPr>
        <p:spPr>
          <a:xfrm>
            <a:off x="658368" y="1956816"/>
            <a:ext cx="10972800" cy="603504"/>
          </a:xfrm>
          <a:prstGeom prst="rect">
            <a:avLst/>
          </a:prstGeom>
          <a:solidFill>
            <a:srgbClr val="F4F7FB"/>
          </a:solidFill>
          <a:ln>
            <a:solidFill>
              <a:srgbClr val="F4F7F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l">
              <a:spcAft>
                <a:spcPts val="0"/>
              </a:spcAft>
              <a:defRPr sz="1400" b="0">
                <a:solidFill>
                  <a:srgbClr val="122C4E"/>
                </a:solidFill>
                <a:latin typeface="DejaVu Sans Mono"/>
              </a:defRPr>
            </a:pPr>
            <a:r>
              <a:t>파일 생성: mkdir -p ~/agv_ws/src/agv_gazebo/models/agv</a:t>
            </a:r>
            <a:br/>
            <a:r>
              <a:t>파일 열기: nano ~/agv_ws/src/agv_gazebo/models/agv/model.sdf</a:t>
            </a:r>
          </a:p>
        </p:txBody>
      </p:sp>
      <p:sp>
        <p:nvSpPr>
          <p:cNvPr id="9" name="Rectangle 8"/>
          <p:cNvSpPr/>
          <p:nvPr/>
        </p:nvSpPr>
        <p:spPr>
          <a:xfrm>
            <a:off x="658368" y="2706624"/>
            <a:ext cx="10972800" cy="3364992"/>
          </a:xfrm>
          <a:prstGeom prst="rect">
            <a:avLst/>
          </a:prstGeom>
          <a:solidFill>
            <a:srgbClr val="1D232D"/>
          </a:solidFill>
          <a:ln>
            <a:solidFill>
              <a:srgbClr val="1D232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64592" rIns="164592" tIns="109728" bIns="36576"/>
          <a:lstStyle/>
          <a:p>
            <a:pPr algn="l">
              <a:spcAft>
                <a:spcPts val="0"/>
              </a:spcAft>
              <a:defRPr sz="1400" b="0">
                <a:solidFill>
                  <a:srgbClr val="FFFFFF"/>
                </a:solidFill>
                <a:latin typeface="DejaVu Sans Mono"/>
              </a:defRPr>
            </a:pPr>
            <a:r>
              <a:t>&lt;?xml version="1.0" ?&gt;</a:t>
            </a:r>
            <a:br/>
            <a:r>
              <a:t>&lt;sdf version="1.10"&gt;</a:t>
            </a:r>
            <a:br/>
            <a:r>
              <a:t>  </a:t>
            </a:r>
            <a:br/>
            <a:r>
              <a:t>  </a:t>
            </a:r>
            <a:br/>
            <a:r>
              <a:t>  &lt;model name="agv"&gt;</a:t>
            </a:r>
            <a:br/>
            <a:r>
              <a:t>    </a:t>
            </a:r>
            <a:br/>
            <a:r>
              <a:t>    </a:t>
            </a:r>
            <a:br/>
            <a:r>
              <a:t>    &lt;link name="base_link"&gt;</a:t>
            </a:r>
            <a:br/>
            <a:r>
              <a:t>      </a:t>
            </a:r>
            <a:br/>
            <a:r>
              <a:t>      </a:t>
            </a:r>
            <a:br/>
            <a:r>
              <a:t>      &lt;pose&gt;0 0 0.16 0 0 0&lt;/pose&gt;</a:t>
            </a:r>
            <a:br/>
            <a:r>
              <a:t>      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749808" y="6181344"/>
            <a:ext cx="1078992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000" b="0">
                <a:solidFill>
                  <a:srgbClr val="5C6672"/>
                </a:solidFill>
                <a:latin typeface="Noto Sans CJK KR"/>
              </a:defRPr>
            </a:pPr>
            <a:r>
              <a:t>파일 전체 1/24 · 이 슬라이드 다음에 같은 파일의 나머지 줄이 이어집니다.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66928" y="347472"/>
            <a:ext cx="10881360" cy="438912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3200" b="1">
                <a:solidFill>
                  <a:srgbClr val="122C4E"/>
                </a:solidFill>
                <a:latin typeface="Noto Sans CJK KR"/>
              </a:defRPr>
            </a:pPr>
            <a:r>
              <a:t>파일을 계속 작성하고 저장한다 (2/24)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03504" y="859536"/>
            <a:ext cx="10698480" cy="29260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700" b="0">
                <a:solidFill>
                  <a:srgbClr val="5C6672"/>
                </a:solidFill>
                <a:latin typeface="Noto Sans CJK KR"/>
              </a:defRPr>
            </a:pPr>
            <a:r>
              <a:t>~/agv_ws/src/agv_gazebo/models/agv/model.sdf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30352" y="6510528"/>
            <a:ext cx="777240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000" b="0">
                <a:solidFill>
                  <a:srgbClr val="5C6672"/>
                </a:solidFill>
                <a:latin typeface="Noto Sans CJK KR"/>
              </a:defRPr>
            </a:pPr>
            <a:r>
              <a:t>ROS 2 Jazzy · Gazebo Harmonic · M09 · 따라 하기형 AGV 실습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144000" y="6510528"/>
            <a:ext cx="246888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r">
              <a:spcAft>
                <a:spcPts val="0"/>
              </a:spcAft>
              <a:defRPr sz="1000" b="0">
                <a:solidFill>
                  <a:srgbClr val="5C6672"/>
                </a:solidFill>
                <a:latin typeface="Noto Sans CJK KR"/>
              </a:defRPr>
            </a:pPr>
            <a:r>
              <a:t>명령·파일 경로는 슬라이드에서 복사 가능</a:t>
            </a:r>
          </a:p>
        </p:txBody>
      </p:sp>
      <p:sp>
        <p:nvSpPr>
          <p:cNvPr id="6" name="Rectangle 5"/>
          <p:cNvSpPr/>
          <p:nvPr/>
        </p:nvSpPr>
        <p:spPr>
          <a:xfrm>
            <a:off x="566928" y="1188720"/>
            <a:ext cx="11064240" cy="347472"/>
          </a:xfrm>
          <a:prstGeom prst="rect">
            <a:avLst/>
          </a:prstGeom>
          <a:solidFill>
            <a:srgbClr val="F4F7FB"/>
          </a:solidFill>
          <a:ln>
            <a:solidFill>
              <a:srgbClr val="F4F7F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l">
              <a:spcAft>
                <a:spcPts val="0"/>
              </a:spcAft>
              <a:defRPr sz="1300" b="1">
                <a:solidFill>
                  <a:srgbClr val="122C4E"/>
                </a:solidFill>
                <a:latin typeface="Noto Sans CJK KR"/>
              </a:defRPr>
            </a:pPr>
            <a:r>
              <a:t>현재 단계 4/27    |    현재 폴더 ~/agv_ws    |    현재 터미널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58368" y="1627632"/>
            <a:ext cx="10972800" cy="256032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500" b="1">
                <a:solidFill>
                  <a:srgbClr val="122C4E"/>
                </a:solidFill>
                <a:latin typeface="Noto Sans CJK KR"/>
              </a:defRPr>
            </a:pPr>
            <a:r>
              <a:t>이번 단계: 파일의 전체 내용을 중간 생략 없이 작성합니다. 아래 줄 범위를 끝까지 입력하세요.</a:t>
            </a:r>
          </a:p>
        </p:txBody>
      </p:sp>
      <p:sp>
        <p:nvSpPr>
          <p:cNvPr id="8" name="Rectangle 7"/>
          <p:cNvSpPr/>
          <p:nvPr/>
        </p:nvSpPr>
        <p:spPr>
          <a:xfrm>
            <a:off x="658368" y="1956816"/>
            <a:ext cx="10972800" cy="603504"/>
          </a:xfrm>
          <a:prstGeom prst="rect">
            <a:avLst/>
          </a:prstGeom>
          <a:solidFill>
            <a:srgbClr val="F4F7FB"/>
          </a:solidFill>
          <a:ln>
            <a:solidFill>
              <a:srgbClr val="F4F7F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l">
              <a:spcAft>
                <a:spcPts val="0"/>
              </a:spcAft>
              <a:defRPr sz="1400" b="0">
                <a:solidFill>
                  <a:srgbClr val="122C4E"/>
                </a:solidFill>
                <a:latin typeface="DejaVu Sans Mono"/>
              </a:defRPr>
            </a:pPr>
            <a:r>
              <a:t>파일 생성: mkdir -p ~/agv_ws/src/agv_gazebo/models/agv</a:t>
            </a:r>
            <a:br/>
            <a:r>
              <a:t>파일 열기: nano ~/agv_ws/src/agv_gazebo/models/agv/model.sdf</a:t>
            </a:r>
          </a:p>
        </p:txBody>
      </p:sp>
      <p:sp>
        <p:nvSpPr>
          <p:cNvPr id="9" name="Rectangle 8"/>
          <p:cNvSpPr/>
          <p:nvPr/>
        </p:nvSpPr>
        <p:spPr>
          <a:xfrm>
            <a:off x="658368" y="2706624"/>
            <a:ext cx="10972800" cy="3364992"/>
          </a:xfrm>
          <a:prstGeom prst="rect">
            <a:avLst/>
          </a:prstGeom>
          <a:solidFill>
            <a:srgbClr val="1D232D"/>
          </a:solidFill>
          <a:ln>
            <a:solidFill>
              <a:srgbClr val="1D232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64592" rIns="164592" tIns="109728" bIns="36576"/>
          <a:lstStyle/>
          <a:p>
            <a:pPr algn="l">
              <a:spcAft>
                <a:spcPts val="0"/>
              </a:spcAft>
              <a:defRPr sz="1400" b="0">
                <a:solidFill>
                  <a:srgbClr val="FFFFFF"/>
                </a:solidFill>
                <a:latin typeface="DejaVu Sans Mono"/>
              </a:defRPr>
            </a:pPr>
            <a:r>
              <a:t>      </a:t>
            </a:r>
            <a:br/>
            <a:r>
              <a:t>      &lt;inertial&gt;</a:t>
            </a:r>
            <a:br/>
            <a:r>
              <a:t>        &lt;mass&gt;12.0&lt;/mass&gt;</a:t>
            </a:r>
            <a:br/>
            <a:r>
              <a:t>        &lt;inertia&gt;</a:t>
            </a:r>
            <a:br/>
            <a:r>
              <a:t>          &lt;ixx&gt;0.20&lt;/ixx&gt;</a:t>
            </a:r>
            <a:br/>
            <a:r>
              <a:t>          &lt;iyy&gt;0.40&lt;/iyy&gt;</a:t>
            </a:r>
            <a:br/>
            <a:r>
              <a:t>          &lt;izz&gt;0.50&lt;/izz&gt;</a:t>
            </a:r>
            <a:br/>
            <a:r>
              <a:t>        &lt;/inertia&gt;</a:t>
            </a:r>
            <a:br/>
            <a:r>
              <a:t>      &lt;/inertial&gt;</a:t>
            </a:r>
            <a:br/>
            <a:r>
              <a:t>      </a:t>
            </a:r>
            <a:br/>
            <a:r>
              <a:t>      </a:t>
            </a:r>
            <a:br/>
            <a:r>
              <a:t>      &lt;visual name="body"&gt;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749808" y="6181344"/>
            <a:ext cx="1078992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000" b="0">
                <a:solidFill>
                  <a:srgbClr val="5C6672"/>
                </a:solidFill>
                <a:latin typeface="Noto Sans CJK KR"/>
              </a:defRPr>
            </a:pPr>
            <a:r>
              <a:t>파일 전체 2/24 · 이 슬라이드 다음에 같은 파일의 나머지 줄이 이어집니다.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66928" y="347472"/>
            <a:ext cx="10881360" cy="438912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3200" b="1">
                <a:solidFill>
                  <a:srgbClr val="122C4E"/>
                </a:solidFill>
                <a:latin typeface="Noto Sans CJK KR"/>
              </a:defRPr>
            </a:pPr>
            <a:r>
              <a:t>파일을 계속 작성하고 저장한다 (3/24)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03504" y="859536"/>
            <a:ext cx="10698480" cy="29260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700" b="0">
                <a:solidFill>
                  <a:srgbClr val="5C6672"/>
                </a:solidFill>
                <a:latin typeface="Noto Sans CJK KR"/>
              </a:defRPr>
            </a:pPr>
            <a:r>
              <a:t>~/agv_ws/src/agv_gazebo/models/agv/model.sdf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30352" y="6510528"/>
            <a:ext cx="777240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000" b="0">
                <a:solidFill>
                  <a:srgbClr val="5C6672"/>
                </a:solidFill>
                <a:latin typeface="Noto Sans CJK KR"/>
              </a:defRPr>
            </a:pPr>
            <a:r>
              <a:t>ROS 2 Jazzy · Gazebo Harmonic · M09 · 따라 하기형 AGV 실습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144000" y="6510528"/>
            <a:ext cx="246888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r">
              <a:spcAft>
                <a:spcPts val="0"/>
              </a:spcAft>
              <a:defRPr sz="1000" b="0">
                <a:solidFill>
                  <a:srgbClr val="5C6672"/>
                </a:solidFill>
                <a:latin typeface="Noto Sans CJK KR"/>
              </a:defRPr>
            </a:pPr>
            <a:r>
              <a:t>명령·파일 경로는 슬라이드에서 복사 가능</a:t>
            </a:r>
          </a:p>
        </p:txBody>
      </p:sp>
      <p:sp>
        <p:nvSpPr>
          <p:cNvPr id="6" name="Rectangle 5"/>
          <p:cNvSpPr/>
          <p:nvPr/>
        </p:nvSpPr>
        <p:spPr>
          <a:xfrm>
            <a:off x="566928" y="1188720"/>
            <a:ext cx="11064240" cy="347472"/>
          </a:xfrm>
          <a:prstGeom prst="rect">
            <a:avLst/>
          </a:prstGeom>
          <a:solidFill>
            <a:srgbClr val="F4F7FB"/>
          </a:solidFill>
          <a:ln>
            <a:solidFill>
              <a:srgbClr val="F4F7F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l">
              <a:spcAft>
                <a:spcPts val="0"/>
              </a:spcAft>
              <a:defRPr sz="1300" b="1">
                <a:solidFill>
                  <a:srgbClr val="122C4E"/>
                </a:solidFill>
                <a:latin typeface="Noto Sans CJK KR"/>
              </a:defRPr>
            </a:pPr>
            <a:r>
              <a:t>현재 단계 5/27    |    현재 폴더 ~/agv_ws    |    현재 터미널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58368" y="1627632"/>
            <a:ext cx="10972800" cy="256032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500" b="1">
                <a:solidFill>
                  <a:srgbClr val="122C4E"/>
                </a:solidFill>
                <a:latin typeface="Noto Sans CJK KR"/>
              </a:defRPr>
            </a:pPr>
            <a:r>
              <a:t>이번 단계: 파일의 전체 내용을 중간 생략 없이 작성합니다. 아래 줄 범위를 끝까지 입력하세요.</a:t>
            </a:r>
          </a:p>
        </p:txBody>
      </p:sp>
      <p:sp>
        <p:nvSpPr>
          <p:cNvPr id="8" name="Rectangle 7"/>
          <p:cNvSpPr/>
          <p:nvPr/>
        </p:nvSpPr>
        <p:spPr>
          <a:xfrm>
            <a:off x="658368" y="1956816"/>
            <a:ext cx="10972800" cy="603504"/>
          </a:xfrm>
          <a:prstGeom prst="rect">
            <a:avLst/>
          </a:prstGeom>
          <a:solidFill>
            <a:srgbClr val="F4F7FB"/>
          </a:solidFill>
          <a:ln>
            <a:solidFill>
              <a:srgbClr val="F4F7F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l">
              <a:spcAft>
                <a:spcPts val="0"/>
              </a:spcAft>
              <a:defRPr sz="1400" b="0">
                <a:solidFill>
                  <a:srgbClr val="122C4E"/>
                </a:solidFill>
                <a:latin typeface="DejaVu Sans Mono"/>
              </a:defRPr>
            </a:pPr>
            <a:r>
              <a:t>파일 생성: mkdir -p ~/agv_ws/src/agv_gazebo/models/agv</a:t>
            </a:r>
            <a:br/>
            <a:r>
              <a:t>파일 열기: nano ~/agv_ws/src/agv_gazebo/models/agv/model.sdf</a:t>
            </a:r>
          </a:p>
        </p:txBody>
      </p:sp>
      <p:sp>
        <p:nvSpPr>
          <p:cNvPr id="9" name="Rectangle 8"/>
          <p:cNvSpPr/>
          <p:nvPr/>
        </p:nvSpPr>
        <p:spPr>
          <a:xfrm>
            <a:off x="658368" y="2706624"/>
            <a:ext cx="10972800" cy="3364992"/>
          </a:xfrm>
          <a:prstGeom prst="rect">
            <a:avLst/>
          </a:prstGeom>
          <a:solidFill>
            <a:srgbClr val="1D232D"/>
          </a:solidFill>
          <a:ln>
            <a:solidFill>
              <a:srgbClr val="1D232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64592" rIns="164592" tIns="109728" bIns="36576"/>
          <a:lstStyle/>
          <a:p>
            <a:pPr algn="l">
              <a:spcAft>
                <a:spcPts val="0"/>
              </a:spcAft>
              <a:defRPr sz="1400" b="0">
                <a:solidFill>
                  <a:srgbClr val="FFFFFF"/>
                </a:solidFill>
                <a:latin typeface="DejaVu Sans Mono"/>
              </a:defRPr>
            </a:pPr>
            <a:r>
              <a:t>        &lt;geometry&gt;</a:t>
            </a:r>
            <a:br/>
            <a:r>
              <a:t>          &lt;box&gt;</a:t>
            </a:r>
            <a:br/>
            <a:r>
              <a:t>            &lt;size&gt;0.60 0.42 0.16&lt;/size&gt;</a:t>
            </a:r>
            <a:br/>
            <a:r>
              <a:t>          &lt;/box&gt;</a:t>
            </a:r>
            <a:br/>
            <a:r>
              <a:t>        &lt;/geometry&gt;</a:t>
            </a:r>
            <a:br/>
            <a:r>
              <a:t>        &lt;material&gt;</a:t>
            </a:r>
            <a:br/>
            <a:r>
              <a:t>          &lt;diffuse&gt;0.1 0.35 0.8 1&lt;/diffuse&gt;</a:t>
            </a:r>
            <a:br/>
            <a:r>
              <a:t>        &lt;/material&gt;</a:t>
            </a:r>
            <a:br/>
            <a:r>
              <a:t>      &lt;/visual&gt;</a:t>
            </a:r>
            <a:br/>
            <a:r>
              <a:t>      </a:t>
            </a:r>
            <a:br/>
            <a:r>
              <a:t>      </a:t>
            </a:r>
            <a:br/>
            <a:r>
              <a:t>      &lt;collision name="body_collision"&gt;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749808" y="6181344"/>
            <a:ext cx="1078992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000" b="0">
                <a:solidFill>
                  <a:srgbClr val="5C6672"/>
                </a:solidFill>
                <a:latin typeface="Noto Sans CJK KR"/>
              </a:defRPr>
            </a:pPr>
            <a:r>
              <a:t>파일 전체 3/24 · 이 슬라이드 다음에 같은 파일의 나머지 줄이 이어집니다.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66928" y="347472"/>
            <a:ext cx="10881360" cy="438912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3200" b="1">
                <a:solidFill>
                  <a:srgbClr val="122C4E"/>
                </a:solidFill>
                <a:latin typeface="Noto Sans CJK KR"/>
              </a:defRPr>
            </a:pPr>
            <a:r>
              <a:t>파일을 계속 작성하고 저장한다 (4/24)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03504" y="859536"/>
            <a:ext cx="10698480" cy="29260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700" b="0">
                <a:solidFill>
                  <a:srgbClr val="5C6672"/>
                </a:solidFill>
                <a:latin typeface="Noto Sans CJK KR"/>
              </a:defRPr>
            </a:pPr>
            <a:r>
              <a:t>~/agv_ws/src/agv_gazebo/models/agv/model.sdf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30352" y="6510528"/>
            <a:ext cx="777240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000" b="0">
                <a:solidFill>
                  <a:srgbClr val="5C6672"/>
                </a:solidFill>
                <a:latin typeface="Noto Sans CJK KR"/>
              </a:defRPr>
            </a:pPr>
            <a:r>
              <a:t>ROS 2 Jazzy · Gazebo Harmonic · M09 · 따라 하기형 AGV 실습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144000" y="6510528"/>
            <a:ext cx="246888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r">
              <a:spcAft>
                <a:spcPts val="0"/>
              </a:spcAft>
              <a:defRPr sz="1000" b="0">
                <a:solidFill>
                  <a:srgbClr val="5C6672"/>
                </a:solidFill>
                <a:latin typeface="Noto Sans CJK KR"/>
              </a:defRPr>
            </a:pPr>
            <a:r>
              <a:t>명령·파일 경로는 슬라이드에서 복사 가능</a:t>
            </a:r>
          </a:p>
        </p:txBody>
      </p:sp>
      <p:sp>
        <p:nvSpPr>
          <p:cNvPr id="6" name="Rectangle 5"/>
          <p:cNvSpPr/>
          <p:nvPr/>
        </p:nvSpPr>
        <p:spPr>
          <a:xfrm>
            <a:off x="566928" y="1188720"/>
            <a:ext cx="11064240" cy="347472"/>
          </a:xfrm>
          <a:prstGeom prst="rect">
            <a:avLst/>
          </a:prstGeom>
          <a:solidFill>
            <a:srgbClr val="F4F7FB"/>
          </a:solidFill>
          <a:ln>
            <a:solidFill>
              <a:srgbClr val="F4F7F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l">
              <a:spcAft>
                <a:spcPts val="0"/>
              </a:spcAft>
              <a:defRPr sz="1300" b="1">
                <a:solidFill>
                  <a:srgbClr val="122C4E"/>
                </a:solidFill>
                <a:latin typeface="Noto Sans CJK KR"/>
              </a:defRPr>
            </a:pPr>
            <a:r>
              <a:t>현재 단계 6/27    |    현재 폴더 ~/agv_ws    |    현재 터미널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58368" y="1627632"/>
            <a:ext cx="10972800" cy="256032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500" b="1">
                <a:solidFill>
                  <a:srgbClr val="122C4E"/>
                </a:solidFill>
                <a:latin typeface="Noto Sans CJK KR"/>
              </a:defRPr>
            </a:pPr>
            <a:r>
              <a:t>이번 단계: 파일의 전체 내용을 중간 생략 없이 작성합니다. 아래 줄 범위를 끝까지 입력하세요.</a:t>
            </a:r>
          </a:p>
        </p:txBody>
      </p:sp>
      <p:sp>
        <p:nvSpPr>
          <p:cNvPr id="8" name="Rectangle 7"/>
          <p:cNvSpPr/>
          <p:nvPr/>
        </p:nvSpPr>
        <p:spPr>
          <a:xfrm>
            <a:off x="658368" y="1956816"/>
            <a:ext cx="10972800" cy="603504"/>
          </a:xfrm>
          <a:prstGeom prst="rect">
            <a:avLst/>
          </a:prstGeom>
          <a:solidFill>
            <a:srgbClr val="F4F7FB"/>
          </a:solidFill>
          <a:ln>
            <a:solidFill>
              <a:srgbClr val="F4F7F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l">
              <a:spcAft>
                <a:spcPts val="0"/>
              </a:spcAft>
              <a:defRPr sz="1400" b="0">
                <a:solidFill>
                  <a:srgbClr val="122C4E"/>
                </a:solidFill>
                <a:latin typeface="DejaVu Sans Mono"/>
              </a:defRPr>
            </a:pPr>
            <a:r>
              <a:t>파일 생성: mkdir -p ~/agv_ws/src/agv_gazebo/models/agv</a:t>
            </a:r>
            <a:br/>
            <a:r>
              <a:t>파일 열기: nano ~/agv_ws/src/agv_gazebo/models/agv/model.sdf</a:t>
            </a:r>
          </a:p>
        </p:txBody>
      </p:sp>
      <p:sp>
        <p:nvSpPr>
          <p:cNvPr id="9" name="Rectangle 8"/>
          <p:cNvSpPr/>
          <p:nvPr/>
        </p:nvSpPr>
        <p:spPr>
          <a:xfrm>
            <a:off x="658368" y="2706624"/>
            <a:ext cx="10972800" cy="3364992"/>
          </a:xfrm>
          <a:prstGeom prst="rect">
            <a:avLst/>
          </a:prstGeom>
          <a:solidFill>
            <a:srgbClr val="1D232D"/>
          </a:solidFill>
          <a:ln>
            <a:solidFill>
              <a:srgbClr val="1D232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64592" rIns="164592" tIns="109728" bIns="36576"/>
          <a:lstStyle/>
          <a:p>
            <a:pPr algn="l">
              <a:spcAft>
                <a:spcPts val="0"/>
              </a:spcAft>
              <a:defRPr sz="1400" b="0">
                <a:solidFill>
                  <a:srgbClr val="FFFFFF"/>
                </a:solidFill>
                <a:latin typeface="DejaVu Sans Mono"/>
              </a:defRPr>
            </a:pPr>
            <a:r>
              <a:t>        &lt;geometry&gt;</a:t>
            </a:r>
            <a:br/>
            <a:r>
              <a:t>          &lt;box&gt;</a:t>
            </a:r>
            <a:br/>
            <a:r>
              <a:t>            &lt;size&gt;0.60 0.42 0.16&lt;/size&gt;</a:t>
            </a:r>
            <a:br/>
            <a:r>
              <a:t>          &lt;/box&gt;</a:t>
            </a:r>
            <a:br/>
            <a:r>
              <a:t>        &lt;/geometry&gt;</a:t>
            </a:r>
            <a:br/>
            <a:r>
              <a:t>      &lt;/collision&gt;</a:t>
            </a:r>
            <a:br/>
            <a:r>
              <a:t>      </a:t>
            </a:r>
            <a:br/>
            <a:r>
              <a:t>      </a:t>
            </a:r>
            <a:br/>
            <a:r>
              <a:t>      &lt;sensor name="imu" type="imu"&gt;</a:t>
            </a:r>
            <a:br/>
            <a:r>
              <a:t>        &lt;topic&gt;/imu/data&lt;/topic&gt;</a:t>
            </a:r>
            <a:br/>
            <a:r>
              <a:t>        &lt;always_on&gt;true&lt;/always_on&gt;</a:t>
            </a:r>
            <a:br/>
            <a:r>
              <a:t>        &lt;update_rate&gt;100&lt;/update_rate&gt;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749808" y="6181344"/>
            <a:ext cx="1078992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000" b="0">
                <a:solidFill>
                  <a:srgbClr val="5C6672"/>
                </a:solidFill>
                <a:latin typeface="Noto Sans CJK KR"/>
              </a:defRPr>
            </a:pPr>
            <a:r>
              <a:t>파일 전체 4/24 · 이 슬라이드 다음에 같은 파일의 나머지 줄이 이어집니다.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66928" y="347472"/>
            <a:ext cx="10881360" cy="438912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3200" b="1">
                <a:solidFill>
                  <a:srgbClr val="122C4E"/>
                </a:solidFill>
                <a:latin typeface="Noto Sans CJK KR"/>
              </a:defRPr>
            </a:pPr>
            <a:r>
              <a:t>파일을 계속 작성하고 저장한다 (5/24)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03504" y="859536"/>
            <a:ext cx="10698480" cy="29260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700" b="0">
                <a:solidFill>
                  <a:srgbClr val="5C6672"/>
                </a:solidFill>
                <a:latin typeface="Noto Sans CJK KR"/>
              </a:defRPr>
            </a:pPr>
            <a:r>
              <a:t>~/agv_ws/src/agv_gazebo/models/agv/model.sdf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30352" y="6510528"/>
            <a:ext cx="777240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000" b="0">
                <a:solidFill>
                  <a:srgbClr val="5C6672"/>
                </a:solidFill>
                <a:latin typeface="Noto Sans CJK KR"/>
              </a:defRPr>
            </a:pPr>
            <a:r>
              <a:t>ROS 2 Jazzy · Gazebo Harmonic · M09 · 따라 하기형 AGV 실습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144000" y="6510528"/>
            <a:ext cx="246888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r">
              <a:spcAft>
                <a:spcPts val="0"/>
              </a:spcAft>
              <a:defRPr sz="1000" b="0">
                <a:solidFill>
                  <a:srgbClr val="5C6672"/>
                </a:solidFill>
                <a:latin typeface="Noto Sans CJK KR"/>
              </a:defRPr>
            </a:pPr>
            <a:r>
              <a:t>명령·파일 경로는 슬라이드에서 복사 가능</a:t>
            </a:r>
          </a:p>
        </p:txBody>
      </p:sp>
      <p:sp>
        <p:nvSpPr>
          <p:cNvPr id="6" name="Rectangle 5"/>
          <p:cNvSpPr/>
          <p:nvPr/>
        </p:nvSpPr>
        <p:spPr>
          <a:xfrm>
            <a:off x="566928" y="1188720"/>
            <a:ext cx="11064240" cy="347472"/>
          </a:xfrm>
          <a:prstGeom prst="rect">
            <a:avLst/>
          </a:prstGeom>
          <a:solidFill>
            <a:srgbClr val="F4F7FB"/>
          </a:solidFill>
          <a:ln>
            <a:solidFill>
              <a:srgbClr val="F4F7F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l">
              <a:spcAft>
                <a:spcPts val="0"/>
              </a:spcAft>
              <a:defRPr sz="1300" b="1">
                <a:solidFill>
                  <a:srgbClr val="122C4E"/>
                </a:solidFill>
                <a:latin typeface="Noto Sans CJK KR"/>
              </a:defRPr>
            </a:pPr>
            <a:r>
              <a:t>현재 단계 7/27    |    현재 폴더 ~/agv_ws    |    현재 터미널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58368" y="1627632"/>
            <a:ext cx="10972800" cy="256032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500" b="1">
                <a:solidFill>
                  <a:srgbClr val="122C4E"/>
                </a:solidFill>
                <a:latin typeface="Noto Sans CJK KR"/>
              </a:defRPr>
            </a:pPr>
            <a:r>
              <a:t>이번 단계: 파일의 전체 내용을 중간 생략 없이 작성합니다. 아래 줄 범위를 끝까지 입력하세요.</a:t>
            </a:r>
          </a:p>
        </p:txBody>
      </p:sp>
      <p:sp>
        <p:nvSpPr>
          <p:cNvPr id="8" name="Rectangle 7"/>
          <p:cNvSpPr/>
          <p:nvPr/>
        </p:nvSpPr>
        <p:spPr>
          <a:xfrm>
            <a:off x="658368" y="1956816"/>
            <a:ext cx="10972800" cy="603504"/>
          </a:xfrm>
          <a:prstGeom prst="rect">
            <a:avLst/>
          </a:prstGeom>
          <a:solidFill>
            <a:srgbClr val="F4F7FB"/>
          </a:solidFill>
          <a:ln>
            <a:solidFill>
              <a:srgbClr val="F4F7F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l">
              <a:spcAft>
                <a:spcPts val="0"/>
              </a:spcAft>
              <a:defRPr sz="1400" b="0">
                <a:solidFill>
                  <a:srgbClr val="122C4E"/>
                </a:solidFill>
                <a:latin typeface="DejaVu Sans Mono"/>
              </a:defRPr>
            </a:pPr>
            <a:r>
              <a:t>파일 생성: mkdir -p ~/agv_ws/src/agv_gazebo/models/agv</a:t>
            </a:r>
            <a:br/>
            <a:r>
              <a:t>파일 열기: nano ~/agv_ws/src/agv_gazebo/models/agv/model.sdf</a:t>
            </a:r>
          </a:p>
        </p:txBody>
      </p:sp>
      <p:sp>
        <p:nvSpPr>
          <p:cNvPr id="9" name="Rectangle 8"/>
          <p:cNvSpPr/>
          <p:nvPr/>
        </p:nvSpPr>
        <p:spPr>
          <a:xfrm>
            <a:off x="658368" y="2706624"/>
            <a:ext cx="10972800" cy="3364992"/>
          </a:xfrm>
          <a:prstGeom prst="rect">
            <a:avLst/>
          </a:prstGeom>
          <a:solidFill>
            <a:srgbClr val="1D232D"/>
          </a:solidFill>
          <a:ln>
            <a:solidFill>
              <a:srgbClr val="1D232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64592" rIns="164592" tIns="109728" bIns="36576"/>
          <a:lstStyle/>
          <a:p>
            <a:pPr algn="l">
              <a:spcAft>
                <a:spcPts val="0"/>
              </a:spcAft>
              <a:defRPr sz="1400" b="0">
                <a:solidFill>
                  <a:srgbClr val="FFFFFF"/>
                </a:solidFill>
                <a:latin typeface="DejaVu Sans Mono"/>
              </a:defRPr>
            </a:pPr>
            <a:r>
              <a:t>        &lt;imu&gt;</a:t>
            </a:r>
            <a:br/>
            <a:r>
              <a:t>          &lt;angular_velocity&gt;</a:t>
            </a:r>
            <a:br/>
            <a:r>
              <a:t>            &lt;x&gt;</a:t>
            </a:r>
            <a:br/>
            <a:r>
              <a:t>              &lt;noise type="gaussian"&gt;</a:t>
            </a:r>
            <a:br/>
            <a:r>
              <a:t>                &lt;mean&gt;0&lt;/mean&gt;</a:t>
            </a:r>
            <a:br/>
            <a:r>
              <a:t>                &lt;stddev&gt;0.001&lt;/stddev&gt;</a:t>
            </a:r>
            <a:br/>
            <a:r>
              <a:t>              &lt;/noise&gt;</a:t>
            </a:r>
            <a:br/>
            <a:r>
              <a:t>            &lt;/x&gt;</a:t>
            </a:r>
            <a:br/>
            <a:r>
              <a:t>          &lt;/angular_velocity&gt;</a:t>
            </a:r>
            <a:br/>
            <a:r>
              <a:t>        &lt;/imu&gt;</a:t>
            </a:r>
            <a:br/>
            <a:r>
              <a:t>      &lt;/sensor&gt;</a:t>
            </a:r>
            <a:br/>
            <a:r>
              <a:t>      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749808" y="6181344"/>
            <a:ext cx="1078992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000" b="0">
                <a:solidFill>
                  <a:srgbClr val="5C6672"/>
                </a:solidFill>
                <a:latin typeface="Noto Sans CJK KR"/>
              </a:defRPr>
            </a:pPr>
            <a:r>
              <a:t>파일 전체 5/24 · 이 슬라이드 다음에 같은 파일의 나머지 줄이 이어집니다.</a:t>
            </a: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66928" y="347472"/>
            <a:ext cx="10881360" cy="438912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3200" b="1">
                <a:solidFill>
                  <a:srgbClr val="122C4E"/>
                </a:solidFill>
                <a:latin typeface="Noto Sans CJK KR"/>
              </a:defRPr>
            </a:pPr>
            <a:r>
              <a:t>파일을 계속 작성하고 저장한다 (6/24)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03504" y="859536"/>
            <a:ext cx="10698480" cy="29260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700" b="0">
                <a:solidFill>
                  <a:srgbClr val="5C6672"/>
                </a:solidFill>
                <a:latin typeface="Noto Sans CJK KR"/>
              </a:defRPr>
            </a:pPr>
            <a:r>
              <a:t>~/agv_ws/src/agv_gazebo/models/agv/model.sdf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30352" y="6510528"/>
            <a:ext cx="777240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000" b="0">
                <a:solidFill>
                  <a:srgbClr val="5C6672"/>
                </a:solidFill>
                <a:latin typeface="Noto Sans CJK KR"/>
              </a:defRPr>
            </a:pPr>
            <a:r>
              <a:t>ROS 2 Jazzy · Gazebo Harmonic · M09 · 따라 하기형 AGV 실습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144000" y="6510528"/>
            <a:ext cx="246888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r">
              <a:spcAft>
                <a:spcPts val="0"/>
              </a:spcAft>
              <a:defRPr sz="1000" b="0">
                <a:solidFill>
                  <a:srgbClr val="5C6672"/>
                </a:solidFill>
                <a:latin typeface="Noto Sans CJK KR"/>
              </a:defRPr>
            </a:pPr>
            <a:r>
              <a:t>명령·파일 경로는 슬라이드에서 복사 가능</a:t>
            </a:r>
          </a:p>
        </p:txBody>
      </p:sp>
      <p:sp>
        <p:nvSpPr>
          <p:cNvPr id="6" name="Rectangle 5"/>
          <p:cNvSpPr/>
          <p:nvPr/>
        </p:nvSpPr>
        <p:spPr>
          <a:xfrm>
            <a:off x="566928" y="1188720"/>
            <a:ext cx="11064240" cy="347472"/>
          </a:xfrm>
          <a:prstGeom prst="rect">
            <a:avLst/>
          </a:prstGeom>
          <a:solidFill>
            <a:srgbClr val="F4F7FB"/>
          </a:solidFill>
          <a:ln>
            <a:solidFill>
              <a:srgbClr val="F4F7F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l">
              <a:spcAft>
                <a:spcPts val="0"/>
              </a:spcAft>
              <a:defRPr sz="1300" b="1">
                <a:solidFill>
                  <a:srgbClr val="122C4E"/>
                </a:solidFill>
                <a:latin typeface="Noto Sans CJK KR"/>
              </a:defRPr>
            </a:pPr>
            <a:r>
              <a:t>현재 단계 8/27    |    현재 폴더 ~/agv_ws    |    현재 터미널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58368" y="1627632"/>
            <a:ext cx="10972800" cy="256032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500" b="1">
                <a:solidFill>
                  <a:srgbClr val="122C4E"/>
                </a:solidFill>
                <a:latin typeface="Noto Sans CJK KR"/>
              </a:defRPr>
            </a:pPr>
            <a:r>
              <a:t>이번 단계: 파일의 전체 내용을 중간 생략 없이 작성합니다. 아래 줄 범위를 끝까지 입력하세요.</a:t>
            </a:r>
          </a:p>
        </p:txBody>
      </p:sp>
      <p:sp>
        <p:nvSpPr>
          <p:cNvPr id="8" name="Rectangle 7"/>
          <p:cNvSpPr/>
          <p:nvPr/>
        </p:nvSpPr>
        <p:spPr>
          <a:xfrm>
            <a:off x="658368" y="1956816"/>
            <a:ext cx="10972800" cy="603504"/>
          </a:xfrm>
          <a:prstGeom prst="rect">
            <a:avLst/>
          </a:prstGeom>
          <a:solidFill>
            <a:srgbClr val="F4F7FB"/>
          </a:solidFill>
          <a:ln>
            <a:solidFill>
              <a:srgbClr val="F4F7F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l">
              <a:spcAft>
                <a:spcPts val="0"/>
              </a:spcAft>
              <a:defRPr sz="1400" b="0">
                <a:solidFill>
                  <a:srgbClr val="122C4E"/>
                </a:solidFill>
                <a:latin typeface="DejaVu Sans Mono"/>
              </a:defRPr>
            </a:pPr>
            <a:r>
              <a:t>파일 생성: mkdir -p ~/agv_ws/src/agv_gazebo/models/agv</a:t>
            </a:r>
            <a:br/>
            <a:r>
              <a:t>파일 열기: nano ~/agv_ws/src/agv_gazebo/models/agv/model.sdf</a:t>
            </a:r>
          </a:p>
        </p:txBody>
      </p:sp>
      <p:sp>
        <p:nvSpPr>
          <p:cNvPr id="9" name="Rectangle 8"/>
          <p:cNvSpPr/>
          <p:nvPr/>
        </p:nvSpPr>
        <p:spPr>
          <a:xfrm>
            <a:off x="658368" y="2706624"/>
            <a:ext cx="10972800" cy="3364992"/>
          </a:xfrm>
          <a:prstGeom prst="rect">
            <a:avLst/>
          </a:prstGeom>
          <a:solidFill>
            <a:srgbClr val="1D232D"/>
          </a:solidFill>
          <a:ln>
            <a:solidFill>
              <a:srgbClr val="1D232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64592" rIns="164592" tIns="109728" bIns="36576"/>
          <a:lstStyle/>
          <a:p>
            <a:pPr algn="l">
              <a:spcAft>
                <a:spcPts val="0"/>
              </a:spcAft>
              <a:defRPr sz="1400" b="0">
                <a:solidFill>
                  <a:srgbClr val="FFFFFF"/>
                </a:solidFill>
                <a:latin typeface="DejaVu Sans Mono"/>
              </a:defRPr>
            </a:pPr>
            <a:r>
              <a:t>    </a:t>
            </a:r>
            <a:br/>
            <a:r>
              <a:t>    &lt;/link&gt;</a:t>
            </a:r>
            <a:br/>
            <a:r>
              <a:t>    </a:t>
            </a:r>
            <a:br/>
            <a:r>
              <a:t>    </a:t>
            </a:r>
            <a:br/>
            <a:r>
              <a:t>    &lt;link name="left_wheel_link"&gt;</a:t>
            </a:r>
            <a:br/>
            <a:r>
              <a:t>      &lt;pose relative_to="base_link"&gt;0 0.19 -0.08 1.5708 0 0&lt;/pose&gt;</a:t>
            </a:r>
            <a:br/>
            <a:r>
              <a:t>      &lt;inertial&gt;</a:t>
            </a:r>
            <a:br/>
            <a:r>
              <a:t>        &lt;mass&gt;0.6&lt;/mass&gt;</a:t>
            </a:r>
            <a:br/>
            <a:r>
              <a:t>        &lt;inertia&gt;</a:t>
            </a:r>
            <a:br/>
            <a:r>
              <a:t>          &lt;ixx&gt;0.002&lt;/ixx&gt;</a:t>
            </a:r>
            <a:br/>
            <a:r>
              <a:t>          &lt;iyy&gt;0.002&lt;/iyy&gt;</a:t>
            </a:r>
            <a:br/>
            <a:r>
              <a:t>          &lt;izz&gt;0.001&lt;/izz&gt;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749808" y="6181344"/>
            <a:ext cx="1078992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000" b="0">
                <a:solidFill>
                  <a:srgbClr val="5C6672"/>
                </a:solidFill>
                <a:latin typeface="Noto Sans CJK KR"/>
              </a:defRPr>
            </a:pPr>
            <a:r>
              <a:t>파일 전체 6/24 · 이 슬라이드 다음에 같은 파일의 나머지 줄이 이어집니다.</a:t>
            </a:r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66928" y="347472"/>
            <a:ext cx="10881360" cy="438912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3200" b="1">
                <a:solidFill>
                  <a:srgbClr val="122C4E"/>
                </a:solidFill>
                <a:latin typeface="Noto Sans CJK KR"/>
              </a:defRPr>
            </a:pPr>
            <a:r>
              <a:t>파일을 계속 작성하고 저장한다 (7/24)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03504" y="859536"/>
            <a:ext cx="10698480" cy="29260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700" b="0">
                <a:solidFill>
                  <a:srgbClr val="5C6672"/>
                </a:solidFill>
                <a:latin typeface="Noto Sans CJK KR"/>
              </a:defRPr>
            </a:pPr>
            <a:r>
              <a:t>~/agv_ws/src/agv_gazebo/models/agv/model.sdf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30352" y="6510528"/>
            <a:ext cx="777240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000" b="0">
                <a:solidFill>
                  <a:srgbClr val="5C6672"/>
                </a:solidFill>
                <a:latin typeface="Noto Sans CJK KR"/>
              </a:defRPr>
            </a:pPr>
            <a:r>
              <a:t>ROS 2 Jazzy · Gazebo Harmonic · M09 · 따라 하기형 AGV 실습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144000" y="6510528"/>
            <a:ext cx="246888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r">
              <a:spcAft>
                <a:spcPts val="0"/>
              </a:spcAft>
              <a:defRPr sz="1000" b="0">
                <a:solidFill>
                  <a:srgbClr val="5C6672"/>
                </a:solidFill>
                <a:latin typeface="Noto Sans CJK KR"/>
              </a:defRPr>
            </a:pPr>
            <a:r>
              <a:t>명령·파일 경로는 슬라이드에서 복사 가능</a:t>
            </a:r>
          </a:p>
        </p:txBody>
      </p:sp>
      <p:sp>
        <p:nvSpPr>
          <p:cNvPr id="6" name="Rectangle 5"/>
          <p:cNvSpPr/>
          <p:nvPr/>
        </p:nvSpPr>
        <p:spPr>
          <a:xfrm>
            <a:off x="566928" y="1188720"/>
            <a:ext cx="11064240" cy="347472"/>
          </a:xfrm>
          <a:prstGeom prst="rect">
            <a:avLst/>
          </a:prstGeom>
          <a:solidFill>
            <a:srgbClr val="F4F7FB"/>
          </a:solidFill>
          <a:ln>
            <a:solidFill>
              <a:srgbClr val="F4F7F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l">
              <a:spcAft>
                <a:spcPts val="0"/>
              </a:spcAft>
              <a:defRPr sz="1300" b="1">
                <a:solidFill>
                  <a:srgbClr val="122C4E"/>
                </a:solidFill>
                <a:latin typeface="Noto Sans CJK KR"/>
              </a:defRPr>
            </a:pPr>
            <a:r>
              <a:t>현재 단계 9/27    |    현재 폴더 ~/agv_ws    |    현재 터미널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58368" y="1627632"/>
            <a:ext cx="10972800" cy="256032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500" b="1">
                <a:solidFill>
                  <a:srgbClr val="122C4E"/>
                </a:solidFill>
                <a:latin typeface="Noto Sans CJK KR"/>
              </a:defRPr>
            </a:pPr>
            <a:r>
              <a:t>이번 단계: 파일의 전체 내용을 중간 생략 없이 작성합니다. 아래 줄 범위를 끝까지 입력하세요.</a:t>
            </a:r>
          </a:p>
        </p:txBody>
      </p:sp>
      <p:sp>
        <p:nvSpPr>
          <p:cNvPr id="8" name="Rectangle 7"/>
          <p:cNvSpPr/>
          <p:nvPr/>
        </p:nvSpPr>
        <p:spPr>
          <a:xfrm>
            <a:off x="658368" y="1956816"/>
            <a:ext cx="10972800" cy="603504"/>
          </a:xfrm>
          <a:prstGeom prst="rect">
            <a:avLst/>
          </a:prstGeom>
          <a:solidFill>
            <a:srgbClr val="F4F7FB"/>
          </a:solidFill>
          <a:ln>
            <a:solidFill>
              <a:srgbClr val="F4F7F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l">
              <a:spcAft>
                <a:spcPts val="0"/>
              </a:spcAft>
              <a:defRPr sz="1400" b="0">
                <a:solidFill>
                  <a:srgbClr val="122C4E"/>
                </a:solidFill>
                <a:latin typeface="DejaVu Sans Mono"/>
              </a:defRPr>
            </a:pPr>
            <a:r>
              <a:t>파일 생성: mkdir -p ~/agv_ws/src/agv_gazebo/models/agv</a:t>
            </a:r>
            <a:br/>
            <a:r>
              <a:t>파일 열기: nano ~/agv_ws/src/agv_gazebo/models/agv/model.sdf</a:t>
            </a:r>
          </a:p>
        </p:txBody>
      </p:sp>
      <p:sp>
        <p:nvSpPr>
          <p:cNvPr id="9" name="Rectangle 8"/>
          <p:cNvSpPr/>
          <p:nvPr/>
        </p:nvSpPr>
        <p:spPr>
          <a:xfrm>
            <a:off x="658368" y="2706624"/>
            <a:ext cx="10972800" cy="3364992"/>
          </a:xfrm>
          <a:prstGeom prst="rect">
            <a:avLst/>
          </a:prstGeom>
          <a:solidFill>
            <a:srgbClr val="1D232D"/>
          </a:solidFill>
          <a:ln>
            <a:solidFill>
              <a:srgbClr val="1D232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64592" rIns="164592" tIns="109728" bIns="36576"/>
          <a:lstStyle/>
          <a:p>
            <a:pPr algn="l">
              <a:spcAft>
                <a:spcPts val="0"/>
              </a:spcAft>
              <a:defRPr sz="1400" b="0">
                <a:solidFill>
                  <a:srgbClr val="FFFFFF"/>
                </a:solidFill>
                <a:latin typeface="DejaVu Sans Mono"/>
              </a:defRPr>
            </a:pPr>
            <a:r>
              <a:t>        &lt;/inertia&gt;</a:t>
            </a:r>
            <a:br/>
            <a:r>
              <a:t>      &lt;/inertial&gt;</a:t>
            </a:r>
            <a:br/>
            <a:r>
              <a:t>      &lt;visual name="wheel"&gt;</a:t>
            </a:r>
            <a:br/>
            <a:r>
              <a:t>        &lt;geometry&gt;</a:t>
            </a:r>
            <a:br/>
            <a:r>
              <a:t>          &lt;cylinder&gt;</a:t>
            </a:r>
            <a:br/>
            <a:r>
              <a:t>            &lt;radius&gt;0.08&lt;/radius&gt;</a:t>
            </a:r>
            <a:br/>
            <a:r>
              <a:t>            &lt;length&gt;0.05&lt;/length&gt;</a:t>
            </a:r>
            <a:br/>
            <a:r>
              <a:t>          &lt;/cylinder&gt;</a:t>
            </a:r>
            <a:br/>
            <a:r>
              <a:t>        &lt;/geometry&gt;</a:t>
            </a:r>
            <a:br/>
            <a:r>
              <a:t>      &lt;/visual&gt;</a:t>
            </a:r>
            <a:br/>
            <a:r>
              <a:t>      &lt;collision name="wheel_collision"&gt;</a:t>
            </a:r>
            <a:br/>
            <a:r>
              <a:t>        &lt;geometry&gt;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749808" y="6181344"/>
            <a:ext cx="1078992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000" b="0">
                <a:solidFill>
                  <a:srgbClr val="5C6672"/>
                </a:solidFill>
                <a:latin typeface="Noto Sans CJK KR"/>
              </a:defRPr>
            </a:pPr>
            <a:r>
              <a:t>파일 전체 7/24 · 이 슬라이드 다음에 같은 파일의 나머지 줄이 이어집니다.</a:t>
            </a:r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66928" y="347472"/>
            <a:ext cx="10881360" cy="438912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3200" b="1">
                <a:solidFill>
                  <a:srgbClr val="122C4E"/>
                </a:solidFill>
                <a:latin typeface="Noto Sans CJK KR"/>
              </a:defRPr>
            </a:pPr>
            <a:r>
              <a:t>파일을 계속 작성하고 저장한다 (8/24)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03504" y="859536"/>
            <a:ext cx="10698480" cy="29260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700" b="0">
                <a:solidFill>
                  <a:srgbClr val="5C6672"/>
                </a:solidFill>
                <a:latin typeface="Noto Sans CJK KR"/>
              </a:defRPr>
            </a:pPr>
            <a:r>
              <a:t>~/agv_ws/src/agv_gazebo/models/agv/model.sdf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30352" y="6510528"/>
            <a:ext cx="777240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000" b="0">
                <a:solidFill>
                  <a:srgbClr val="5C6672"/>
                </a:solidFill>
                <a:latin typeface="Noto Sans CJK KR"/>
              </a:defRPr>
            </a:pPr>
            <a:r>
              <a:t>ROS 2 Jazzy · Gazebo Harmonic · M09 · 따라 하기형 AGV 실습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144000" y="6510528"/>
            <a:ext cx="246888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r">
              <a:spcAft>
                <a:spcPts val="0"/>
              </a:spcAft>
              <a:defRPr sz="1000" b="0">
                <a:solidFill>
                  <a:srgbClr val="5C6672"/>
                </a:solidFill>
                <a:latin typeface="Noto Sans CJK KR"/>
              </a:defRPr>
            </a:pPr>
            <a:r>
              <a:t>명령·파일 경로는 슬라이드에서 복사 가능</a:t>
            </a:r>
          </a:p>
        </p:txBody>
      </p:sp>
      <p:sp>
        <p:nvSpPr>
          <p:cNvPr id="6" name="Rectangle 5"/>
          <p:cNvSpPr/>
          <p:nvPr/>
        </p:nvSpPr>
        <p:spPr>
          <a:xfrm>
            <a:off x="566928" y="1188720"/>
            <a:ext cx="11064240" cy="347472"/>
          </a:xfrm>
          <a:prstGeom prst="rect">
            <a:avLst/>
          </a:prstGeom>
          <a:solidFill>
            <a:srgbClr val="F4F7FB"/>
          </a:solidFill>
          <a:ln>
            <a:solidFill>
              <a:srgbClr val="F4F7F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l">
              <a:spcAft>
                <a:spcPts val="0"/>
              </a:spcAft>
              <a:defRPr sz="1300" b="1">
                <a:solidFill>
                  <a:srgbClr val="122C4E"/>
                </a:solidFill>
                <a:latin typeface="Noto Sans CJK KR"/>
              </a:defRPr>
            </a:pPr>
            <a:r>
              <a:t>현재 단계 10/27    |    현재 폴더 ~/agv_ws    |    현재 터미널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58368" y="1627632"/>
            <a:ext cx="10972800" cy="256032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500" b="1">
                <a:solidFill>
                  <a:srgbClr val="122C4E"/>
                </a:solidFill>
                <a:latin typeface="Noto Sans CJK KR"/>
              </a:defRPr>
            </a:pPr>
            <a:r>
              <a:t>이번 단계: 파일의 전체 내용을 중간 생략 없이 작성합니다. 아래 줄 범위를 끝까지 입력하세요.</a:t>
            </a:r>
          </a:p>
        </p:txBody>
      </p:sp>
      <p:sp>
        <p:nvSpPr>
          <p:cNvPr id="8" name="Rectangle 7"/>
          <p:cNvSpPr/>
          <p:nvPr/>
        </p:nvSpPr>
        <p:spPr>
          <a:xfrm>
            <a:off x="658368" y="1956816"/>
            <a:ext cx="10972800" cy="603504"/>
          </a:xfrm>
          <a:prstGeom prst="rect">
            <a:avLst/>
          </a:prstGeom>
          <a:solidFill>
            <a:srgbClr val="F4F7FB"/>
          </a:solidFill>
          <a:ln>
            <a:solidFill>
              <a:srgbClr val="F4F7F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l">
              <a:spcAft>
                <a:spcPts val="0"/>
              </a:spcAft>
              <a:defRPr sz="1400" b="0">
                <a:solidFill>
                  <a:srgbClr val="122C4E"/>
                </a:solidFill>
                <a:latin typeface="DejaVu Sans Mono"/>
              </a:defRPr>
            </a:pPr>
            <a:r>
              <a:t>파일 생성: mkdir -p ~/agv_ws/src/agv_gazebo/models/agv</a:t>
            </a:r>
            <a:br/>
            <a:r>
              <a:t>파일 열기: nano ~/agv_ws/src/agv_gazebo/models/agv/model.sdf</a:t>
            </a:r>
          </a:p>
        </p:txBody>
      </p:sp>
      <p:sp>
        <p:nvSpPr>
          <p:cNvPr id="9" name="Rectangle 8"/>
          <p:cNvSpPr/>
          <p:nvPr/>
        </p:nvSpPr>
        <p:spPr>
          <a:xfrm>
            <a:off x="658368" y="2706624"/>
            <a:ext cx="10972800" cy="3364992"/>
          </a:xfrm>
          <a:prstGeom prst="rect">
            <a:avLst/>
          </a:prstGeom>
          <a:solidFill>
            <a:srgbClr val="1D232D"/>
          </a:solidFill>
          <a:ln>
            <a:solidFill>
              <a:srgbClr val="1D232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64592" rIns="164592" tIns="109728" bIns="36576"/>
          <a:lstStyle/>
          <a:p>
            <a:pPr algn="l">
              <a:spcAft>
                <a:spcPts val="0"/>
              </a:spcAft>
              <a:defRPr sz="1400" b="0">
                <a:solidFill>
                  <a:srgbClr val="FFFFFF"/>
                </a:solidFill>
                <a:latin typeface="DejaVu Sans Mono"/>
              </a:defRPr>
            </a:pPr>
            <a:r>
              <a:t>          &lt;cylinder&gt;</a:t>
            </a:r>
            <a:br/>
            <a:r>
              <a:t>            &lt;radius&gt;0.08&lt;/radius&gt;</a:t>
            </a:r>
            <a:br/>
            <a:r>
              <a:t>            &lt;length&gt;0.05&lt;/length&gt;</a:t>
            </a:r>
            <a:br/>
            <a:r>
              <a:t>          &lt;/cylinder&gt;</a:t>
            </a:r>
            <a:br/>
            <a:r>
              <a:t>        &lt;/geometry&gt;</a:t>
            </a:r>
            <a:br/>
            <a:r>
              <a:t>        &lt;surface&gt;</a:t>
            </a:r>
            <a:br/>
            <a:r>
              <a:t>          &lt;friction&gt;</a:t>
            </a:r>
            <a:br/>
            <a:r>
              <a:t>            &lt;ode&gt;</a:t>
            </a:r>
            <a:br/>
            <a:r>
              <a:t>              &lt;mu&gt;1.0&lt;/mu&gt;</a:t>
            </a:r>
            <a:br/>
            <a:r>
              <a:t>              &lt;mu2&gt;1.0&lt;/mu2&gt;</a:t>
            </a:r>
            <a:br/>
            <a:r>
              <a:t>            &lt;/ode&gt;</a:t>
            </a:r>
            <a:br/>
            <a:r>
              <a:t>          &lt;/friction&gt;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749808" y="6181344"/>
            <a:ext cx="1078992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000" b="0">
                <a:solidFill>
                  <a:srgbClr val="5C6672"/>
                </a:solidFill>
                <a:latin typeface="Noto Sans CJK KR"/>
              </a:defRPr>
            </a:pPr>
            <a:r>
              <a:t>파일 전체 8/24 · 이 슬라이드 다음에 같은 파일의 나머지 줄이 이어집니다.</a:t>
            </a:r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66928" y="347472"/>
            <a:ext cx="10881360" cy="438912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3200" b="1">
                <a:solidFill>
                  <a:srgbClr val="122C4E"/>
                </a:solidFill>
                <a:latin typeface="Noto Sans CJK KR"/>
              </a:defRPr>
            </a:pPr>
            <a:r>
              <a:t>파일을 계속 작성하고 저장한다 (9/24)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03504" y="859536"/>
            <a:ext cx="10698480" cy="29260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700" b="0">
                <a:solidFill>
                  <a:srgbClr val="5C6672"/>
                </a:solidFill>
                <a:latin typeface="Noto Sans CJK KR"/>
              </a:defRPr>
            </a:pPr>
            <a:r>
              <a:t>~/agv_ws/src/agv_gazebo/models/agv/model.sdf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30352" y="6510528"/>
            <a:ext cx="777240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000" b="0">
                <a:solidFill>
                  <a:srgbClr val="5C6672"/>
                </a:solidFill>
                <a:latin typeface="Noto Sans CJK KR"/>
              </a:defRPr>
            </a:pPr>
            <a:r>
              <a:t>ROS 2 Jazzy · Gazebo Harmonic · M09 · 따라 하기형 AGV 실습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144000" y="6510528"/>
            <a:ext cx="246888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r">
              <a:spcAft>
                <a:spcPts val="0"/>
              </a:spcAft>
              <a:defRPr sz="1000" b="0">
                <a:solidFill>
                  <a:srgbClr val="5C6672"/>
                </a:solidFill>
                <a:latin typeface="Noto Sans CJK KR"/>
              </a:defRPr>
            </a:pPr>
            <a:r>
              <a:t>명령·파일 경로는 슬라이드에서 복사 가능</a:t>
            </a:r>
          </a:p>
        </p:txBody>
      </p:sp>
      <p:sp>
        <p:nvSpPr>
          <p:cNvPr id="6" name="Rectangle 5"/>
          <p:cNvSpPr/>
          <p:nvPr/>
        </p:nvSpPr>
        <p:spPr>
          <a:xfrm>
            <a:off x="566928" y="1188720"/>
            <a:ext cx="11064240" cy="347472"/>
          </a:xfrm>
          <a:prstGeom prst="rect">
            <a:avLst/>
          </a:prstGeom>
          <a:solidFill>
            <a:srgbClr val="F4F7FB"/>
          </a:solidFill>
          <a:ln>
            <a:solidFill>
              <a:srgbClr val="F4F7F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l">
              <a:spcAft>
                <a:spcPts val="0"/>
              </a:spcAft>
              <a:defRPr sz="1300" b="1">
                <a:solidFill>
                  <a:srgbClr val="122C4E"/>
                </a:solidFill>
                <a:latin typeface="Noto Sans CJK KR"/>
              </a:defRPr>
            </a:pPr>
            <a:r>
              <a:t>현재 단계 11/27    |    현재 폴더 ~/agv_ws    |    현재 터미널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58368" y="1627632"/>
            <a:ext cx="10972800" cy="256032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500" b="1">
                <a:solidFill>
                  <a:srgbClr val="122C4E"/>
                </a:solidFill>
                <a:latin typeface="Noto Sans CJK KR"/>
              </a:defRPr>
            </a:pPr>
            <a:r>
              <a:t>이번 단계: 파일의 전체 내용을 중간 생략 없이 작성합니다. 아래 줄 범위를 끝까지 입력하세요.</a:t>
            </a:r>
          </a:p>
        </p:txBody>
      </p:sp>
      <p:sp>
        <p:nvSpPr>
          <p:cNvPr id="8" name="Rectangle 7"/>
          <p:cNvSpPr/>
          <p:nvPr/>
        </p:nvSpPr>
        <p:spPr>
          <a:xfrm>
            <a:off x="658368" y="1956816"/>
            <a:ext cx="10972800" cy="603504"/>
          </a:xfrm>
          <a:prstGeom prst="rect">
            <a:avLst/>
          </a:prstGeom>
          <a:solidFill>
            <a:srgbClr val="F4F7FB"/>
          </a:solidFill>
          <a:ln>
            <a:solidFill>
              <a:srgbClr val="F4F7F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l">
              <a:spcAft>
                <a:spcPts val="0"/>
              </a:spcAft>
              <a:defRPr sz="1400" b="0">
                <a:solidFill>
                  <a:srgbClr val="122C4E"/>
                </a:solidFill>
                <a:latin typeface="DejaVu Sans Mono"/>
              </a:defRPr>
            </a:pPr>
            <a:r>
              <a:t>파일 생성: mkdir -p ~/agv_ws/src/agv_gazebo/models/agv</a:t>
            </a:r>
            <a:br/>
            <a:r>
              <a:t>파일 열기: nano ~/agv_ws/src/agv_gazebo/models/agv/model.sdf</a:t>
            </a:r>
          </a:p>
        </p:txBody>
      </p:sp>
      <p:sp>
        <p:nvSpPr>
          <p:cNvPr id="9" name="Rectangle 8"/>
          <p:cNvSpPr/>
          <p:nvPr/>
        </p:nvSpPr>
        <p:spPr>
          <a:xfrm>
            <a:off x="658368" y="2706624"/>
            <a:ext cx="10972800" cy="3364992"/>
          </a:xfrm>
          <a:prstGeom prst="rect">
            <a:avLst/>
          </a:prstGeom>
          <a:solidFill>
            <a:srgbClr val="1D232D"/>
          </a:solidFill>
          <a:ln>
            <a:solidFill>
              <a:srgbClr val="1D232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64592" rIns="164592" tIns="109728" bIns="36576"/>
          <a:lstStyle/>
          <a:p>
            <a:pPr algn="l">
              <a:spcAft>
                <a:spcPts val="0"/>
              </a:spcAft>
              <a:defRPr sz="1400" b="0">
                <a:solidFill>
                  <a:srgbClr val="FFFFFF"/>
                </a:solidFill>
                <a:latin typeface="DejaVu Sans Mono"/>
              </a:defRPr>
            </a:pPr>
            <a:r>
              <a:t>        &lt;/surface&gt;</a:t>
            </a:r>
            <a:br/>
            <a:r>
              <a:t>      &lt;/collision&gt;</a:t>
            </a:r>
            <a:br/>
            <a:r>
              <a:t>    &lt;/link&gt;</a:t>
            </a:r>
            <a:br/>
            <a:r>
              <a:t>    </a:t>
            </a:r>
            <a:br/>
            <a:r>
              <a:t>    </a:t>
            </a:r>
            <a:br/>
            <a:r>
              <a:t>    &lt;link name="right_wheel_link"&gt;</a:t>
            </a:r>
            <a:br/>
            <a:r>
              <a:t>      &lt;pose relative_to="base_link"&gt;0 -0.19 -0.08 1.5708 0 0&lt;/pose&gt;</a:t>
            </a:r>
            <a:br/>
            <a:r>
              <a:t>      &lt;inertial&gt;</a:t>
            </a:r>
            <a:br/>
            <a:r>
              <a:t>        &lt;mass&gt;0.6&lt;/mass&gt;</a:t>
            </a:r>
            <a:br/>
            <a:r>
              <a:t>        &lt;inertia&gt;</a:t>
            </a:r>
            <a:br/>
            <a:r>
              <a:t>          &lt;ixx&gt;0.002&lt;/ixx&gt;</a:t>
            </a:r>
            <a:br/>
            <a:r>
              <a:t>          &lt;iyy&gt;0.002&lt;/iyy&gt;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749808" y="6181344"/>
            <a:ext cx="1078992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000" b="0">
                <a:solidFill>
                  <a:srgbClr val="5C6672"/>
                </a:solidFill>
                <a:latin typeface="Noto Sans CJK KR"/>
              </a:defRPr>
            </a:pPr>
            <a:r>
              <a:t>파일 전체 9/24 · 이 슬라이드 다음에 같은 파일의 나머지 줄이 이어집니다.</a:t>
            </a:r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66928" y="347472"/>
            <a:ext cx="10881360" cy="438912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3200" b="1">
                <a:solidFill>
                  <a:srgbClr val="122C4E"/>
                </a:solidFill>
                <a:latin typeface="Noto Sans CJK KR"/>
              </a:defRPr>
            </a:pPr>
            <a:r>
              <a:t>파일을 계속 작성하고 저장한다 (10/24)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03504" y="859536"/>
            <a:ext cx="10698480" cy="29260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700" b="0">
                <a:solidFill>
                  <a:srgbClr val="5C6672"/>
                </a:solidFill>
                <a:latin typeface="Noto Sans CJK KR"/>
              </a:defRPr>
            </a:pPr>
            <a:r>
              <a:t>~/agv_ws/src/agv_gazebo/models/agv/model.sdf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30352" y="6510528"/>
            <a:ext cx="777240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000" b="0">
                <a:solidFill>
                  <a:srgbClr val="5C6672"/>
                </a:solidFill>
                <a:latin typeface="Noto Sans CJK KR"/>
              </a:defRPr>
            </a:pPr>
            <a:r>
              <a:t>ROS 2 Jazzy · Gazebo Harmonic · M09 · 따라 하기형 AGV 실습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144000" y="6510528"/>
            <a:ext cx="246888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r">
              <a:spcAft>
                <a:spcPts val="0"/>
              </a:spcAft>
              <a:defRPr sz="1000" b="0">
                <a:solidFill>
                  <a:srgbClr val="5C6672"/>
                </a:solidFill>
                <a:latin typeface="Noto Sans CJK KR"/>
              </a:defRPr>
            </a:pPr>
            <a:r>
              <a:t>명령·파일 경로는 슬라이드에서 복사 가능</a:t>
            </a:r>
          </a:p>
        </p:txBody>
      </p:sp>
      <p:sp>
        <p:nvSpPr>
          <p:cNvPr id="6" name="Rectangle 5"/>
          <p:cNvSpPr/>
          <p:nvPr/>
        </p:nvSpPr>
        <p:spPr>
          <a:xfrm>
            <a:off x="566928" y="1188720"/>
            <a:ext cx="11064240" cy="347472"/>
          </a:xfrm>
          <a:prstGeom prst="rect">
            <a:avLst/>
          </a:prstGeom>
          <a:solidFill>
            <a:srgbClr val="F4F7FB"/>
          </a:solidFill>
          <a:ln>
            <a:solidFill>
              <a:srgbClr val="F4F7F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l">
              <a:spcAft>
                <a:spcPts val="0"/>
              </a:spcAft>
              <a:defRPr sz="1300" b="1">
                <a:solidFill>
                  <a:srgbClr val="122C4E"/>
                </a:solidFill>
                <a:latin typeface="Noto Sans CJK KR"/>
              </a:defRPr>
            </a:pPr>
            <a:r>
              <a:t>현재 단계 12/27    |    현재 폴더 ~/agv_ws    |    현재 터미널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58368" y="1627632"/>
            <a:ext cx="10972800" cy="256032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500" b="1">
                <a:solidFill>
                  <a:srgbClr val="122C4E"/>
                </a:solidFill>
                <a:latin typeface="Noto Sans CJK KR"/>
              </a:defRPr>
            </a:pPr>
            <a:r>
              <a:t>이번 단계: 파일의 전체 내용을 중간 생략 없이 작성합니다. 아래 줄 범위를 끝까지 입력하세요.</a:t>
            </a:r>
          </a:p>
        </p:txBody>
      </p:sp>
      <p:sp>
        <p:nvSpPr>
          <p:cNvPr id="8" name="Rectangle 7"/>
          <p:cNvSpPr/>
          <p:nvPr/>
        </p:nvSpPr>
        <p:spPr>
          <a:xfrm>
            <a:off x="658368" y="1956816"/>
            <a:ext cx="10972800" cy="603504"/>
          </a:xfrm>
          <a:prstGeom prst="rect">
            <a:avLst/>
          </a:prstGeom>
          <a:solidFill>
            <a:srgbClr val="F4F7FB"/>
          </a:solidFill>
          <a:ln>
            <a:solidFill>
              <a:srgbClr val="F4F7F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l">
              <a:spcAft>
                <a:spcPts val="0"/>
              </a:spcAft>
              <a:defRPr sz="1400" b="0">
                <a:solidFill>
                  <a:srgbClr val="122C4E"/>
                </a:solidFill>
                <a:latin typeface="DejaVu Sans Mono"/>
              </a:defRPr>
            </a:pPr>
            <a:r>
              <a:t>파일 생성: mkdir -p ~/agv_ws/src/agv_gazebo/models/agv</a:t>
            </a:r>
            <a:br/>
            <a:r>
              <a:t>파일 열기: nano ~/agv_ws/src/agv_gazebo/models/agv/model.sdf</a:t>
            </a:r>
          </a:p>
        </p:txBody>
      </p:sp>
      <p:sp>
        <p:nvSpPr>
          <p:cNvPr id="9" name="Rectangle 8"/>
          <p:cNvSpPr/>
          <p:nvPr/>
        </p:nvSpPr>
        <p:spPr>
          <a:xfrm>
            <a:off x="658368" y="2706624"/>
            <a:ext cx="10972800" cy="3364992"/>
          </a:xfrm>
          <a:prstGeom prst="rect">
            <a:avLst/>
          </a:prstGeom>
          <a:solidFill>
            <a:srgbClr val="1D232D"/>
          </a:solidFill>
          <a:ln>
            <a:solidFill>
              <a:srgbClr val="1D232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64592" rIns="164592" tIns="109728" bIns="36576"/>
          <a:lstStyle/>
          <a:p>
            <a:pPr algn="l">
              <a:spcAft>
                <a:spcPts val="0"/>
              </a:spcAft>
              <a:defRPr sz="1400" b="0">
                <a:solidFill>
                  <a:srgbClr val="FFFFFF"/>
                </a:solidFill>
                <a:latin typeface="DejaVu Sans Mono"/>
              </a:defRPr>
            </a:pPr>
            <a:r>
              <a:t>          &lt;izz&gt;0.001&lt;/izz&gt;</a:t>
            </a:r>
            <a:br/>
            <a:r>
              <a:t>        &lt;/inertia&gt;</a:t>
            </a:r>
            <a:br/>
            <a:r>
              <a:t>      &lt;/inertial&gt;</a:t>
            </a:r>
            <a:br/>
            <a:r>
              <a:t>      &lt;visual name="wheel"&gt;</a:t>
            </a:r>
            <a:br/>
            <a:r>
              <a:t>        &lt;geometry&gt;</a:t>
            </a:r>
            <a:br/>
            <a:r>
              <a:t>          &lt;cylinder&gt;</a:t>
            </a:r>
            <a:br/>
            <a:r>
              <a:t>            &lt;radius&gt;0.08&lt;/radius&gt;</a:t>
            </a:r>
            <a:br/>
            <a:r>
              <a:t>            &lt;length&gt;0.05&lt;/length&gt;</a:t>
            </a:r>
            <a:br/>
            <a:r>
              <a:t>          &lt;/cylinder&gt;</a:t>
            </a:r>
            <a:br/>
            <a:r>
              <a:t>        &lt;/geometry&gt;</a:t>
            </a:r>
            <a:br/>
            <a:r>
              <a:t>      &lt;/visual&gt;</a:t>
            </a:r>
            <a:br/>
            <a:r>
              <a:t>      &lt;collision name="wheel_collision"&gt;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749808" y="6181344"/>
            <a:ext cx="1078992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000" b="0">
                <a:solidFill>
                  <a:srgbClr val="5C6672"/>
                </a:solidFill>
                <a:latin typeface="Noto Sans CJK KR"/>
              </a:defRPr>
            </a:pPr>
            <a:r>
              <a:t>파일 전체 10/24 · 이 슬라이드 다음에 같은 파일의 나머지 줄이 이어집니다.</a:t>
            </a:r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66928" y="347472"/>
            <a:ext cx="10881360" cy="438912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3200" b="1">
                <a:solidFill>
                  <a:srgbClr val="122C4E"/>
                </a:solidFill>
                <a:latin typeface="Noto Sans CJK KR"/>
              </a:defRPr>
            </a:pPr>
            <a:r>
              <a:t>파일을 계속 작성하고 저장한다 (11/24)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03504" y="859536"/>
            <a:ext cx="10698480" cy="29260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700" b="0">
                <a:solidFill>
                  <a:srgbClr val="5C6672"/>
                </a:solidFill>
                <a:latin typeface="Noto Sans CJK KR"/>
              </a:defRPr>
            </a:pPr>
            <a:r>
              <a:t>~/agv_ws/src/agv_gazebo/models/agv/model.sdf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30352" y="6510528"/>
            <a:ext cx="777240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000" b="0">
                <a:solidFill>
                  <a:srgbClr val="5C6672"/>
                </a:solidFill>
                <a:latin typeface="Noto Sans CJK KR"/>
              </a:defRPr>
            </a:pPr>
            <a:r>
              <a:t>ROS 2 Jazzy · Gazebo Harmonic · M09 · 따라 하기형 AGV 실습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144000" y="6510528"/>
            <a:ext cx="246888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r">
              <a:spcAft>
                <a:spcPts val="0"/>
              </a:spcAft>
              <a:defRPr sz="1000" b="0">
                <a:solidFill>
                  <a:srgbClr val="5C6672"/>
                </a:solidFill>
                <a:latin typeface="Noto Sans CJK KR"/>
              </a:defRPr>
            </a:pPr>
            <a:r>
              <a:t>명령·파일 경로는 슬라이드에서 복사 가능</a:t>
            </a:r>
          </a:p>
        </p:txBody>
      </p:sp>
      <p:sp>
        <p:nvSpPr>
          <p:cNvPr id="6" name="Rectangle 5"/>
          <p:cNvSpPr/>
          <p:nvPr/>
        </p:nvSpPr>
        <p:spPr>
          <a:xfrm>
            <a:off x="566928" y="1188720"/>
            <a:ext cx="11064240" cy="347472"/>
          </a:xfrm>
          <a:prstGeom prst="rect">
            <a:avLst/>
          </a:prstGeom>
          <a:solidFill>
            <a:srgbClr val="F4F7FB"/>
          </a:solidFill>
          <a:ln>
            <a:solidFill>
              <a:srgbClr val="F4F7F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l">
              <a:spcAft>
                <a:spcPts val="0"/>
              </a:spcAft>
              <a:defRPr sz="1300" b="1">
                <a:solidFill>
                  <a:srgbClr val="122C4E"/>
                </a:solidFill>
                <a:latin typeface="Noto Sans CJK KR"/>
              </a:defRPr>
            </a:pPr>
            <a:r>
              <a:t>현재 단계 13/27    |    현재 폴더 ~/agv_ws    |    현재 터미널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58368" y="1627632"/>
            <a:ext cx="10972800" cy="256032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500" b="1">
                <a:solidFill>
                  <a:srgbClr val="122C4E"/>
                </a:solidFill>
                <a:latin typeface="Noto Sans CJK KR"/>
              </a:defRPr>
            </a:pPr>
            <a:r>
              <a:t>이번 단계: 파일의 전체 내용을 중간 생략 없이 작성합니다. 아래 줄 범위를 끝까지 입력하세요.</a:t>
            </a:r>
          </a:p>
        </p:txBody>
      </p:sp>
      <p:sp>
        <p:nvSpPr>
          <p:cNvPr id="8" name="Rectangle 7"/>
          <p:cNvSpPr/>
          <p:nvPr/>
        </p:nvSpPr>
        <p:spPr>
          <a:xfrm>
            <a:off x="658368" y="1956816"/>
            <a:ext cx="10972800" cy="603504"/>
          </a:xfrm>
          <a:prstGeom prst="rect">
            <a:avLst/>
          </a:prstGeom>
          <a:solidFill>
            <a:srgbClr val="F4F7FB"/>
          </a:solidFill>
          <a:ln>
            <a:solidFill>
              <a:srgbClr val="F4F7F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l">
              <a:spcAft>
                <a:spcPts val="0"/>
              </a:spcAft>
              <a:defRPr sz="1400" b="0">
                <a:solidFill>
                  <a:srgbClr val="122C4E"/>
                </a:solidFill>
                <a:latin typeface="DejaVu Sans Mono"/>
              </a:defRPr>
            </a:pPr>
            <a:r>
              <a:t>파일 생성: mkdir -p ~/agv_ws/src/agv_gazebo/models/agv</a:t>
            </a:r>
            <a:br/>
            <a:r>
              <a:t>파일 열기: nano ~/agv_ws/src/agv_gazebo/models/agv/model.sdf</a:t>
            </a:r>
          </a:p>
        </p:txBody>
      </p:sp>
      <p:sp>
        <p:nvSpPr>
          <p:cNvPr id="9" name="Rectangle 8"/>
          <p:cNvSpPr/>
          <p:nvPr/>
        </p:nvSpPr>
        <p:spPr>
          <a:xfrm>
            <a:off x="658368" y="2706624"/>
            <a:ext cx="10972800" cy="3364992"/>
          </a:xfrm>
          <a:prstGeom prst="rect">
            <a:avLst/>
          </a:prstGeom>
          <a:solidFill>
            <a:srgbClr val="1D232D"/>
          </a:solidFill>
          <a:ln>
            <a:solidFill>
              <a:srgbClr val="1D232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64592" rIns="164592" tIns="109728" bIns="36576"/>
          <a:lstStyle/>
          <a:p>
            <a:pPr algn="l">
              <a:spcAft>
                <a:spcPts val="0"/>
              </a:spcAft>
              <a:defRPr sz="1400" b="0">
                <a:solidFill>
                  <a:srgbClr val="FFFFFF"/>
                </a:solidFill>
                <a:latin typeface="DejaVu Sans Mono"/>
              </a:defRPr>
            </a:pPr>
            <a:r>
              <a:t>        &lt;geometry&gt;</a:t>
            </a:r>
            <a:br/>
            <a:r>
              <a:t>          &lt;cylinder&gt;</a:t>
            </a:r>
            <a:br/>
            <a:r>
              <a:t>            &lt;radius&gt;0.08&lt;/radius&gt;</a:t>
            </a:r>
            <a:br/>
            <a:r>
              <a:t>            &lt;length&gt;0.05&lt;/length&gt;</a:t>
            </a:r>
            <a:br/>
            <a:r>
              <a:t>          &lt;/cylinder&gt;</a:t>
            </a:r>
            <a:br/>
            <a:r>
              <a:t>        &lt;/geometry&gt;</a:t>
            </a:r>
            <a:br/>
            <a:r>
              <a:t>        &lt;surface&gt;</a:t>
            </a:r>
            <a:br/>
            <a:r>
              <a:t>          &lt;friction&gt;</a:t>
            </a:r>
            <a:br/>
            <a:r>
              <a:t>            &lt;ode&gt;</a:t>
            </a:r>
            <a:br/>
            <a:r>
              <a:t>              &lt;mu&gt;1.0&lt;/mu&gt;</a:t>
            </a:r>
            <a:br/>
            <a:r>
              <a:t>              &lt;mu2&gt;1.0&lt;/mu2&gt;</a:t>
            </a:r>
            <a:br/>
            <a:r>
              <a:t>            &lt;/ode&gt;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749808" y="6181344"/>
            <a:ext cx="1078992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000" b="0">
                <a:solidFill>
                  <a:srgbClr val="5C6672"/>
                </a:solidFill>
                <a:latin typeface="Noto Sans CJK KR"/>
              </a:defRPr>
            </a:pPr>
            <a:r>
              <a:t>파일 전체 11/24 · 이 슬라이드 다음에 같은 파일의 나머지 줄이 이어집니다.</a:t>
            </a:r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66928" y="347472"/>
            <a:ext cx="10881360" cy="438912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3200" b="1">
                <a:solidFill>
                  <a:srgbClr val="122C4E"/>
                </a:solidFill>
                <a:latin typeface="Noto Sans CJK KR"/>
              </a:defRPr>
            </a:pPr>
            <a:r>
              <a:t>파일을 계속 작성하고 저장한다 (12/24)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03504" y="859536"/>
            <a:ext cx="10698480" cy="29260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700" b="0">
                <a:solidFill>
                  <a:srgbClr val="5C6672"/>
                </a:solidFill>
                <a:latin typeface="Noto Sans CJK KR"/>
              </a:defRPr>
            </a:pPr>
            <a:r>
              <a:t>~/agv_ws/src/agv_gazebo/models/agv/model.sdf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30352" y="6510528"/>
            <a:ext cx="777240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000" b="0">
                <a:solidFill>
                  <a:srgbClr val="5C6672"/>
                </a:solidFill>
                <a:latin typeface="Noto Sans CJK KR"/>
              </a:defRPr>
            </a:pPr>
            <a:r>
              <a:t>ROS 2 Jazzy · Gazebo Harmonic · M09 · 따라 하기형 AGV 실습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144000" y="6510528"/>
            <a:ext cx="246888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r">
              <a:spcAft>
                <a:spcPts val="0"/>
              </a:spcAft>
              <a:defRPr sz="1000" b="0">
                <a:solidFill>
                  <a:srgbClr val="5C6672"/>
                </a:solidFill>
                <a:latin typeface="Noto Sans CJK KR"/>
              </a:defRPr>
            </a:pPr>
            <a:r>
              <a:t>명령·파일 경로는 슬라이드에서 복사 가능</a:t>
            </a:r>
          </a:p>
        </p:txBody>
      </p:sp>
      <p:sp>
        <p:nvSpPr>
          <p:cNvPr id="6" name="Rectangle 5"/>
          <p:cNvSpPr/>
          <p:nvPr/>
        </p:nvSpPr>
        <p:spPr>
          <a:xfrm>
            <a:off x="566928" y="1188720"/>
            <a:ext cx="11064240" cy="347472"/>
          </a:xfrm>
          <a:prstGeom prst="rect">
            <a:avLst/>
          </a:prstGeom>
          <a:solidFill>
            <a:srgbClr val="F4F7FB"/>
          </a:solidFill>
          <a:ln>
            <a:solidFill>
              <a:srgbClr val="F4F7F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l">
              <a:spcAft>
                <a:spcPts val="0"/>
              </a:spcAft>
              <a:defRPr sz="1300" b="1">
                <a:solidFill>
                  <a:srgbClr val="122C4E"/>
                </a:solidFill>
                <a:latin typeface="Noto Sans CJK KR"/>
              </a:defRPr>
            </a:pPr>
            <a:r>
              <a:t>현재 단계 14/27    |    현재 폴더 ~/agv_ws    |    현재 터미널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58368" y="1627632"/>
            <a:ext cx="10972800" cy="256032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500" b="1">
                <a:solidFill>
                  <a:srgbClr val="122C4E"/>
                </a:solidFill>
                <a:latin typeface="Noto Sans CJK KR"/>
              </a:defRPr>
            </a:pPr>
            <a:r>
              <a:t>이번 단계: 파일의 전체 내용을 중간 생략 없이 작성합니다. 아래 줄 범위를 끝까지 입력하세요.</a:t>
            </a:r>
          </a:p>
        </p:txBody>
      </p:sp>
      <p:sp>
        <p:nvSpPr>
          <p:cNvPr id="8" name="Rectangle 7"/>
          <p:cNvSpPr/>
          <p:nvPr/>
        </p:nvSpPr>
        <p:spPr>
          <a:xfrm>
            <a:off x="658368" y="1956816"/>
            <a:ext cx="10972800" cy="603504"/>
          </a:xfrm>
          <a:prstGeom prst="rect">
            <a:avLst/>
          </a:prstGeom>
          <a:solidFill>
            <a:srgbClr val="F4F7FB"/>
          </a:solidFill>
          <a:ln>
            <a:solidFill>
              <a:srgbClr val="F4F7F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l">
              <a:spcAft>
                <a:spcPts val="0"/>
              </a:spcAft>
              <a:defRPr sz="1400" b="0">
                <a:solidFill>
                  <a:srgbClr val="122C4E"/>
                </a:solidFill>
                <a:latin typeface="DejaVu Sans Mono"/>
              </a:defRPr>
            </a:pPr>
            <a:r>
              <a:t>파일 생성: mkdir -p ~/agv_ws/src/agv_gazebo/models/agv</a:t>
            </a:r>
            <a:br/>
            <a:r>
              <a:t>파일 열기: nano ~/agv_ws/src/agv_gazebo/models/agv/model.sdf</a:t>
            </a:r>
          </a:p>
        </p:txBody>
      </p:sp>
      <p:sp>
        <p:nvSpPr>
          <p:cNvPr id="9" name="Rectangle 8"/>
          <p:cNvSpPr/>
          <p:nvPr/>
        </p:nvSpPr>
        <p:spPr>
          <a:xfrm>
            <a:off x="658368" y="2706624"/>
            <a:ext cx="10972800" cy="3364992"/>
          </a:xfrm>
          <a:prstGeom prst="rect">
            <a:avLst/>
          </a:prstGeom>
          <a:solidFill>
            <a:srgbClr val="1D232D"/>
          </a:solidFill>
          <a:ln>
            <a:solidFill>
              <a:srgbClr val="1D232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64592" rIns="164592" tIns="109728" bIns="36576"/>
          <a:lstStyle/>
          <a:p>
            <a:pPr algn="l">
              <a:spcAft>
                <a:spcPts val="0"/>
              </a:spcAft>
              <a:defRPr sz="1400" b="0">
                <a:solidFill>
                  <a:srgbClr val="FFFFFF"/>
                </a:solidFill>
                <a:latin typeface="DejaVu Sans Mono"/>
              </a:defRPr>
            </a:pPr>
            <a:r>
              <a:t>          &lt;/friction&gt;</a:t>
            </a:r>
            <a:br/>
            <a:r>
              <a:t>        &lt;/surface&gt;</a:t>
            </a:r>
            <a:br/>
            <a:r>
              <a:t>      &lt;/collision&gt;</a:t>
            </a:r>
            <a:br/>
            <a:r>
              <a:t>    &lt;/link&gt;</a:t>
            </a:r>
            <a:br/>
            <a:r>
              <a:t>    </a:t>
            </a:r>
            <a:br/>
            <a:r>
              <a:t>    </a:t>
            </a:r>
            <a:br/>
            <a:r>
              <a:t>    &lt;joint name="left_wheel_joint" type="revolute"&gt;</a:t>
            </a:r>
            <a:br/>
            <a:r>
              <a:t>      &lt;parent&gt;base_link&lt;/parent&gt;</a:t>
            </a:r>
            <a:br/>
            <a:r>
              <a:t>      &lt;child&gt;left_wheel_link&lt;/child&gt;</a:t>
            </a:r>
            <a:br/>
            <a:r>
              <a:t>      &lt;axis&gt;</a:t>
            </a:r>
            <a:br/>
            <a:r>
              <a:t>        &lt;xyz&gt;0 1 0&lt;/xyz&gt;</a:t>
            </a:r>
            <a:br/>
            <a:r>
              <a:t>        &lt;limit&gt;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749808" y="6181344"/>
            <a:ext cx="1078992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000" b="0">
                <a:solidFill>
                  <a:srgbClr val="5C6672"/>
                </a:solidFill>
                <a:latin typeface="Noto Sans CJK KR"/>
              </a:defRPr>
            </a:pPr>
            <a:r>
              <a:t>파일 전체 12/24 · 이 슬라이드 다음에 같은 파일의 나머지 줄이 이어집니다.</a:t>
            </a:r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66928" y="347472"/>
            <a:ext cx="10881360" cy="438912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3200" b="1">
                <a:solidFill>
                  <a:srgbClr val="122C4E"/>
                </a:solidFill>
                <a:latin typeface="Noto Sans CJK KR"/>
              </a:defRPr>
            </a:pPr>
            <a:r>
              <a:t>파일을 계속 작성하고 저장한다 (13/24)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03504" y="859536"/>
            <a:ext cx="10698480" cy="29260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700" b="0">
                <a:solidFill>
                  <a:srgbClr val="5C6672"/>
                </a:solidFill>
                <a:latin typeface="Noto Sans CJK KR"/>
              </a:defRPr>
            </a:pPr>
            <a:r>
              <a:t>~/agv_ws/src/agv_gazebo/models/agv/model.sdf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30352" y="6510528"/>
            <a:ext cx="777240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000" b="0">
                <a:solidFill>
                  <a:srgbClr val="5C6672"/>
                </a:solidFill>
                <a:latin typeface="Noto Sans CJK KR"/>
              </a:defRPr>
            </a:pPr>
            <a:r>
              <a:t>ROS 2 Jazzy · Gazebo Harmonic · M09 · 따라 하기형 AGV 실습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144000" y="6510528"/>
            <a:ext cx="246888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r">
              <a:spcAft>
                <a:spcPts val="0"/>
              </a:spcAft>
              <a:defRPr sz="1000" b="0">
                <a:solidFill>
                  <a:srgbClr val="5C6672"/>
                </a:solidFill>
                <a:latin typeface="Noto Sans CJK KR"/>
              </a:defRPr>
            </a:pPr>
            <a:r>
              <a:t>명령·파일 경로는 슬라이드에서 복사 가능</a:t>
            </a:r>
          </a:p>
        </p:txBody>
      </p:sp>
      <p:sp>
        <p:nvSpPr>
          <p:cNvPr id="6" name="Rectangle 5"/>
          <p:cNvSpPr/>
          <p:nvPr/>
        </p:nvSpPr>
        <p:spPr>
          <a:xfrm>
            <a:off x="566928" y="1188720"/>
            <a:ext cx="11064240" cy="347472"/>
          </a:xfrm>
          <a:prstGeom prst="rect">
            <a:avLst/>
          </a:prstGeom>
          <a:solidFill>
            <a:srgbClr val="F4F7FB"/>
          </a:solidFill>
          <a:ln>
            <a:solidFill>
              <a:srgbClr val="F4F7F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l">
              <a:spcAft>
                <a:spcPts val="0"/>
              </a:spcAft>
              <a:defRPr sz="1300" b="1">
                <a:solidFill>
                  <a:srgbClr val="122C4E"/>
                </a:solidFill>
                <a:latin typeface="Noto Sans CJK KR"/>
              </a:defRPr>
            </a:pPr>
            <a:r>
              <a:t>현재 단계 15/27    |    현재 폴더 ~/agv_ws    |    현재 터미널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58368" y="1627632"/>
            <a:ext cx="10972800" cy="256032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500" b="1">
                <a:solidFill>
                  <a:srgbClr val="122C4E"/>
                </a:solidFill>
                <a:latin typeface="Noto Sans CJK KR"/>
              </a:defRPr>
            </a:pPr>
            <a:r>
              <a:t>이번 단계: 파일의 전체 내용을 중간 생략 없이 작성합니다. 아래 줄 범위를 끝까지 입력하세요.</a:t>
            </a:r>
          </a:p>
        </p:txBody>
      </p:sp>
      <p:sp>
        <p:nvSpPr>
          <p:cNvPr id="8" name="Rectangle 7"/>
          <p:cNvSpPr/>
          <p:nvPr/>
        </p:nvSpPr>
        <p:spPr>
          <a:xfrm>
            <a:off x="658368" y="1956816"/>
            <a:ext cx="10972800" cy="603504"/>
          </a:xfrm>
          <a:prstGeom prst="rect">
            <a:avLst/>
          </a:prstGeom>
          <a:solidFill>
            <a:srgbClr val="F4F7FB"/>
          </a:solidFill>
          <a:ln>
            <a:solidFill>
              <a:srgbClr val="F4F7F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l">
              <a:spcAft>
                <a:spcPts val="0"/>
              </a:spcAft>
              <a:defRPr sz="1400" b="0">
                <a:solidFill>
                  <a:srgbClr val="122C4E"/>
                </a:solidFill>
                <a:latin typeface="DejaVu Sans Mono"/>
              </a:defRPr>
            </a:pPr>
            <a:r>
              <a:t>파일 생성: mkdir -p ~/agv_ws/src/agv_gazebo/models/agv</a:t>
            </a:r>
            <a:br/>
            <a:r>
              <a:t>파일 열기: nano ~/agv_ws/src/agv_gazebo/models/agv/model.sdf</a:t>
            </a:r>
          </a:p>
        </p:txBody>
      </p:sp>
      <p:sp>
        <p:nvSpPr>
          <p:cNvPr id="9" name="Rectangle 8"/>
          <p:cNvSpPr/>
          <p:nvPr/>
        </p:nvSpPr>
        <p:spPr>
          <a:xfrm>
            <a:off x="658368" y="2706624"/>
            <a:ext cx="10972800" cy="3364992"/>
          </a:xfrm>
          <a:prstGeom prst="rect">
            <a:avLst/>
          </a:prstGeom>
          <a:solidFill>
            <a:srgbClr val="1D232D"/>
          </a:solidFill>
          <a:ln>
            <a:solidFill>
              <a:srgbClr val="1D232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64592" rIns="164592" tIns="109728" bIns="36576"/>
          <a:lstStyle/>
          <a:p>
            <a:pPr algn="l">
              <a:spcAft>
                <a:spcPts val="0"/>
              </a:spcAft>
              <a:defRPr sz="1400" b="0">
                <a:solidFill>
                  <a:srgbClr val="FFFFFF"/>
                </a:solidFill>
                <a:latin typeface="DejaVu Sans Mono"/>
              </a:defRPr>
            </a:pPr>
            <a:r>
              <a:t>          &lt;lower&gt;-1e16&lt;/lower&gt;</a:t>
            </a:r>
            <a:br/>
            <a:r>
              <a:t>          &lt;upper&gt;1e16&lt;/upper&gt;</a:t>
            </a:r>
            <a:br/>
            <a:r>
              <a:t>        &lt;/limit&gt;</a:t>
            </a:r>
            <a:br/>
            <a:r>
              <a:t>      &lt;/axis&gt;</a:t>
            </a:r>
            <a:br/>
            <a:r>
              <a:t>    &lt;/joint&gt;</a:t>
            </a:r>
            <a:br/>
            <a:r>
              <a:t>    </a:t>
            </a:r>
            <a:br/>
            <a:r>
              <a:t>    </a:t>
            </a:r>
            <a:br/>
            <a:r>
              <a:t>    &lt;joint name="right_wheel_joint" type="revolute"&gt;</a:t>
            </a:r>
            <a:br/>
            <a:r>
              <a:t>      &lt;parent&gt;base_link&lt;/parent&gt;</a:t>
            </a:r>
            <a:br/>
            <a:r>
              <a:t>      &lt;child&gt;right_wheel_link&lt;/child&gt;</a:t>
            </a:r>
            <a:br/>
            <a:r>
              <a:t>      &lt;axis&gt;</a:t>
            </a:r>
            <a:br/>
            <a:r>
              <a:t>        &lt;xyz&gt;0 1 0&lt;/xyz&gt;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749808" y="6181344"/>
            <a:ext cx="1078992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000" b="0">
                <a:solidFill>
                  <a:srgbClr val="5C6672"/>
                </a:solidFill>
                <a:latin typeface="Noto Sans CJK KR"/>
              </a:defRPr>
            </a:pPr>
            <a:r>
              <a:t>파일 전체 13/24 · 이 슬라이드 다음에 같은 파일의 나머지 줄이 이어집니다.</a:t>
            </a:r>
          </a:p>
        </p:txBody>
      </p:sp>
    </p:spTree>
  </p:cSld>
  <p:clrMapOvr>
    <a:masterClrMapping/>
  </p:clrMapOvr>
</p:sld>
</file>

<file path=ppt/slides/slide2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66928" y="347472"/>
            <a:ext cx="10881360" cy="438912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3200" b="1">
                <a:solidFill>
                  <a:srgbClr val="122C4E"/>
                </a:solidFill>
                <a:latin typeface="Noto Sans CJK KR"/>
              </a:defRPr>
            </a:pPr>
            <a:r>
              <a:t>파일을 계속 작성하고 저장한다 (14/24)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03504" y="859536"/>
            <a:ext cx="10698480" cy="29260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700" b="0">
                <a:solidFill>
                  <a:srgbClr val="5C6672"/>
                </a:solidFill>
                <a:latin typeface="Noto Sans CJK KR"/>
              </a:defRPr>
            </a:pPr>
            <a:r>
              <a:t>~/agv_ws/src/agv_gazebo/models/agv/model.sdf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30352" y="6510528"/>
            <a:ext cx="777240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000" b="0">
                <a:solidFill>
                  <a:srgbClr val="5C6672"/>
                </a:solidFill>
                <a:latin typeface="Noto Sans CJK KR"/>
              </a:defRPr>
            </a:pPr>
            <a:r>
              <a:t>ROS 2 Jazzy · Gazebo Harmonic · M09 · 따라 하기형 AGV 실습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144000" y="6510528"/>
            <a:ext cx="246888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r">
              <a:spcAft>
                <a:spcPts val="0"/>
              </a:spcAft>
              <a:defRPr sz="1000" b="0">
                <a:solidFill>
                  <a:srgbClr val="5C6672"/>
                </a:solidFill>
                <a:latin typeface="Noto Sans CJK KR"/>
              </a:defRPr>
            </a:pPr>
            <a:r>
              <a:t>명령·파일 경로는 슬라이드에서 복사 가능</a:t>
            </a:r>
          </a:p>
        </p:txBody>
      </p:sp>
      <p:sp>
        <p:nvSpPr>
          <p:cNvPr id="6" name="Rectangle 5"/>
          <p:cNvSpPr/>
          <p:nvPr/>
        </p:nvSpPr>
        <p:spPr>
          <a:xfrm>
            <a:off x="566928" y="1188720"/>
            <a:ext cx="11064240" cy="347472"/>
          </a:xfrm>
          <a:prstGeom prst="rect">
            <a:avLst/>
          </a:prstGeom>
          <a:solidFill>
            <a:srgbClr val="F4F7FB"/>
          </a:solidFill>
          <a:ln>
            <a:solidFill>
              <a:srgbClr val="F4F7F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l">
              <a:spcAft>
                <a:spcPts val="0"/>
              </a:spcAft>
              <a:defRPr sz="1300" b="1">
                <a:solidFill>
                  <a:srgbClr val="122C4E"/>
                </a:solidFill>
                <a:latin typeface="Noto Sans CJK KR"/>
              </a:defRPr>
            </a:pPr>
            <a:r>
              <a:t>현재 단계 16/27    |    현재 폴더 ~/agv_ws    |    현재 터미널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58368" y="1627632"/>
            <a:ext cx="10972800" cy="256032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500" b="1">
                <a:solidFill>
                  <a:srgbClr val="122C4E"/>
                </a:solidFill>
                <a:latin typeface="Noto Sans CJK KR"/>
              </a:defRPr>
            </a:pPr>
            <a:r>
              <a:t>이번 단계: 파일의 전체 내용을 중간 생략 없이 작성합니다. 아래 줄 범위를 끝까지 입력하세요.</a:t>
            </a:r>
          </a:p>
        </p:txBody>
      </p:sp>
      <p:sp>
        <p:nvSpPr>
          <p:cNvPr id="8" name="Rectangle 7"/>
          <p:cNvSpPr/>
          <p:nvPr/>
        </p:nvSpPr>
        <p:spPr>
          <a:xfrm>
            <a:off x="658368" y="1956816"/>
            <a:ext cx="10972800" cy="603504"/>
          </a:xfrm>
          <a:prstGeom prst="rect">
            <a:avLst/>
          </a:prstGeom>
          <a:solidFill>
            <a:srgbClr val="F4F7FB"/>
          </a:solidFill>
          <a:ln>
            <a:solidFill>
              <a:srgbClr val="F4F7F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l">
              <a:spcAft>
                <a:spcPts val="0"/>
              </a:spcAft>
              <a:defRPr sz="1400" b="0">
                <a:solidFill>
                  <a:srgbClr val="122C4E"/>
                </a:solidFill>
                <a:latin typeface="DejaVu Sans Mono"/>
              </a:defRPr>
            </a:pPr>
            <a:r>
              <a:t>파일 생성: mkdir -p ~/agv_ws/src/agv_gazebo/models/agv</a:t>
            </a:r>
            <a:br/>
            <a:r>
              <a:t>파일 열기: nano ~/agv_ws/src/agv_gazebo/models/agv/model.sdf</a:t>
            </a:r>
          </a:p>
        </p:txBody>
      </p:sp>
      <p:sp>
        <p:nvSpPr>
          <p:cNvPr id="9" name="Rectangle 8"/>
          <p:cNvSpPr/>
          <p:nvPr/>
        </p:nvSpPr>
        <p:spPr>
          <a:xfrm>
            <a:off x="658368" y="2706624"/>
            <a:ext cx="10972800" cy="3364992"/>
          </a:xfrm>
          <a:prstGeom prst="rect">
            <a:avLst/>
          </a:prstGeom>
          <a:solidFill>
            <a:srgbClr val="1D232D"/>
          </a:solidFill>
          <a:ln>
            <a:solidFill>
              <a:srgbClr val="1D232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64592" rIns="164592" tIns="109728" bIns="36576"/>
          <a:lstStyle/>
          <a:p>
            <a:pPr algn="l">
              <a:spcAft>
                <a:spcPts val="0"/>
              </a:spcAft>
              <a:defRPr sz="1400" b="0">
                <a:solidFill>
                  <a:srgbClr val="FFFFFF"/>
                </a:solidFill>
                <a:latin typeface="DejaVu Sans Mono"/>
              </a:defRPr>
            </a:pPr>
            <a:r>
              <a:t>        &lt;limit&gt;</a:t>
            </a:r>
            <a:br/>
            <a:r>
              <a:t>          &lt;lower&gt;-1e16&lt;/lower&gt;</a:t>
            </a:r>
            <a:br/>
            <a:r>
              <a:t>          &lt;upper&gt;1e16&lt;/upper&gt;</a:t>
            </a:r>
            <a:br/>
            <a:r>
              <a:t>        &lt;/limit&gt;</a:t>
            </a:r>
            <a:br/>
            <a:r>
              <a:t>      &lt;/axis&gt;</a:t>
            </a:r>
            <a:br/>
            <a:r>
              <a:t>    &lt;/joint&gt;</a:t>
            </a:r>
            <a:br/>
            <a:r>
              <a:t>    </a:t>
            </a:r>
            <a:br/>
            <a:r>
              <a:t>    </a:t>
            </a:r>
            <a:br/>
            <a:r>
              <a:t>    &lt;link name="caster_link"&gt;</a:t>
            </a:r>
            <a:br/>
            <a:r>
              <a:t>      &lt;pose relative_to="base_link"&gt;-0.24 0 -0.12 0 0 0&lt;/pose&gt;</a:t>
            </a:r>
            <a:br/>
            <a:r>
              <a:t>      &lt;inertial&gt;</a:t>
            </a:r>
            <a:br/>
            <a:r>
              <a:t>        &lt;mass&gt;0.15&lt;/mass&gt;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749808" y="6181344"/>
            <a:ext cx="1078992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000" b="0">
                <a:solidFill>
                  <a:srgbClr val="5C6672"/>
                </a:solidFill>
                <a:latin typeface="Noto Sans CJK KR"/>
              </a:defRPr>
            </a:pPr>
            <a:r>
              <a:t>파일 전체 14/24 · 이 슬라이드 다음에 같은 파일의 나머지 줄이 이어집니다.</a:t>
            </a:r>
          </a:p>
        </p:txBody>
      </p:sp>
    </p:spTree>
  </p:cSld>
  <p:clrMapOvr>
    <a:masterClrMapping/>
  </p:clrMapOvr>
</p:sld>
</file>

<file path=ppt/slides/slide2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66928" y="347472"/>
            <a:ext cx="10881360" cy="438912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3200" b="1">
                <a:solidFill>
                  <a:srgbClr val="122C4E"/>
                </a:solidFill>
                <a:latin typeface="Noto Sans CJK KR"/>
              </a:defRPr>
            </a:pPr>
            <a:r>
              <a:t>파일을 계속 작성하고 저장한다 (15/24)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03504" y="859536"/>
            <a:ext cx="10698480" cy="29260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700" b="0">
                <a:solidFill>
                  <a:srgbClr val="5C6672"/>
                </a:solidFill>
                <a:latin typeface="Noto Sans CJK KR"/>
              </a:defRPr>
            </a:pPr>
            <a:r>
              <a:t>~/agv_ws/src/agv_gazebo/models/agv/model.sdf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30352" y="6510528"/>
            <a:ext cx="777240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000" b="0">
                <a:solidFill>
                  <a:srgbClr val="5C6672"/>
                </a:solidFill>
                <a:latin typeface="Noto Sans CJK KR"/>
              </a:defRPr>
            </a:pPr>
            <a:r>
              <a:t>ROS 2 Jazzy · Gazebo Harmonic · M09 · 따라 하기형 AGV 실습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144000" y="6510528"/>
            <a:ext cx="246888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r">
              <a:spcAft>
                <a:spcPts val="0"/>
              </a:spcAft>
              <a:defRPr sz="1000" b="0">
                <a:solidFill>
                  <a:srgbClr val="5C6672"/>
                </a:solidFill>
                <a:latin typeface="Noto Sans CJK KR"/>
              </a:defRPr>
            </a:pPr>
            <a:r>
              <a:t>명령·파일 경로는 슬라이드에서 복사 가능</a:t>
            </a:r>
          </a:p>
        </p:txBody>
      </p:sp>
      <p:sp>
        <p:nvSpPr>
          <p:cNvPr id="6" name="Rectangle 5"/>
          <p:cNvSpPr/>
          <p:nvPr/>
        </p:nvSpPr>
        <p:spPr>
          <a:xfrm>
            <a:off x="566928" y="1188720"/>
            <a:ext cx="11064240" cy="347472"/>
          </a:xfrm>
          <a:prstGeom prst="rect">
            <a:avLst/>
          </a:prstGeom>
          <a:solidFill>
            <a:srgbClr val="F4F7FB"/>
          </a:solidFill>
          <a:ln>
            <a:solidFill>
              <a:srgbClr val="F4F7F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l">
              <a:spcAft>
                <a:spcPts val="0"/>
              </a:spcAft>
              <a:defRPr sz="1300" b="1">
                <a:solidFill>
                  <a:srgbClr val="122C4E"/>
                </a:solidFill>
                <a:latin typeface="Noto Sans CJK KR"/>
              </a:defRPr>
            </a:pPr>
            <a:r>
              <a:t>현재 단계 17/27    |    현재 폴더 ~/agv_ws    |    현재 터미널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58368" y="1627632"/>
            <a:ext cx="10972800" cy="256032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500" b="1">
                <a:solidFill>
                  <a:srgbClr val="122C4E"/>
                </a:solidFill>
                <a:latin typeface="Noto Sans CJK KR"/>
              </a:defRPr>
            </a:pPr>
            <a:r>
              <a:t>이번 단계: 파일의 전체 내용을 중간 생략 없이 작성합니다. 아래 줄 범위를 끝까지 입력하세요.</a:t>
            </a:r>
          </a:p>
        </p:txBody>
      </p:sp>
      <p:sp>
        <p:nvSpPr>
          <p:cNvPr id="8" name="Rectangle 7"/>
          <p:cNvSpPr/>
          <p:nvPr/>
        </p:nvSpPr>
        <p:spPr>
          <a:xfrm>
            <a:off x="658368" y="1956816"/>
            <a:ext cx="10972800" cy="603504"/>
          </a:xfrm>
          <a:prstGeom prst="rect">
            <a:avLst/>
          </a:prstGeom>
          <a:solidFill>
            <a:srgbClr val="F4F7FB"/>
          </a:solidFill>
          <a:ln>
            <a:solidFill>
              <a:srgbClr val="F4F7F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l">
              <a:spcAft>
                <a:spcPts val="0"/>
              </a:spcAft>
              <a:defRPr sz="1400" b="0">
                <a:solidFill>
                  <a:srgbClr val="122C4E"/>
                </a:solidFill>
                <a:latin typeface="DejaVu Sans Mono"/>
              </a:defRPr>
            </a:pPr>
            <a:r>
              <a:t>파일 생성: mkdir -p ~/agv_ws/src/agv_gazebo/models/agv</a:t>
            </a:r>
            <a:br/>
            <a:r>
              <a:t>파일 열기: nano ~/agv_ws/src/agv_gazebo/models/agv/model.sdf</a:t>
            </a:r>
          </a:p>
        </p:txBody>
      </p:sp>
      <p:sp>
        <p:nvSpPr>
          <p:cNvPr id="9" name="Rectangle 8"/>
          <p:cNvSpPr/>
          <p:nvPr/>
        </p:nvSpPr>
        <p:spPr>
          <a:xfrm>
            <a:off x="658368" y="2706624"/>
            <a:ext cx="10972800" cy="3364992"/>
          </a:xfrm>
          <a:prstGeom prst="rect">
            <a:avLst/>
          </a:prstGeom>
          <a:solidFill>
            <a:srgbClr val="1D232D"/>
          </a:solidFill>
          <a:ln>
            <a:solidFill>
              <a:srgbClr val="1D232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64592" rIns="164592" tIns="109728" bIns="36576"/>
          <a:lstStyle/>
          <a:p>
            <a:pPr algn="l">
              <a:spcAft>
                <a:spcPts val="0"/>
              </a:spcAft>
              <a:defRPr sz="1400" b="0">
                <a:solidFill>
                  <a:srgbClr val="FFFFFF"/>
                </a:solidFill>
                <a:latin typeface="DejaVu Sans Mono"/>
              </a:defRPr>
            </a:pPr>
            <a:r>
              <a:t>        &lt;inertia&gt;</a:t>
            </a:r>
            <a:br/>
            <a:r>
              <a:t>          &lt;ixx&gt;0.0001&lt;/ixx&gt;</a:t>
            </a:r>
            <a:br/>
            <a:r>
              <a:t>          &lt;iyy&gt;0.0001&lt;/iyy&gt;</a:t>
            </a:r>
            <a:br/>
            <a:r>
              <a:t>          &lt;izz&gt;0.0001&lt;/izz&gt;</a:t>
            </a:r>
            <a:br/>
            <a:r>
              <a:t>        &lt;/inertia&gt;</a:t>
            </a:r>
            <a:br/>
            <a:r>
              <a:t>      &lt;/inertial&gt;</a:t>
            </a:r>
            <a:br/>
            <a:r>
              <a:t>      &lt;visual name="caster"&gt;</a:t>
            </a:r>
            <a:br/>
            <a:r>
              <a:t>        &lt;geometry&gt;</a:t>
            </a:r>
            <a:br/>
            <a:r>
              <a:t>          &lt;sphere&gt;</a:t>
            </a:r>
            <a:br/>
            <a:r>
              <a:t>            &lt;radius&gt;0.04&lt;/radius&gt;</a:t>
            </a:r>
            <a:br/>
            <a:r>
              <a:t>          &lt;/sphere&gt;</a:t>
            </a:r>
            <a:br/>
            <a:r>
              <a:t>        &lt;/geometry&gt;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749808" y="6181344"/>
            <a:ext cx="1078992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000" b="0">
                <a:solidFill>
                  <a:srgbClr val="5C6672"/>
                </a:solidFill>
                <a:latin typeface="Noto Sans CJK KR"/>
              </a:defRPr>
            </a:pPr>
            <a:r>
              <a:t>파일 전체 15/24 · 이 슬라이드 다음에 같은 파일의 나머지 줄이 이어집니다.</a:t>
            </a:r>
          </a:p>
        </p:txBody>
      </p:sp>
    </p:spTree>
  </p:cSld>
  <p:clrMapOvr>
    <a:masterClrMapping/>
  </p:clrMapOvr>
</p:sld>
</file>

<file path=ppt/slides/slide2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66928" y="347472"/>
            <a:ext cx="10881360" cy="438912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3200" b="1">
                <a:solidFill>
                  <a:srgbClr val="122C4E"/>
                </a:solidFill>
                <a:latin typeface="Noto Sans CJK KR"/>
              </a:defRPr>
            </a:pPr>
            <a:r>
              <a:t>파일을 계속 작성하고 저장한다 (16/24)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03504" y="859536"/>
            <a:ext cx="10698480" cy="29260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700" b="0">
                <a:solidFill>
                  <a:srgbClr val="5C6672"/>
                </a:solidFill>
                <a:latin typeface="Noto Sans CJK KR"/>
              </a:defRPr>
            </a:pPr>
            <a:r>
              <a:t>~/agv_ws/src/agv_gazebo/models/agv/model.sdf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30352" y="6510528"/>
            <a:ext cx="777240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000" b="0">
                <a:solidFill>
                  <a:srgbClr val="5C6672"/>
                </a:solidFill>
                <a:latin typeface="Noto Sans CJK KR"/>
              </a:defRPr>
            </a:pPr>
            <a:r>
              <a:t>ROS 2 Jazzy · Gazebo Harmonic · M09 · 따라 하기형 AGV 실습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144000" y="6510528"/>
            <a:ext cx="246888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r">
              <a:spcAft>
                <a:spcPts val="0"/>
              </a:spcAft>
              <a:defRPr sz="1000" b="0">
                <a:solidFill>
                  <a:srgbClr val="5C6672"/>
                </a:solidFill>
                <a:latin typeface="Noto Sans CJK KR"/>
              </a:defRPr>
            </a:pPr>
            <a:r>
              <a:t>명령·파일 경로는 슬라이드에서 복사 가능</a:t>
            </a:r>
          </a:p>
        </p:txBody>
      </p:sp>
      <p:sp>
        <p:nvSpPr>
          <p:cNvPr id="6" name="Rectangle 5"/>
          <p:cNvSpPr/>
          <p:nvPr/>
        </p:nvSpPr>
        <p:spPr>
          <a:xfrm>
            <a:off x="566928" y="1188720"/>
            <a:ext cx="11064240" cy="347472"/>
          </a:xfrm>
          <a:prstGeom prst="rect">
            <a:avLst/>
          </a:prstGeom>
          <a:solidFill>
            <a:srgbClr val="F4F7FB"/>
          </a:solidFill>
          <a:ln>
            <a:solidFill>
              <a:srgbClr val="F4F7F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l">
              <a:spcAft>
                <a:spcPts val="0"/>
              </a:spcAft>
              <a:defRPr sz="1300" b="1">
                <a:solidFill>
                  <a:srgbClr val="122C4E"/>
                </a:solidFill>
                <a:latin typeface="Noto Sans CJK KR"/>
              </a:defRPr>
            </a:pPr>
            <a:r>
              <a:t>현재 단계 18/27    |    현재 폴더 ~/agv_ws    |    현재 터미널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58368" y="1627632"/>
            <a:ext cx="10972800" cy="256032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500" b="1">
                <a:solidFill>
                  <a:srgbClr val="122C4E"/>
                </a:solidFill>
                <a:latin typeface="Noto Sans CJK KR"/>
              </a:defRPr>
            </a:pPr>
            <a:r>
              <a:t>이번 단계: 파일의 전체 내용을 중간 생략 없이 작성합니다. 아래 줄 범위를 끝까지 입력하세요.</a:t>
            </a:r>
          </a:p>
        </p:txBody>
      </p:sp>
      <p:sp>
        <p:nvSpPr>
          <p:cNvPr id="8" name="Rectangle 7"/>
          <p:cNvSpPr/>
          <p:nvPr/>
        </p:nvSpPr>
        <p:spPr>
          <a:xfrm>
            <a:off x="658368" y="1956816"/>
            <a:ext cx="10972800" cy="603504"/>
          </a:xfrm>
          <a:prstGeom prst="rect">
            <a:avLst/>
          </a:prstGeom>
          <a:solidFill>
            <a:srgbClr val="F4F7FB"/>
          </a:solidFill>
          <a:ln>
            <a:solidFill>
              <a:srgbClr val="F4F7F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l">
              <a:spcAft>
                <a:spcPts val="0"/>
              </a:spcAft>
              <a:defRPr sz="1400" b="0">
                <a:solidFill>
                  <a:srgbClr val="122C4E"/>
                </a:solidFill>
                <a:latin typeface="DejaVu Sans Mono"/>
              </a:defRPr>
            </a:pPr>
            <a:r>
              <a:t>파일 생성: mkdir -p ~/agv_ws/src/agv_gazebo/models/agv</a:t>
            </a:r>
            <a:br/>
            <a:r>
              <a:t>파일 열기: nano ~/agv_ws/src/agv_gazebo/models/agv/model.sdf</a:t>
            </a:r>
          </a:p>
        </p:txBody>
      </p:sp>
      <p:sp>
        <p:nvSpPr>
          <p:cNvPr id="9" name="Rectangle 8"/>
          <p:cNvSpPr/>
          <p:nvPr/>
        </p:nvSpPr>
        <p:spPr>
          <a:xfrm>
            <a:off x="658368" y="2706624"/>
            <a:ext cx="10972800" cy="3364992"/>
          </a:xfrm>
          <a:prstGeom prst="rect">
            <a:avLst/>
          </a:prstGeom>
          <a:solidFill>
            <a:srgbClr val="1D232D"/>
          </a:solidFill>
          <a:ln>
            <a:solidFill>
              <a:srgbClr val="1D232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64592" rIns="164592" tIns="109728" bIns="36576"/>
          <a:lstStyle/>
          <a:p>
            <a:pPr algn="l">
              <a:spcAft>
                <a:spcPts val="0"/>
              </a:spcAft>
              <a:defRPr sz="1400" b="0">
                <a:solidFill>
                  <a:srgbClr val="FFFFFF"/>
                </a:solidFill>
                <a:latin typeface="DejaVu Sans Mono"/>
              </a:defRPr>
            </a:pPr>
            <a:r>
              <a:t>      &lt;/visual&gt;</a:t>
            </a:r>
            <a:br/>
            <a:r>
              <a:t>      &lt;collision name="caster_collision"&gt;</a:t>
            </a:r>
            <a:br/>
            <a:r>
              <a:t>        &lt;geometry&gt;</a:t>
            </a:r>
            <a:br/>
            <a:r>
              <a:t>          &lt;sphere&gt;</a:t>
            </a:r>
            <a:br/>
            <a:r>
              <a:t>            &lt;radius&gt;0.04&lt;/radius&gt;</a:t>
            </a:r>
            <a:br/>
            <a:r>
              <a:t>          &lt;/sphere&gt;</a:t>
            </a:r>
            <a:br/>
            <a:r>
              <a:t>        &lt;/geometry&gt;</a:t>
            </a:r>
            <a:br/>
            <a:r>
              <a:t>      &lt;/collision&gt;</a:t>
            </a:r>
            <a:br/>
            <a:r>
              <a:t>    &lt;/link&gt;</a:t>
            </a:r>
            <a:br/>
            <a:r>
              <a:t>    </a:t>
            </a:r>
            <a:br/>
            <a:r>
              <a:t>    </a:t>
            </a:r>
            <a:br/>
            <a:r>
              <a:t>    &lt;joint name="caster_joint" type="fixed"&gt;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749808" y="6181344"/>
            <a:ext cx="1078992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000" b="0">
                <a:solidFill>
                  <a:srgbClr val="5C6672"/>
                </a:solidFill>
                <a:latin typeface="Noto Sans CJK KR"/>
              </a:defRPr>
            </a:pPr>
            <a:r>
              <a:t>파일 전체 16/24 · 이 슬라이드 다음에 같은 파일의 나머지 줄이 이어집니다.</a:t>
            </a:r>
          </a:p>
        </p:txBody>
      </p:sp>
    </p:spTree>
  </p:cSld>
  <p:clrMapOvr>
    <a:masterClrMapping/>
  </p:clrMapOvr>
</p:sld>
</file>

<file path=ppt/slides/slide2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66928" y="347472"/>
            <a:ext cx="10881360" cy="438912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3200" b="1">
                <a:solidFill>
                  <a:srgbClr val="122C4E"/>
                </a:solidFill>
                <a:latin typeface="Noto Sans CJK KR"/>
              </a:defRPr>
            </a:pPr>
            <a:r>
              <a:t>파일을 계속 작성하고 저장한다 (17/24)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03504" y="859536"/>
            <a:ext cx="10698480" cy="29260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700" b="0">
                <a:solidFill>
                  <a:srgbClr val="5C6672"/>
                </a:solidFill>
                <a:latin typeface="Noto Sans CJK KR"/>
              </a:defRPr>
            </a:pPr>
            <a:r>
              <a:t>~/agv_ws/src/agv_gazebo/models/agv/model.sdf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30352" y="6510528"/>
            <a:ext cx="777240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000" b="0">
                <a:solidFill>
                  <a:srgbClr val="5C6672"/>
                </a:solidFill>
                <a:latin typeface="Noto Sans CJK KR"/>
              </a:defRPr>
            </a:pPr>
            <a:r>
              <a:t>ROS 2 Jazzy · Gazebo Harmonic · M09 · 따라 하기형 AGV 실습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144000" y="6510528"/>
            <a:ext cx="246888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r">
              <a:spcAft>
                <a:spcPts val="0"/>
              </a:spcAft>
              <a:defRPr sz="1000" b="0">
                <a:solidFill>
                  <a:srgbClr val="5C6672"/>
                </a:solidFill>
                <a:latin typeface="Noto Sans CJK KR"/>
              </a:defRPr>
            </a:pPr>
            <a:r>
              <a:t>명령·파일 경로는 슬라이드에서 복사 가능</a:t>
            </a:r>
          </a:p>
        </p:txBody>
      </p:sp>
      <p:sp>
        <p:nvSpPr>
          <p:cNvPr id="6" name="Rectangle 5"/>
          <p:cNvSpPr/>
          <p:nvPr/>
        </p:nvSpPr>
        <p:spPr>
          <a:xfrm>
            <a:off x="566928" y="1188720"/>
            <a:ext cx="11064240" cy="347472"/>
          </a:xfrm>
          <a:prstGeom prst="rect">
            <a:avLst/>
          </a:prstGeom>
          <a:solidFill>
            <a:srgbClr val="F4F7FB"/>
          </a:solidFill>
          <a:ln>
            <a:solidFill>
              <a:srgbClr val="F4F7F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l">
              <a:spcAft>
                <a:spcPts val="0"/>
              </a:spcAft>
              <a:defRPr sz="1300" b="1">
                <a:solidFill>
                  <a:srgbClr val="122C4E"/>
                </a:solidFill>
                <a:latin typeface="Noto Sans CJK KR"/>
              </a:defRPr>
            </a:pPr>
            <a:r>
              <a:t>현재 단계 19/27    |    현재 폴더 ~/agv_ws    |    현재 터미널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58368" y="1627632"/>
            <a:ext cx="10972800" cy="256032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500" b="1">
                <a:solidFill>
                  <a:srgbClr val="122C4E"/>
                </a:solidFill>
                <a:latin typeface="Noto Sans CJK KR"/>
              </a:defRPr>
            </a:pPr>
            <a:r>
              <a:t>이번 단계: 파일의 전체 내용을 중간 생략 없이 작성합니다. 아래 줄 범위를 끝까지 입력하세요.</a:t>
            </a:r>
          </a:p>
        </p:txBody>
      </p:sp>
      <p:sp>
        <p:nvSpPr>
          <p:cNvPr id="8" name="Rectangle 7"/>
          <p:cNvSpPr/>
          <p:nvPr/>
        </p:nvSpPr>
        <p:spPr>
          <a:xfrm>
            <a:off x="658368" y="1956816"/>
            <a:ext cx="10972800" cy="603504"/>
          </a:xfrm>
          <a:prstGeom prst="rect">
            <a:avLst/>
          </a:prstGeom>
          <a:solidFill>
            <a:srgbClr val="F4F7FB"/>
          </a:solidFill>
          <a:ln>
            <a:solidFill>
              <a:srgbClr val="F4F7F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l">
              <a:spcAft>
                <a:spcPts val="0"/>
              </a:spcAft>
              <a:defRPr sz="1400" b="0">
                <a:solidFill>
                  <a:srgbClr val="122C4E"/>
                </a:solidFill>
                <a:latin typeface="DejaVu Sans Mono"/>
              </a:defRPr>
            </a:pPr>
            <a:r>
              <a:t>파일 생성: mkdir -p ~/agv_ws/src/agv_gazebo/models/agv</a:t>
            </a:r>
            <a:br/>
            <a:r>
              <a:t>파일 열기: nano ~/agv_ws/src/agv_gazebo/models/agv/model.sdf</a:t>
            </a:r>
          </a:p>
        </p:txBody>
      </p:sp>
      <p:sp>
        <p:nvSpPr>
          <p:cNvPr id="9" name="Rectangle 8"/>
          <p:cNvSpPr/>
          <p:nvPr/>
        </p:nvSpPr>
        <p:spPr>
          <a:xfrm>
            <a:off x="658368" y="2706624"/>
            <a:ext cx="10972800" cy="3364992"/>
          </a:xfrm>
          <a:prstGeom prst="rect">
            <a:avLst/>
          </a:prstGeom>
          <a:solidFill>
            <a:srgbClr val="1D232D"/>
          </a:solidFill>
          <a:ln>
            <a:solidFill>
              <a:srgbClr val="1D232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64592" rIns="164592" tIns="109728" bIns="36576"/>
          <a:lstStyle/>
          <a:p>
            <a:pPr algn="l">
              <a:spcAft>
                <a:spcPts val="0"/>
              </a:spcAft>
              <a:defRPr sz="1400" b="0">
                <a:solidFill>
                  <a:srgbClr val="FFFFFF"/>
                </a:solidFill>
                <a:latin typeface="DejaVu Sans Mono"/>
              </a:defRPr>
            </a:pPr>
            <a:r>
              <a:t>      &lt;parent&gt;base_link&lt;/parent&gt;</a:t>
            </a:r>
            <a:br/>
            <a:r>
              <a:t>      &lt;child&gt;caster_link&lt;/child&gt;</a:t>
            </a:r>
            <a:br/>
            <a:r>
              <a:t>    &lt;/joint&gt;</a:t>
            </a:r>
            <a:br/>
            <a:r>
              <a:t>    </a:t>
            </a:r>
            <a:br/>
            <a:r>
              <a:t>    </a:t>
            </a:r>
            <a:br/>
            <a:r>
              <a:t>    &lt;link name="lidar_link"&gt;</a:t>
            </a:r>
            <a:br/>
            <a:r>
              <a:t>      &lt;pose relative_to="base_link"&gt;0.12 0 0.13 0 0 0&lt;/pose&gt;</a:t>
            </a:r>
            <a:br/>
            <a:r>
              <a:t>      &lt;visual name="housing"&gt;</a:t>
            </a:r>
            <a:br/>
            <a:r>
              <a:t>        &lt;geometry&gt;</a:t>
            </a:r>
            <a:br/>
            <a:r>
              <a:t>          &lt;cylinder&gt;</a:t>
            </a:r>
            <a:br/>
            <a:r>
              <a:t>            &lt;radius&gt;0.045&lt;/radius&gt;</a:t>
            </a:r>
            <a:br/>
            <a:r>
              <a:t>            &lt;length&gt;0.05&lt;/length&gt;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749808" y="6181344"/>
            <a:ext cx="1078992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000" b="0">
                <a:solidFill>
                  <a:srgbClr val="5C6672"/>
                </a:solidFill>
                <a:latin typeface="Noto Sans CJK KR"/>
              </a:defRPr>
            </a:pPr>
            <a:r>
              <a:t>파일 전체 17/24 · 이 슬라이드 다음에 같은 파일의 나머지 줄이 이어집니다.</a:t>
            </a:r>
          </a:p>
        </p:txBody>
      </p:sp>
    </p:spTree>
  </p:cSld>
  <p:clrMapOvr>
    <a:masterClrMapping/>
  </p:clrMapOvr>
</p:sld>
</file>

<file path=ppt/slides/slide2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66928" y="347472"/>
            <a:ext cx="10881360" cy="438912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3200" b="1">
                <a:solidFill>
                  <a:srgbClr val="122C4E"/>
                </a:solidFill>
                <a:latin typeface="Noto Sans CJK KR"/>
              </a:defRPr>
            </a:pPr>
            <a:r>
              <a:t>파일을 계속 작성하고 저장한다 (18/24)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03504" y="859536"/>
            <a:ext cx="10698480" cy="29260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700" b="0">
                <a:solidFill>
                  <a:srgbClr val="5C6672"/>
                </a:solidFill>
                <a:latin typeface="Noto Sans CJK KR"/>
              </a:defRPr>
            </a:pPr>
            <a:r>
              <a:t>~/agv_ws/src/agv_gazebo/models/agv/model.sdf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30352" y="6510528"/>
            <a:ext cx="777240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000" b="0">
                <a:solidFill>
                  <a:srgbClr val="5C6672"/>
                </a:solidFill>
                <a:latin typeface="Noto Sans CJK KR"/>
              </a:defRPr>
            </a:pPr>
            <a:r>
              <a:t>ROS 2 Jazzy · Gazebo Harmonic · M09 · 따라 하기형 AGV 실습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144000" y="6510528"/>
            <a:ext cx="246888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r">
              <a:spcAft>
                <a:spcPts val="0"/>
              </a:spcAft>
              <a:defRPr sz="1000" b="0">
                <a:solidFill>
                  <a:srgbClr val="5C6672"/>
                </a:solidFill>
                <a:latin typeface="Noto Sans CJK KR"/>
              </a:defRPr>
            </a:pPr>
            <a:r>
              <a:t>명령·파일 경로는 슬라이드에서 복사 가능</a:t>
            </a:r>
          </a:p>
        </p:txBody>
      </p:sp>
      <p:sp>
        <p:nvSpPr>
          <p:cNvPr id="6" name="Rectangle 5"/>
          <p:cNvSpPr/>
          <p:nvPr/>
        </p:nvSpPr>
        <p:spPr>
          <a:xfrm>
            <a:off x="566928" y="1188720"/>
            <a:ext cx="11064240" cy="347472"/>
          </a:xfrm>
          <a:prstGeom prst="rect">
            <a:avLst/>
          </a:prstGeom>
          <a:solidFill>
            <a:srgbClr val="F4F7FB"/>
          </a:solidFill>
          <a:ln>
            <a:solidFill>
              <a:srgbClr val="F4F7F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l">
              <a:spcAft>
                <a:spcPts val="0"/>
              </a:spcAft>
              <a:defRPr sz="1300" b="1">
                <a:solidFill>
                  <a:srgbClr val="122C4E"/>
                </a:solidFill>
                <a:latin typeface="Noto Sans CJK KR"/>
              </a:defRPr>
            </a:pPr>
            <a:r>
              <a:t>현재 단계 20/27    |    현재 폴더 ~/agv_ws    |    현재 터미널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58368" y="1627632"/>
            <a:ext cx="10972800" cy="256032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500" b="1">
                <a:solidFill>
                  <a:srgbClr val="122C4E"/>
                </a:solidFill>
                <a:latin typeface="Noto Sans CJK KR"/>
              </a:defRPr>
            </a:pPr>
            <a:r>
              <a:t>이번 단계: 파일의 전체 내용을 중간 생략 없이 작성합니다. 아래 줄 범위를 끝까지 입력하세요.</a:t>
            </a:r>
          </a:p>
        </p:txBody>
      </p:sp>
      <p:sp>
        <p:nvSpPr>
          <p:cNvPr id="8" name="Rectangle 7"/>
          <p:cNvSpPr/>
          <p:nvPr/>
        </p:nvSpPr>
        <p:spPr>
          <a:xfrm>
            <a:off x="658368" y="1956816"/>
            <a:ext cx="10972800" cy="603504"/>
          </a:xfrm>
          <a:prstGeom prst="rect">
            <a:avLst/>
          </a:prstGeom>
          <a:solidFill>
            <a:srgbClr val="F4F7FB"/>
          </a:solidFill>
          <a:ln>
            <a:solidFill>
              <a:srgbClr val="F4F7F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l">
              <a:spcAft>
                <a:spcPts val="0"/>
              </a:spcAft>
              <a:defRPr sz="1400" b="0">
                <a:solidFill>
                  <a:srgbClr val="122C4E"/>
                </a:solidFill>
                <a:latin typeface="DejaVu Sans Mono"/>
              </a:defRPr>
            </a:pPr>
            <a:r>
              <a:t>파일 생성: mkdir -p ~/agv_ws/src/agv_gazebo/models/agv</a:t>
            </a:r>
            <a:br/>
            <a:r>
              <a:t>파일 열기: nano ~/agv_ws/src/agv_gazebo/models/agv/model.sdf</a:t>
            </a:r>
          </a:p>
        </p:txBody>
      </p:sp>
      <p:sp>
        <p:nvSpPr>
          <p:cNvPr id="9" name="Rectangle 8"/>
          <p:cNvSpPr/>
          <p:nvPr/>
        </p:nvSpPr>
        <p:spPr>
          <a:xfrm>
            <a:off x="658368" y="2706624"/>
            <a:ext cx="10972800" cy="3364992"/>
          </a:xfrm>
          <a:prstGeom prst="rect">
            <a:avLst/>
          </a:prstGeom>
          <a:solidFill>
            <a:srgbClr val="1D232D"/>
          </a:solidFill>
          <a:ln>
            <a:solidFill>
              <a:srgbClr val="1D232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64592" rIns="164592" tIns="109728" bIns="36576"/>
          <a:lstStyle/>
          <a:p>
            <a:pPr algn="l">
              <a:spcAft>
                <a:spcPts val="0"/>
              </a:spcAft>
              <a:defRPr sz="1400" b="0">
                <a:solidFill>
                  <a:srgbClr val="FFFFFF"/>
                </a:solidFill>
                <a:latin typeface="DejaVu Sans Mono"/>
              </a:defRPr>
            </a:pPr>
            <a:r>
              <a:t>          &lt;/cylinder&gt;</a:t>
            </a:r>
            <a:br/>
            <a:r>
              <a:t>        &lt;/geometry&gt;</a:t>
            </a:r>
            <a:br/>
            <a:r>
              <a:t>      &lt;/visual&gt;</a:t>
            </a:r>
            <a:br/>
            <a:r>
              <a:t>      &lt;sensor name="lidar" type="gpu_lidar"&gt;</a:t>
            </a:r>
            <a:br/>
            <a:r>
              <a:t>        &lt;topic&gt;/scan&lt;/topic&gt;</a:t>
            </a:r>
            <a:br/>
            <a:r>
              <a:t>        &lt;always_on&gt;true&lt;/always_on&gt;</a:t>
            </a:r>
            <a:br/>
            <a:r>
              <a:t>        &lt;update_rate&gt;10&lt;/update_rate&gt;</a:t>
            </a:r>
            <a:br/>
            <a:r>
              <a:t>        &lt;visualize&gt;false&lt;/visualize&gt;</a:t>
            </a:r>
            <a:br/>
            <a:r>
              <a:t>        &lt;lidar&gt;</a:t>
            </a:r>
            <a:br/>
            <a:r>
              <a:t>          &lt;scan&gt;</a:t>
            </a:r>
            <a:br/>
            <a:r>
              <a:t>            &lt;horizontal&gt;</a:t>
            </a:r>
            <a:br/>
            <a:r>
              <a:t>              &lt;samples&gt;720&lt;/samples&gt;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749808" y="6181344"/>
            <a:ext cx="1078992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000" b="0">
                <a:solidFill>
                  <a:srgbClr val="5C6672"/>
                </a:solidFill>
                <a:latin typeface="Noto Sans CJK KR"/>
              </a:defRPr>
            </a:pPr>
            <a:r>
              <a:t>파일 전체 18/24 · 이 슬라이드 다음에 같은 파일의 나머지 줄이 이어집니다.</a:t>
            </a:r>
          </a:p>
        </p:txBody>
      </p:sp>
    </p:spTree>
  </p:cSld>
  <p:clrMapOvr>
    <a:masterClrMapping/>
  </p:clrMapOvr>
</p:sld>
</file>

<file path=ppt/slides/slide2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66928" y="347472"/>
            <a:ext cx="10881360" cy="438912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3200" b="1">
                <a:solidFill>
                  <a:srgbClr val="122C4E"/>
                </a:solidFill>
                <a:latin typeface="Noto Sans CJK KR"/>
              </a:defRPr>
            </a:pPr>
            <a:r>
              <a:t>파일을 계속 작성하고 저장한다 (19/24)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03504" y="859536"/>
            <a:ext cx="10698480" cy="29260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700" b="0">
                <a:solidFill>
                  <a:srgbClr val="5C6672"/>
                </a:solidFill>
                <a:latin typeface="Noto Sans CJK KR"/>
              </a:defRPr>
            </a:pPr>
            <a:r>
              <a:t>~/agv_ws/src/agv_gazebo/models/agv/model.sdf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30352" y="6510528"/>
            <a:ext cx="777240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000" b="0">
                <a:solidFill>
                  <a:srgbClr val="5C6672"/>
                </a:solidFill>
                <a:latin typeface="Noto Sans CJK KR"/>
              </a:defRPr>
            </a:pPr>
            <a:r>
              <a:t>ROS 2 Jazzy · Gazebo Harmonic · M09 · 따라 하기형 AGV 실습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144000" y="6510528"/>
            <a:ext cx="246888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r">
              <a:spcAft>
                <a:spcPts val="0"/>
              </a:spcAft>
              <a:defRPr sz="1000" b="0">
                <a:solidFill>
                  <a:srgbClr val="5C6672"/>
                </a:solidFill>
                <a:latin typeface="Noto Sans CJK KR"/>
              </a:defRPr>
            </a:pPr>
            <a:r>
              <a:t>명령·파일 경로는 슬라이드에서 복사 가능</a:t>
            </a:r>
          </a:p>
        </p:txBody>
      </p:sp>
      <p:sp>
        <p:nvSpPr>
          <p:cNvPr id="6" name="Rectangle 5"/>
          <p:cNvSpPr/>
          <p:nvPr/>
        </p:nvSpPr>
        <p:spPr>
          <a:xfrm>
            <a:off x="566928" y="1188720"/>
            <a:ext cx="11064240" cy="347472"/>
          </a:xfrm>
          <a:prstGeom prst="rect">
            <a:avLst/>
          </a:prstGeom>
          <a:solidFill>
            <a:srgbClr val="F4F7FB"/>
          </a:solidFill>
          <a:ln>
            <a:solidFill>
              <a:srgbClr val="F4F7F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l">
              <a:spcAft>
                <a:spcPts val="0"/>
              </a:spcAft>
              <a:defRPr sz="1300" b="1">
                <a:solidFill>
                  <a:srgbClr val="122C4E"/>
                </a:solidFill>
                <a:latin typeface="Noto Sans CJK KR"/>
              </a:defRPr>
            </a:pPr>
            <a:r>
              <a:t>현재 단계 21/27    |    현재 폴더 ~/agv_ws    |    현재 터미널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58368" y="1627632"/>
            <a:ext cx="10972800" cy="256032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500" b="1">
                <a:solidFill>
                  <a:srgbClr val="122C4E"/>
                </a:solidFill>
                <a:latin typeface="Noto Sans CJK KR"/>
              </a:defRPr>
            </a:pPr>
            <a:r>
              <a:t>이번 단계: 파일의 전체 내용을 중간 생략 없이 작성합니다. 아래 줄 범위를 끝까지 입력하세요.</a:t>
            </a:r>
          </a:p>
        </p:txBody>
      </p:sp>
      <p:sp>
        <p:nvSpPr>
          <p:cNvPr id="8" name="Rectangle 7"/>
          <p:cNvSpPr/>
          <p:nvPr/>
        </p:nvSpPr>
        <p:spPr>
          <a:xfrm>
            <a:off x="658368" y="1956816"/>
            <a:ext cx="10972800" cy="603504"/>
          </a:xfrm>
          <a:prstGeom prst="rect">
            <a:avLst/>
          </a:prstGeom>
          <a:solidFill>
            <a:srgbClr val="F4F7FB"/>
          </a:solidFill>
          <a:ln>
            <a:solidFill>
              <a:srgbClr val="F4F7F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l">
              <a:spcAft>
                <a:spcPts val="0"/>
              </a:spcAft>
              <a:defRPr sz="1400" b="0">
                <a:solidFill>
                  <a:srgbClr val="122C4E"/>
                </a:solidFill>
                <a:latin typeface="DejaVu Sans Mono"/>
              </a:defRPr>
            </a:pPr>
            <a:r>
              <a:t>파일 생성: mkdir -p ~/agv_ws/src/agv_gazebo/models/agv</a:t>
            </a:r>
            <a:br/>
            <a:r>
              <a:t>파일 열기: nano ~/agv_ws/src/agv_gazebo/models/agv/model.sdf</a:t>
            </a:r>
          </a:p>
        </p:txBody>
      </p:sp>
      <p:sp>
        <p:nvSpPr>
          <p:cNvPr id="9" name="Rectangle 8"/>
          <p:cNvSpPr/>
          <p:nvPr/>
        </p:nvSpPr>
        <p:spPr>
          <a:xfrm>
            <a:off x="658368" y="2706624"/>
            <a:ext cx="10972800" cy="3364992"/>
          </a:xfrm>
          <a:prstGeom prst="rect">
            <a:avLst/>
          </a:prstGeom>
          <a:solidFill>
            <a:srgbClr val="1D232D"/>
          </a:solidFill>
          <a:ln>
            <a:solidFill>
              <a:srgbClr val="1D232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64592" rIns="164592" tIns="109728" bIns="36576"/>
          <a:lstStyle/>
          <a:p>
            <a:pPr algn="l">
              <a:spcAft>
                <a:spcPts val="0"/>
              </a:spcAft>
              <a:defRPr sz="1400" b="0">
                <a:solidFill>
                  <a:srgbClr val="FFFFFF"/>
                </a:solidFill>
                <a:latin typeface="DejaVu Sans Mono"/>
              </a:defRPr>
            </a:pPr>
            <a:r>
              <a:t>              &lt;resolution&gt;1&lt;/resolution&gt;</a:t>
            </a:r>
            <a:br/>
            <a:r>
              <a:t>              &lt;min_angle&gt;-3.14159&lt;/min_angle&gt;</a:t>
            </a:r>
            <a:br/>
            <a:r>
              <a:t>              &lt;max_angle&gt;3.14159&lt;/max_angle&gt;</a:t>
            </a:r>
            <a:br/>
            <a:r>
              <a:t>            &lt;/horizontal&gt;</a:t>
            </a:r>
            <a:br/>
            <a:r>
              <a:t>          &lt;/scan&gt;</a:t>
            </a:r>
            <a:br/>
            <a:r>
              <a:t>          &lt;range&gt;</a:t>
            </a:r>
            <a:br/>
            <a:r>
              <a:t>            &lt;min&gt;0.12&lt;/min&gt;</a:t>
            </a:r>
            <a:br/>
            <a:r>
              <a:t>            &lt;max&gt;12.0&lt;/max&gt;</a:t>
            </a:r>
            <a:br/>
            <a:r>
              <a:t>            &lt;resolution&gt;0.01&lt;/resolution&gt;</a:t>
            </a:r>
            <a:br/>
            <a:r>
              <a:t>          &lt;/range&gt;</a:t>
            </a:r>
            <a:br/>
            <a:r>
              <a:t>        &lt;/lidar&gt;</a:t>
            </a:r>
            <a:br/>
            <a:r>
              <a:t>      &lt;/sensor&gt;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749808" y="6181344"/>
            <a:ext cx="1078992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000" b="0">
                <a:solidFill>
                  <a:srgbClr val="5C6672"/>
                </a:solidFill>
                <a:latin typeface="Noto Sans CJK KR"/>
              </a:defRPr>
            </a:pPr>
            <a:r>
              <a:t>파일 전체 19/24 · 이 슬라이드 다음에 같은 파일의 나머지 줄이 이어집니다.</a:t>
            </a:r>
          </a:p>
        </p:txBody>
      </p:sp>
    </p:spTree>
  </p:cSld>
  <p:clrMapOvr>
    <a:masterClrMapping/>
  </p:clrMapOvr>
</p:sld>
</file>

<file path=ppt/slides/slide2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66928" y="347472"/>
            <a:ext cx="10881360" cy="438912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3200" b="1">
                <a:solidFill>
                  <a:srgbClr val="122C4E"/>
                </a:solidFill>
                <a:latin typeface="Noto Sans CJK KR"/>
              </a:defRPr>
            </a:pPr>
            <a:r>
              <a:t>파일을 계속 작성하고 저장한다 (20/24)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03504" y="859536"/>
            <a:ext cx="10698480" cy="29260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700" b="0">
                <a:solidFill>
                  <a:srgbClr val="5C6672"/>
                </a:solidFill>
                <a:latin typeface="Noto Sans CJK KR"/>
              </a:defRPr>
            </a:pPr>
            <a:r>
              <a:t>~/agv_ws/src/agv_gazebo/models/agv/model.sdf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30352" y="6510528"/>
            <a:ext cx="777240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000" b="0">
                <a:solidFill>
                  <a:srgbClr val="5C6672"/>
                </a:solidFill>
                <a:latin typeface="Noto Sans CJK KR"/>
              </a:defRPr>
            </a:pPr>
            <a:r>
              <a:t>ROS 2 Jazzy · Gazebo Harmonic · M09 · 따라 하기형 AGV 실습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144000" y="6510528"/>
            <a:ext cx="246888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r">
              <a:spcAft>
                <a:spcPts val="0"/>
              </a:spcAft>
              <a:defRPr sz="1000" b="0">
                <a:solidFill>
                  <a:srgbClr val="5C6672"/>
                </a:solidFill>
                <a:latin typeface="Noto Sans CJK KR"/>
              </a:defRPr>
            </a:pPr>
            <a:r>
              <a:t>명령·파일 경로는 슬라이드에서 복사 가능</a:t>
            </a:r>
          </a:p>
        </p:txBody>
      </p:sp>
      <p:sp>
        <p:nvSpPr>
          <p:cNvPr id="6" name="Rectangle 5"/>
          <p:cNvSpPr/>
          <p:nvPr/>
        </p:nvSpPr>
        <p:spPr>
          <a:xfrm>
            <a:off x="566928" y="1188720"/>
            <a:ext cx="11064240" cy="347472"/>
          </a:xfrm>
          <a:prstGeom prst="rect">
            <a:avLst/>
          </a:prstGeom>
          <a:solidFill>
            <a:srgbClr val="F4F7FB"/>
          </a:solidFill>
          <a:ln>
            <a:solidFill>
              <a:srgbClr val="F4F7F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l">
              <a:spcAft>
                <a:spcPts val="0"/>
              </a:spcAft>
              <a:defRPr sz="1300" b="1">
                <a:solidFill>
                  <a:srgbClr val="122C4E"/>
                </a:solidFill>
                <a:latin typeface="Noto Sans CJK KR"/>
              </a:defRPr>
            </a:pPr>
            <a:r>
              <a:t>현재 단계 22/27    |    현재 폴더 ~/agv_ws    |    현재 터미널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58368" y="1627632"/>
            <a:ext cx="10972800" cy="256032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500" b="1">
                <a:solidFill>
                  <a:srgbClr val="122C4E"/>
                </a:solidFill>
                <a:latin typeface="Noto Sans CJK KR"/>
              </a:defRPr>
            </a:pPr>
            <a:r>
              <a:t>이번 단계: 파일의 전체 내용을 중간 생략 없이 작성합니다. 아래 줄 범위를 끝까지 입력하세요.</a:t>
            </a:r>
          </a:p>
        </p:txBody>
      </p:sp>
      <p:sp>
        <p:nvSpPr>
          <p:cNvPr id="8" name="Rectangle 7"/>
          <p:cNvSpPr/>
          <p:nvPr/>
        </p:nvSpPr>
        <p:spPr>
          <a:xfrm>
            <a:off x="658368" y="1956816"/>
            <a:ext cx="10972800" cy="603504"/>
          </a:xfrm>
          <a:prstGeom prst="rect">
            <a:avLst/>
          </a:prstGeom>
          <a:solidFill>
            <a:srgbClr val="F4F7FB"/>
          </a:solidFill>
          <a:ln>
            <a:solidFill>
              <a:srgbClr val="F4F7F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l">
              <a:spcAft>
                <a:spcPts val="0"/>
              </a:spcAft>
              <a:defRPr sz="1400" b="0">
                <a:solidFill>
                  <a:srgbClr val="122C4E"/>
                </a:solidFill>
                <a:latin typeface="DejaVu Sans Mono"/>
              </a:defRPr>
            </a:pPr>
            <a:r>
              <a:t>파일 생성: mkdir -p ~/agv_ws/src/agv_gazebo/models/agv</a:t>
            </a:r>
            <a:br/>
            <a:r>
              <a:t>파일 열기: nano ~/agv_ws/src/agv_gazebo/models/agv/model.sdf</a:t>
            </a:r>
          </a:p>
        </p:txBody>
      </p:sp>
      <p:sp>
        <p:nvSpPr>
          <p:cNvPr id="9" name="Rectangle 8"/>
          <p:cNvSpPr/>
          <p:nvPr/>
        </p:nvSpPr>
        <p:spPr>
          <a:xfrm>
            <a:off x="658368" y="2706624"/>
            <a:ext cx="10972800" cy="3364992"/>
          </a:xfrm>
          <a:prstGeom prst="rect">
            <a:avLst/>
          </a:prstGeom>
          <a:solidFill>
            <a:srgbClr val="1D232D"/>
          </a:solidFill>
          <a:ln>
            <a:solidFill>
              <a:srgbClr val="1D232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64592" rIns="164592" tIns="109728" bIns="36576"/>
          <a:lstStyle/>
          <a:p>
            <a:pPr algn="l">
              <a:spcAft>
                <a:spcPts val="0"/>
              </a:spcAft>
              <a:defRPr sz="1400" b="0">
                <a:solidFill>
                  <a:srgbClr val="FFFFFF"/>
                </a:solidFill>
                <a:latin typeface="DejaVu Sans Mono"/>
              </a:defRPr>
            </a:pPr>
            <a:r>
              <a:t>    &lt;/link&gt;</a:t>
            </a:r>
            <a:br/>
            <a:r>
              <a:t>    </a:t>
            </a:r>
            <a:br/>
            <a:r>
              <a:t>    </a:t>
            </a:r>
            <a:br/>
            <a:r>
              <a:t>    &lt;joint name="lidar_joint" type="fixed"&gt;</a:t>
            </a:r>
            <a:br/>
            <a:r>
              <a:t>      &lt;parent&gt;base_link&lt;/parent&gt;</a:t>
            </a:r>
            <a:br/>
            <a:r>
              <a:t>      &lt;child&gt;lidar_link&lt;/child&gt;</a:t>
            </a:r>
            <a:br/>
            <a:r>
              <a:t>    &lt;/joint&gt;</a:t>
            </a:r>
            <a:br/>
            <a:r>
              <a:t>    </a:t>
            </a:r>
            <a:br/>
            <a:r>
              <a:t>    </a:t>
            </a:r>
            <a:br/>
            <a:r>
              <a:t>    &lt;link name="camera_link"&gt;</a:t>
            </a:r>
            <a:br/>
            <a:r>
              <a:t>      &lt;pose relative_to="base_link"&gt;0.30 0 0.10 0 0 0&lt;/pose&gt;</a:t>
            </a:r>
            <a:br/>
            <a:r>
              <a:t>      &lt;visual name="housing"&gt;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749808" y="6181344"/>
            <a:ext cx="1078992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000" b="0">
                <a:solidFill>
                  <a:srgbClr val="5C6672"/>
                </a:solidFill>
                <a:latin typeface="Noto Sans CJK KR"/>
              </a:defRPr>
            </a:pPr>
            <a:r>
              <a:t>파일 전체 20/24 · 이 슬라이드 다음에 같은 파일의 나머지 줄이 이어집니다.</a:t>
            </a:r>
          </a:p>
        </p:txBody>
      </p:sp>
    </p:spTree>
  </p:cSld>
  <p:clrMapOvr>
    <a:masterClrMapping/>
  </p:clrMapOvr>
</p:sld>
</file>

<file path=ppt/slides/slide2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66928" y="347472"/>
            <a:ext cx="10881360" cy="438912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3200" b="1">
                <a:solidFill>
                  <a:srgbClr val="122C4E"/>
                </a:solidFill>
                <a:latin typeface="Noto Sans CJK KR"/>
              </a:defRPr>
            </a:pPr>
            <a:r>
              <a:t>파일을 계속 작성하고 저장한다 (21/24)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03504" y="859536"/>
            <a:ext cx="10698480" cy="29260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700" b="0">
                <a:solidFill>
                  <a:srgbClr val="5C6672"/>
                </a:solidFill>
                <a:latin typeface="Noto Sans CJK KR"/>
              </a:defRPr>
            </a:pPr>
            <a:r>
              <a:t>~/agv_ws/src/agv_gazebo/models/agv/model.sdf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30352" y="6510528"/>
            <a:ext cx="777240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000" b="0">
                <a:solidFill>
                  <a:srgbClr val="5C6672"/>
                </a:solidFill>
                <a:latin typeface="Noto Sans CJK KR"/>
              </a:defRPr>
            </a:pPr>
            <a:r>
              <a:t>ROS 2 Jazzy · Gazebo Harmonic · M09 · 따라 하기형 AGV 실습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144000" y="6510528"/>
            <a:ext cx="246888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r">
              <a:spcAft>
                <a:spcPts val="0"/>
              </a:spcAft>
              <a:defRPr sz="1000" b="0">
                <a:solidFill>
                  <a:srgbClr val="5C6672"/>
                </a:solidFill>
                <a:latin typeface="Noto Sans CJK KR"/>
              </a:defRPr>
            </a:pPr>
            <a:r>
              <a:t>명령·파일 경로는 슬라이드에서 복사 가능</a:t>
            </a:r>
          </a:p>
        </p:txBody>
      </p:sp>
      <p:sp>
        <p:nvSpPr>
          <p:cNvPr id="6" name="Rectangle 5"/>
          <p:cNvSpPr/>
          <p:nvPr/>
        </p:nvSpPr>
        <p:spPr>
          <a:xfrm>
            <a:off x="566928" y="1188720"/>
            <a:ext cx="11064240" cy="347472"/>
          </a:xfrm>
          <a:prstGeom prst="rect">
            <a:avLst/>
          </a:prstGeom>
          <a:solidFill>
            <a:srgbClr val="F4F7FB"/>
          </a:solidFill>
          <a:ln>
            <a:solidFill>
              <a:srgbClr val="F4F7F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l">
              <a:spcAft>
                <a:spcPts val="0"/>
              </a:spcAft>
              <a:defRPr sz="1300" b="1">
                <a:solidFill>
                  <a:srgbClr val="122C4E"/>
                </a:solidFill>
                <a:latin typeface="Noto Sans CJK KR"/>
              </a:defRPr>
            </a:pPr>
            <a:r>
              <a:t>현재 단계 23/27    |    현재 폴더 ~/agv_ws    |    현재 터미널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58368" y="1627632"/>
            <a:ext cx="10972800" cy="256032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500" b="1">
                <a:solidFill>
                  <a:srgbClr val="122C4E"/>
                </a:solidFill>
                <a:latin typeface="Noto Sans CJK KR"/>
              </a:defRPr>
            </a:pPr>
            <a:r>
              <a:t>이번 단계: 파일의 전체 내용을 중간 생략 없이 작성합니다. 아래 줄 범위를 끝까지 입력하세요.</a:t>
            </a:r>
          </a:p>
        </p:txBody>
      </p:sp>
      <p:sp>
        <p:nvSpPr>
          <p:cNvPr id="8" name="Rectangle 7"/>
          <p:cNvSpPr/>
          <p:nvPr/>
        </p:nvSpPr>
        <p:spPr>
          <a:xfrm>
            <a:off x="658368" y="1956816"/>
            <a:ext cx="10972800" cy="603504"/>
          </a:xfrm>
          <a:prstGeom prst="rect">
            <a:avLst/>
          </a:prstGeom>
          <a:solidFill>
            <a:srgbClr val="F4F7FB"/>
          </a:solidFill>
          <a:ln>
            <a:solidFill>
              <a:srgbClr val="F4F7F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l">
              <a:spcAft>
                <a:spcPts val="0"/>
              </a:spcAft>
              <a:defRPr sz="1400" b="0">
                <a:solidFill>
                  <a:srgbClr val="122C4E"/>
                </a:solidFill>
                <a:latin typeface="DejaVu Sans Mono"/>
              </a:defRPr>
            </a:pPr>
            <a:r>
              <a:t>파일 생성: mkdir -p ~/agv_ws/src/agv_gazebo/models/agv</a:t>
            </a:r>
            <a:br/>
            <a:r>
              <a:t>파일 열기: nano ~/agv_ws/src/agv_gazebo/models/agv/model.sdf</a:t>
            </a:r>
          </a:p>
        </p:txBody>
      </p:sp>
      <p:sp>
        <p:nvSpPr>
          <p:cNvPr id="9" name="Rectangle 8"/>
          <p:cNvSpPr/>
          <p:nvPr/>
        </p:nvSpPr>
        <p:spPr>
          <a:xfrm>
            <a:off x="658368" y="2706624"/>
            <a:ext cx="10972800" cy="3364992"/>
          </a:xfrm>
          <a:prstGeom prst="rect">
            <a:avLst/>
          </a:prstGeom>
          <a:solidFill>
            <a:srgbClr val="1D232D"/>
          </a:solidFill>
          <a:ln>
            <a:solidFill>
              <a:srgbClr val="1D232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64592" rIns="164592" tIns="109728" bIns="36576"/>
          <a:lstStyle/>
          <a:p>
            <a:pPr algn="l">
              <a:spcAft>
                <a:spcPts val="0"/>
              </a:spcAft>
              <a:defRPr sz="1400" b="0">
                <a:solidFill>
                  <a:srgbClr val="FFFFFF"/>
                </a:solidFill>
                <a:latin typeface="DejaVu Sans Mono"/>
              </a:defRPr>
            </a:pPr>
            <a:r>
              <a:t>        &lt;geometry&gt;</a:t>
            </a:r>
            <a:br/>
            <a:r>
              <a:t>          &lt;box&gt;</a:t>
            </a:r>
            <a:br/>
            <a:r>
              <a:t>            &lt;size&gt;0.05 0.08 0.05&lt;/size&gt;</a:t>
            </a:r>
            <a:br/>
            <a:r>
              <a:t>          &lt;/box&gt;</a:t>
            </a:r>
            <a:br/>
            <a:r>
              <a:t>        &lt;/geometry&gt;</a:t>
            </a:r>
            <a:br/>
            <a:r>
              <a:t>      &lt;/visual&gt;</a:t>
            </a:r>
            <a:br/>
            <a:r>
              <a:t>      &lt;sensor name="camera" type="camera"&gt;</a:t>
            </a:r>
            <a:br/>
            <a:r>
              <a:t>        &lt;topic&gt;/camera/image_raw&lt;/topic&gt;</a:t>
            </a:r>
            <a:br/>
            <a:r>
              <a:t>        &lt;always_on&gt;true&lt;/always_on&gt;</a:t>
            </a:r>
            <a:br/>
            <a:r>
              <a:t>        &lt;update_rate&gt;15&lt;/update_rate&gt;</a:t>
            </a:r>
            <a:br/>
            <a:r>
              <a:t>        &lt;camera&gt;</a:t>
            </a:r>
            <a:br/>
            <a:r>
              <a:t>          &lt;horizontal_fov&gt;1.047&lt;/horizontal_fov&gt;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749808" y="6181344"/>
            <a:ext cx="1078992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000" b="0">
                <a:solidFill>
                  <a:srgbClr val="5C6672"/>
                </a:solidFill>
                <a:latin typeface="Noto Sans CJK KR"/>
              </a:defRPr>
            </a:pPr>
            <a:r>
              <a:t>파일 전체 21/24 · 이 슬라이드 다음에 같은 파일의 나머지 줄이 이어집니다.</a:t>
            </a:r>
          </a:p>
        </p:txBody>
      </p:sp>
    </p:spTree>
  </p:cSld>
  <p:clrMapOvr>
    <a:masterClrMapping/>
  </p:clrMapOvr>
</p:sld>
</file>

<file path=ppt/slides/slide3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66928" y="347472"/>
            <a:ext cx="10881360" cy="438912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3200" b="1">
                <a:solidFill>
                  <a:srgbClr val="122C4E"/>
                </a:solidFill>
                <a:latin typeface="Noto Sans CJK KR"/>
              </a:defRPr>
            </a:pPr>
            <a:r>
              <a:t>파일을 계속 작성하고 저장한다 (22/24)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03504" y="859536"/>
            <a:ext cx="10698480" cy="29260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700" b="0">
                <a:solidFill>
                  <a:srgbClr val="5C6672"/>
                </a:solidFill>
                <a:latin typeface="Noto Sans CJK KR"/>
              </a:defRPr>
            </a:pPr>
            <a:r>
              <a:t>~/agv_ws/src/agv_gazebo/models/agv/model.sdf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30352" y="6510528"/>
            <a:ext cx="777240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000" b="0">
                <a:solidFill>
                  <a:srgbClr val="5C6672"/>
                </a:solidFill>
                <a:latin typeface="Noto Sans CJK KR"/>
              </a:defRPr>
            </a:pPr>
            <a:r>
              <a:t>ROS 2 Jazzy · Gazebo Harmonic · M09 · 따라 하기형 AGV 실습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144000" y="6510528"/>
            <a:ext cx="246888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r">
              <a:spcAft>
                <a:spcPts val="0"/>
              </a:spcAft>
              <a:defRPr sz="1000" b="0">
                <a:solidFill>
                  <a:srgbClr val="5C6672"/>
                </a:solidFill>
                <a:latin typeface="Noto Sans CJK KR"/>
              </a:defRPr>
            </a:pPr>
            <a:r>
              <a:t>명령·파일 경로는 슬라이드에서 복사 가능</a:t>
            </a:r>
          </a:p>
        </p:txBody>
      </p:sp>
      <p:sp>
        <p:nvSpPr>
          <p:cNvPr id="6" name="Rectangle 5"/>
          <p:cNvSpPr/>
          <p:nvPr/>
        </p:nvSpPr>
        <p:spPr>
          <a:xfrm>
            <a:off x="566928" y="1188720"/>
            <a:ext cx="11064240" cy="347472"/>
          </a:xfrm>
          <a:prstGeom prst="rect">
            <a:avLst/>
          </a:prstGeom>
          <a:solidFill>
            <a:srgbClr val="F4F7FB"/>
          </a:solidFill>
          <a:ln>
            <a:solidFill>
              <a:srgbClr val="F4F7F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l">
              <a:spcAft>
                <a:spcPts val="0"/>
              </a:spcAft>
              <a:defRPr sz="1300" b="1">
                <a:solidFill>
                  <a:srgbClr val="122C4E"/>
                </a:solidFill>
                <a:latin typeface="Noto Sans CJK KR"/>
              </a:defRPr>
            </a:pPr>
            <a:r>
              <a:t>현재 단계 24/27    |    현재 폴더 ~/agv_ws    |    현재 터미널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58368" y="1627632"/>
            <a:ext cx="10972800" cy="256032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500" b="1">
                <a:solidFill>
                  <a:srgbClr val="122C4E"/>
                </a:solidFill>
                <a:latin typeface="Noto Sans CJK KR"/>
              </a:defRPr>
            </a:pPr>
            <a:r>
              <a:t>이번 단계: 파일의 전체 내용을 중간 생략 없이 작성합니다. 아래 줄 범위를 끝까지 입력하세요.</a:t>
            </a:r>
          </a:p>
        </p:txBody>
      </p:sp>
      <p:sp>
        <p:nvSpPr>
          <p:cNvPr id="8" name="Rectangle 7"/>
          <p:cNvSpPr/>
          <p:nvPr/>
        </p:nvSpPr>
        <p:spPr>
          <a:xfrm>
            <a:off x="658368" y="1956816"/>
            <a:ext cx="10972800" cy="603504"/>
          </a:xfrm>
          <a:prstGeom prst="rect">
            <a:avLst/>
          </a:prstGeom>
          <a:solidFill>
            <a:srgbClr val="F4F7FB"/>
          </a:solidFill>
          <a:ln>
            <a:solidFill>
              <a:srgbClr val="F4F7F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l">
              <a:spcAft>
                <a:spcPts val="0"/>
              </a:spcAft>
              <a:defRPr sz="1400" b="0">
                <a:solidFill>
                  <a:srgbClr val="122C4E"/>
                </a:solidFill>
                <a:latin typeface="DejaVu Sans Mono"/>
              </a:defRPr>
            </a:pPr>
            <a:r>
              <a:t>파일 생성: mkdir -p ~/agv_ws/src/agv_gazebo/models/agv</a:t>
            </a:r>
            <a:br/>
            <a:r>
              <a:t>파일 열기: nano ~/agv_ws/src/agv_gazebo/models/agv/model.sdf</a:t>
            </a:r>
          </a:p>
        </p:txBody>
      </p:sp>
      <p:sp>
        <p:nvSpPr>
          <p:cNvPr id="9" name="Rectangle 8"/>
          <p:cNvSpPr/>
          <p:nvPr/>
        </p:nvSpPr>
        <p:spPr>
          <a:xfrm>
            <a:off x="658368" y="2706624"/>
            <a:ext cx="10972800" cy="3364992"/>
          </a:xfrm>
          <a:prstGeom prst="rect">
            <a:avLst/>
          </a:prstGeom>
          <a:solidFill>
            <a:srgbClr val="1D232D"/>
          </a:solidFill>
          <a:ln>
            <a:solidFill>
              <a:srgbClr val="1D232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64592" rIns="164592" tIns="109728" bIns="36576"/>
          <a:lstStyle/>
          <a:p>
            <a:pPr algn="l">
              <a:spcAft>
                <a:spcPts val="0"/>
              </a:spcAft>
              <a:defRPr sz="1400" b="0">
                <a:solidFill>
                  <a:srgbClr val="FFFFFF"/>
                </a:solidFill>
                <a:latin typeface="DejaVu Sans Mono"/>
              </a:defRPr>
            </a:pPr>
            <a:r>
              <a:t>          &lt;image&gt;</a:t>
            </a:r>
            <a:br/>
            <a:r>
              <a:t>            &lt;width&gt;640&lt;/width&gt;</a:t>
            </a:r>
            <a:br/>
            <a:r>
              <a:t>            &lt;height&gt;480&lt;/height&gt;</a:t>
            </a:r>
            <a:br/>
            <a:r>
              <a:t>            &lt;format&gt;R8G8B8&lt;/format&gt;</a:t>
            </a:r>
            <a:br/>
            <a:r>
              <a:t>          &lt;/image&gt;</a:t>
            </a:r>
            <a:br/>
            <a:r>
              <a:t>          &lt;clip&gt;</a:t>
            </a:r>
            <a:br/>
            <a:r>
              <a:t>            &lt;near&gt;0.1&lt;/near&gt;</a:t>
            </a:r>
            <a:br/>
            <a:r>
              <a:t>            &lt;far&gt;20&lt;/far&gt;</a:t>
            </a:r>
            <a:br/>
            <a:r>
              <a:t>          &lt;/clip&gt;</a:t>
            </a:r>
            <a:br/>
            <a:r>
              <a:t>        &lt;/camera&gt;</a:t>
            </a:r>
            <a:br/>
            <a:r>
              <a:t>      &lt;/sensor&gt;</a:t>
            </a:r>
            <a:br/>
            <a:r>
              <a:t>    &lt;/link&gt;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749808" y="6181344"/>
            <a:ext cx="1078992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000" b="0">
                <a:solidFill>
                  <a:srgbClr val="5C6672"/>
                </a:solidFill>
                <a:latin typeface="Noto Sans CJK KR"/>
              </a:defRPr>
            </a:pPr>
            <a:r>
              <a:t>파일 전체 22/24 · 이 슬라이드 다음에 같은 파일의 나머지 줄이 이어집니다.</a:t>
            </a:r>
          </a:p>
        </p:txBody>
      </p:sp>
    </p:spTree>
  </p:cSld>
  <p:clrMapOvr>
    <a:masterClrMapping/>
  </p:clrMapOvr>
</p:sld>
</file>

<file path=ppt/slides/slide3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66928" y="347472"/>
            <a:ext cx="10881360" cy="438912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3200" b="1">
                <a:solidFill>
                  <a:srgbClr val="122C4E"/>
                </a:solidFill>
                <a:latin typeface="Noto Sans CJK KR"/>
              </a:defRPr>
            </a:pPr>
            <a:r>
              <a:t>파일을 계속 작성하고 저장한다 (23/24)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03504" y="859536"/>
            <a:ext cx="10698480" cy="29260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700" b="0">
                <a:solidFill>
                  <a:srgbClr val="5C6672"/>
                </a:solidFill>
                <a:latin typeface="Noto Sans CJK KR"/>
              </a:defRPr>
            </a:pPr>
            <a:r>
              <a:t>~/agv_ws/src/agv_gazebo/models/agv/model.sdf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30352" y="6510528"/>
            <a:ext cx="777240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000" b="0">
                <a:solidFill>
                  <a:srgbClr val="5C6672"/>
                </a:solidFill>
                <a:latin typeface="Noto Sans CJK KR"/>
              </a:defRPr>
            </a:pPr>
            <a:r>
              <a:t>ROS 2 Jazzy · Gazebo Harmonic · M09 · 따라 하기형 AGV 실습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144000" y="6510528"/>
            <a:ext cx="246888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r">
              <a:spcAft>
                <a:spcPts val="0"/>
              </a:spcAft>
              <a:defRPr sz="1000" b="0">
                <a:solidFill>
                  <a:srgbClr val="5C6672"/>
                </a:solidFill>
                <a:latin typeface="Noto Sans CJK KR"/>
              </a:defRPr>
            </a:pPr>
            <a:r>
              <a:t>명령·파일 경로는 슬라이드에서 복사 가능</a:t>
            </a:r>
          </a:p>
        </p:txBody>
      </p:sp>
      <p:sp>
        <p:nvSpPr>
          <p:cNvPr id="6" name="Rectangle 5"/>
          <p:cNvSpPr/>
          <p:nvPr/>
        </p:nvSpPr>
        <p:spPr>
          <a:xfrm>
            <a:off x="566928" y="1188720"/>
            <a:ext cx="11064240" cy="347472"/>
          </a:xfrm>
          <a:prstGeom prst="rect">
            <a:avLst/>
          </a:prstGeom>
          <a:solidFill>
            <a:srgbClr val="F4F7FB"/>
          </a:solidFill>
          <a:ln>
            <a:solidFill>
              <a:srgbClr val="F4F7F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l">
              <a:spcAft>
                <a:spcPts val="0"/>
              </a:spcAft>
              <a:defRPr sz="1300" b="1">
                <a:solidFill>
                  <a:srgbClr val="122C4E"/>
                </a:solidFill>
                <a:latin typeface="Noto Sans CJK KR"/>
              </a:defRPr>
            </a:pPr>
            <a:r>
              <a:t>현재 단계 25/27    |    현재 폴더 ~/agv_ws    |    현재 터미널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58368" y="1627632"/>
            <a:ext cx="10972800" cy="256032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500" b="1">
                <a:solidFill>
                  <a:srgbClr val="122C4E"/>
                </a:solidFill>
                <a:latin typeface="Noto Sans CJK KR"/>
              </a:defRPr>
            </a:pPr>
            <a:r>
              <a:t>이번 단계: 파일의 전체 내용을 중간 생략 없이 작성합니다. 아래 줄 범위를 끝까지 입력하세요.</a:t>
            </a:r>
          </a:p>
        </p:txBody>
      </p:sp>
      <p:sp>
        <p:nvSpPr>
          <p:cNvPr id="8" name="Rectangle 7"/>
          <p:cNvSpPr/>
          <p:nvPr/>
        </p:nvSpPr>
        <p:spPr>
          <a:xfrm>
            <a:off x="658368" y="1956816"/>
            <a:ext cx="10972800" cy="603504"/>
          </a:xfrm>
          <a:prstGeom prst="rect">
            <a:avLst/>
          </a:prstGeom>
          <a:solidFill>
            <a:srgbClr val="F4F7FB"/>
          </a:solidFill>
          <a:ln>
            <a:solidFill>
              <a:srgbClr val="F4F7F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l">
              <a:spcAft>
                <a:spcPts val="0"/>
              </a:spcAft>
              <a:defRPr sz="1400" b="0">
                <a:solidFill>
                  <a:srgbClr val="122C4E"/>
                </a:solidFill>
                <a:latin typeface="DejaVu Sans Mono"/>
              </a:defRPr>
            </a:pPr>
            <a:r>
              <a:t>파일 생성: mkdir -p ~/agv_ws/src/agv_gazebo/models/agv</a:t>
            </a:r>
            <a:br/>
            <a:r>
              <a:t>파일 열기: nano ~/agv_ws/src/agv_gazebo/models/agv/model.sdf</a:t>
            </a:r>
          </a:p>
        </p:txBody>
      </p:sp>
      <p:sp>
        <p:nvSpPr>
          <p:cNvPr id="9" name="Rectangle 8"/>
          <p:cNvSpPr/>
          <p:nvPr/>
        </p:nvSpPr>
        <p:spPr>
          <a:xfrm>
            <a:off x="658368" y="2706624"/>
            <a:ext cx="10972800" cy="3364992"/>
          </a:xfrm>
          <a:prstGeom prst="rect">
            <a:avLst/>
          </a:prstGeom>
          <a:solidFill>
            <a:srgbClr val="1D232D"/>
          </a:solidFill>
          <a:ln>
            <a:solidFill>
              <a:srgbClr val="1D232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64592" rIns="164592" tIns="109728" bIns="36576"/>
          <a:lstStyle/>
          <a:p>
            <a:pPr algn="l">
              <a:spcAft>
                <a:spcPts val="0"/>
              </a:spcAft>
              <a:defRPr sz="1400" b="0">
                <a:solidFill>
                  <a:srgbClr val="FFFFFF"/>
                </a:solidFill>
                <a:latin typeface="DejaVu Sans Mono"/>
              </a:defRPr>
            </a:pPr>
            <a:r>
              <a:t>    </a:t>
            </a:r>
            <a:br/>
            <a:r>
              <a:t>    </a:t>
            </a:r>
            <a:br/>
            <a:r>
              <a:t>    &lt;joint name="camera_joint" type="fixed"&gt;</a:t>
            </a:r>
            <a:br/>
            <a:r>
              <a:t>      &lt;parent&gt;base_link&lt;/parent&gt;</a:t>
            </a:r>
            <a:br/>
            <a:r>
              <a:t>      &lt;child&gt;camera_link&lt;/child&gt;</a:t>
            </a:r>
            <a:br/>
            <a:r>
              <a:t>    &lt;/joint&gt;</a:t>
            </a:r>
            <a:br/>
            <a:r>
              <a:t>    </a:t>
            </a:r>
            <a:br/>
            <a:r>
              <a:t>    </a:t>
            </a:r>
            <a:br/>
            <a:r>
              <a:t>    &lt;plugin filename="gz-sim-diff-drive-system" name="gz::sim::systems::DiffDrive"&gt;</a:t>
            </a:r>
            <a:br/>
            <a:r>
              <a:t>      &lt;left_joint&gt;left_wheel_joint&lt;/left_joint&gt;</a:t>
            </a:r>
            <a:br/>
            <a:r>
              <a:t>      &lt;right_joint&gt;right_wheel_joint&lt;/right_joint&gt;</a:t>
            </a:r>
            <a:br/>
            <a:r>
              <a:t>      &lt;wheel_separation&gt;0.38&lt;/wheel_separation&gt;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749808" y="6181344"/>
            <a:ext cx="1078992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000" b="0">
                <a:solidFill>
                  <a:srgbClr val="5C6672"/>
                </a:solidFill>
                <a:latin typeface="Noto Sans CJK KR"/>
              </a:defRPr>
            </a:pPr>
            <a:r>
              <a:t>파일 전체 23/24 · 이 슬라이드 다음에 같은 파일의 나머지 줄이 이어집니다.</a:t>
            </a:r>
          </a:p>
        </p:txBody>
      </p:sp>
    </p:spTree>
  </p:cSld>
  <p:clrMapOvr>
    <a:masterClrMapping/>
  </p:clrMapOvr>
</p:sld>
</file>

<file path=ppt/slides/slide3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66928" y="347472"/>
            <a:ext cx="10881360" cy="438912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3200" b="1">
                <a:solidFill>
                  <a:srgbClr val="122C4E"/>
                </a:solidFill>
                <a:latin typeface="Noto Sans CJK KR"/>
              </a:defRPr>
            </a:pPr>
            <a:r>
              <a:t>파일을 계속 작성하고 저장한다 (24/24)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03504" y="859536"/>
            <a:ext cx="10698480" cy="29260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700" b="0">
                <a:solidFill>
                  <a:srgbClr val="5C6672"/>
                </a:solidFill>
                <a:latin typeface="Noto Sans CJK KR"/>
              </a:defRPr>
            </a:pPr>
            <a:r>
              <a:t>~/agv_ws/src/agv_gazebo/models/agv/model.sdf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30352" y="6510528"/>
            <a:ext cx="777240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000" b="0">
                <a:solidFill>
                  <a:srgbClr val="5C6672"/>
                </a:solidFill>
                <a:latin typeface="Noto Sans CJK KR"/>
              </a:defRPr>
            </a:pPr>
            <a:r>
              <a:t>ROS 2 Jazzy · Gazebo Harmonic · M09 · 따라 하기형 AGV 실습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144000" y="6510528"/>
            <a:ext cx="246888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r">
              <a:spcAft>
                <a:spcPts val="0"/>
              </a:spcAft>
              <a:defRPr sz="1000" b="0">
                <a:solidFill>
                  <a:srgbClr val="5C6672"/>
                </a:solidFill>
                <a:latin typeface="Noto Sans CJK KR"/>
              </a:defRPr>
            </a:pPr>
            <a:r>
              <a:t>명령·파일 경로는 슬라이드에서 복사 가능</a:t>
            </a:r>
          </a:p>
        </p:txBody>
      </p:sp>
      <p:sp>
        <p:nvSpPr>
          <p:cNvPr id="6" name="Rectangle 5"/>
          <p:cNvSpPr/>
          <p:nvPr/>
        </p:nvSpPr>
        <p:spPr>
          <a:xfrm>
            <a:off x="566928" y="1188720"/>
            <a:ext cx="11064240" cy="347472"/>
          </a:xfrm>
          <a:prstGeom prst="rect">
            <a:avLst/>
          </a:prstGeom>
          <a:solidFill>
            <a:srgbClr val="F4F7FB"/>
          </a:solidFill>
          <a:ln>
            <a:solidFill>
              <a:srgbClr val="F4F7F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l">
              <a:spcAft>
                <a:spcPts val="0"/>
              </a:spcAft>
              <a:defRPr sz="1300" b="1">
                <a:solidFill>
                  <a:srgbClr val="122C4E"/>
                </a:solidFill>
                <a:latin typeface="Noto Sans CJK KR"/>
              </a:defRPr>
            </a:pPr>
            <a:r>
              <a:t>현재 단계 26/27    |    현재 폴더 ~/agv_ws    |    현재 터미널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58368" y="1627632"/>
            <a:ext cx="10972800" cy="256032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500" b="1">
                <a:solidFill>
                  <a:srgbClr val="122C4E"/>
                </a:solidFill>
                <a:latin typeface="Noto Sans CJK KR"/>
              </a:defRPr>
            </a:pPr>
            <a:r>
              <a:t>이번 단계: 파일의 전체 내용을 중간 생략 없이 작성합니다. 아래 줄 범위를 끝까지 입력하세요.</a:t>
            </a:r>
          </a:p>
        </p:txBody>
      </p:sp>
      <p:sp>
        <p:nvSpPr>
          <p:cNvPr id="8" name="Rectangle 7"/>
          <p:cNvSpPr/>
          <p:nvPr/>
        </p:nvSpPr>
        <p:spPr>
          <a:xfrm>
            <a:off x="658368" y="1956816"/>
            <a:ext cx="10972800" cy="603504"/>
          </a:xfrm>
          <a:prstGeom prst="rect">
            <a:avLst/>
          </a:prstGeom>
          <a:solidFill>
            <a:srgbClr val="F4F7FB"/>
          </a:solidFill>
          <a:ln>
            <a:solidFill>
              <a:srgbClr val="F4F7F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l">
              <a:spcAft>
                <a:spcPts val="0"/>
              </a:spcAft>
              <a:defRPr sz="1400" b="0">
                <a:solidFill>
                  <a:srgbClr val="122C4E"/>
                </a:solidFill>
                <a:latin typeface="DejaVu Sans Mono"/>
              </a:defRPr>
            </a:pPr>
            <a:r>
              <a:t>파일 생성: mkdir -p ~/agv_ws/src/agv_gazebo/models/agv</a:t>
            </a:r>
            <a:br/>
            <a:r>
              <a:t>파일 열기: nano ~/agv_ws/src/agv_gazebo/models/agv/model.sdf</a:t>
            </a:r>
          </a:p>
        </p:txBody>
      </p:sp>
      <p:sp>
        <p:nvSpPr>
          <p:cNvPr id="9" name="Rectangle 8"/>
          <p:cNvSpPr/>
          <p:nvPr/>
        </p:nvSpPr>
        <p:spPr>
          <a:xfrm>
            <a:off x="658368" y="2706624"/>
            <a:ext cx="10972800" cy="3364992"/>
          </a:xfrm>
          <a:prstGeom prst="rect">
            <a:avLst/>
          </a:prstGeom>
          <a:solidFill>
            <a:srgbClr val="1D232D"/>
          </a:solidFill>
          <a:ln>
            <a:solidFill>
              <a:srgbClr val="1D232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64592" rIns="164592" tIns="109728" bIns="36576"/>
          <a:lstStyle/>
          <a:p>
            <a:pPr algn="l">
              <a:spcAft>
                <a:spcPts val="0"/>
              </a:spcAft>
              <a:defRPr sz="1400" b="0">
                <a:solidFill>
                  <a:srgbClr val="FFFFFF"/>
                </a:solidFill>
                <a:latin typeface="DejaVu Sans Mono"/>
              </a:defRPr>
            </a:pPr>
            <a:r>
              <a:t>      &lt;wheel_radius&gt;0.08&lt;/wheel_radius&gt;</a:t>
            </a:r>
            <a:br/>
            <a:r>
              <a:t>      &lt;topic&gt;/cmd_vel&lt;/topic&gt;</a:t>
            </a:r>
            <a:br/>
            <a:r>
              <a:t>      &lt;odom_topic&gt;/odom&lt;/odom_topic&gt;</a:t>
            </a:r>
            <a:br/>
            <a:r>
              <a:t>      &lt;frame_id&gt;odom&lt;/frame_id&gt;</a:t>
            </a:r>
            <a:br/>
            <a:r>
              <a:t>      &lt;child_frame_id&gt;base_link&lt;/child_frame_id&gt;</a:t>
            </a:r>
            <a:br/>
            <a:r>
              <a:t>    &lt;/plugin&gt;</a:t>
            </a:r>
            <a:br/>
            <a:r>
              <a:t>    </a:t>
            </a:r>
            <a:br/>
            <a:r>
              <a:t>  </a:t>
            </a:r>
            <a:br/>
            <a:r>
              <a:t>  &lt;/model&gt;</a:t>
            </a:r>
            <a:br/>
            <a:r>
              <a:t>  </a:t>
            </a:r>
            <a:br/>
            <a:br/>
            <a:r>
              <a:t>&lt;/sdf&gt;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749808" y="6181344"/>
            <a:ext cx="1078992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000" b="0">
                <a:solidFill>
                  <a:srgbClr val="5C6672"/>
                </a:solidFill>
                <a:latin typeface="Noto Sans CJK KR"/>
              </a:defRPr>
            </a:pPr>
            <a:r>
              <a:t>파일 전체 24/24 · 이 슬라이드 다음에 같은 파일의 나머지 줄이 이어집니다.</a:t>
            </a:r>
          </a:p>
        </p:txBody>
      </p:sp>
    </p:spTree>
  </p:cSld>
  <p:clrMapOvr>
    <a:masterClrMapping/>
  </p:clrMapOvr>
</p:sld>
</file>

<file path=ppt/slides/slide3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66928" y="347472"/>
            <a:ext cx="10881360" cy="438912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3200" b="1">
                <a:solidFill>
                  <a:srgbClr val="122C4E"/>
                </a:solidFill>
                <a:latin typeface="Noto Sans CJK KR"/>
              </a:defRPr>
            </a:pPr>
            <a:r>
              <a:t>파일을 새로 만들고 저장한다 (1/3)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03504" y="859536"/>
            <a:ext cx="10698480" cy="29260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700" b="0">
                <a:solidFill>
                  <a:srgbClr val="5C6672"/>
                </a:solidFill>
                <a:latin typeface="Noto Sans CJK KR"/>
              </a:defRPr>
            </a:pPr>
            <a:r>
              <a:t>~/agv_ws/src/agv_control/agv_control/cmd_test_node.py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30352" y="6510528"/>
            <a:ext cx="777240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000" b="0">
                <a:solidFill>
                  <a:srgbClr val="5C6672"/>
                </a:solidFill>
                <a:latin typeface="Noto Sans CJK KR"/>
              </a:defRPr>
            </a:pPr>
            <a:r>
              <a:t>ROS 2 Jazzy · Gazebo Harmonic · M09 · 따라 하기형 AGV 실습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144000" y="6510528"/>
            <a:ext cx="246888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r">
              <a:spcAft>
                <a:spcPts val="0"/>
              </a:spcAft>
              <a:defRPr sz="1000" b="0">
                <a:solidFill>
                  <a:srgbClr val="5C6672"/>
                </a:solidFill>
                <a:latin typeface="Noto Sans CJK KR"/>
              </a:defRPr>
            </a:pPr>
            <a:r>
              <a:t>명령·파일 경로는 슬라이드에서 복사 가능</a:t>
            </a:r>
          </a:p>
        </p:txBody>
      </p:sp>
      <p:sp>
        <p:nvSpPr>
          <p:cNvPr id="6" name="Rectangle 5"/>
          <p:cNvSpPr/>
          <p:nvPr/>
        </p:nvSpPr>
        <p:spPr>
          <a:xfrm>
            <a:off x="566928" y="1188720"/>
            <a:ext cx="11064240" cy="347472"/>
          </a:xfrm>
          <a:prstGeom prst="rect">
            <a:avLst/>
          </a:prstGeom>
          <a:solidFill>
            <a:srgbClr val="F4F7FB"/>
          </a:solidFill>
          <a:ln>
            <a:solidFill>
              <a:srgbClr val="F4F7F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l">
              <a:spcAft>
                <a:spcPts val="0"/>
              </a:spcAft>
              <a:defRPr sz="1300" b="1">
                <a:solidFill>
                  <a:srgbClr val="122C4E"/>
                </a:solidFill>
                <a:latin typeface="Noto Sans CJK KR"/>
              </a:defRPr>
            </a:pPr>
            <a:r>
              <a:t>현재 단계 27/30    |    현재 폴더 ~/agv_ws    |    현재 터미널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58368" y="1627632"/>
            <a:ext cx="10972800" cy="256032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500" b="1">
                <a:solidFill>
                  <a:srgbClr val="122C4E"/>
                </a:solidFill>
                <a:latin typeface="Noto Sans CJK KR"/>
              </a:defRPr>
            </a:pPr>
            <a:r>
              <a:t>이번 단계: 파일의 전체 내용을 중간 생략 없이 작성합니다. 아래 줄 범위를 끝까지 입력하세요.</a:t>
            </a:r>
          </a:p>
        </p:txBody>
      </p:sp>
      <p:sp>
        <p:nvSpPr>
          <p:cNvPr id="8" name="Rectangle 7"/>
          <p:cNvSpPr/>
          <p:nvPr/>
        </p:nvSpPr>
        <p:spPr>
          <a:xfrm>
            <a:off x="658368" y="1956816"/>
            <a:ext cx="10972800" cy="603504"/>
          </a:xfrm>
          <a:prstGeom prst="rect">
            <a:avLst/>
          </a:prstGeom>
          <a:solidFill>
            <a:srgbClr val="F4F7FB"/>
          </a:solidFill>
          <a:ln>
            <a:solidFill>
              <a:srgbClr val="F4F7F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l">
              <a:spcAft>
                <a:spcPts val="0"/>
              </a:spcAft>
              <a:defRPr sz="1400" b="0">
                <a:solidFill>
                  <a:srgbClr val="122C4E"/>
                </a:solidFill>
                <a:latin typeface="DejaVu Sans Mono"/>
              </a:defRPr>
            </a:pPr>
            <a:r>
              <a:t>파일 생성: mkdir -p ~/agv_ws/src/agv_control/agv_control</a:t>
            </a:r>
            <a:br/>
            <a:r>
              <a:t>파일 열기: nano ~/agv_ws/src/agv_control/agv_control/cmd_test_node.py</a:t>
            </a:r>
          </a:p>
        </p:txBody>
      </p:sp>
      <p:sp>
        <p:nvSpPr>
          <p:cNvPr id="9" name="Rectangle 8"/>
          <p:cNvSpPr/>
          <p:nvPr/>
        </p:nvSpPr>
        <p:spPr>
          <a:xfrm>
            <a:off x="658368" y="2706624"/>
            <a:ext cx="10972800" cy="3364992"/>
          </a:xfrm>
          <a:prstGeom prst="rect">
            <a:avLst/>
          </a:prstGeom>
          <a:solidFill>
            <a:srgbClr val="1D232D"/>
          </a:solidFill>
          <a:ln>
            <a:solidFill>
              <a:srgbClr val="1D232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64592" rIns="164592" tIns="109728" bIns="36576"/>
          <a:lstStyle/>
          <a:p>
            <a:pPr algn="l">
              <a:spcAft>
                <a:spcPts val="0"/>
              </a:spcAft>
              <a:defRPr sz="1400" b="0">
                <a:solidFill>
                  <a:srgbClr val="FFFFFF"/>
                </a:solidFill>
                <a:latin typeface="DejaVu Sans Mono"/>
              </a:defRPr>
            </a:pPr>
            <a:r>
              <a:t>import rclpy</a:t>
            </a:r>
            <a:br/>
            <a:r>
              <a:t>from rclpy.node import Node</a:t>
            </a:r>
            <a:br/>
            <a:r>
              <a:t>from geometry_msgs.msg import Twist</a:t>
            </a:r>
            <a:br/>
            <a:br/>
            <a:r>
              <a:t>class CmdTestNode(Node):</a:t>
            </a:r>
            <a:br/>
            <a:br/>
            <a:r>
              <a:t>    def __init__(self):</a:t>
            </a:r>
            <a:br/>
            <a:r>
              <a:t>        super().__init__('cmd_test_node')</a:t>
            </a:r>
            <a:br/>
            <a:r>
              <a:t>        self.declare_parameter('linear_speed', 0.15)</a:t>
            </a:r>
            <a:br/>
            <a:r>
              <a:t>        self.declare_parameter('angular_speed', 0.0)</a:t>
            </a:r>
            <a:br/>
            <a:r>
              <a:t>        self.publisher = self.create_publisher(Twist, '/cmd_vel', 10)</a:t>
            </a:r>
            <a:br/>
            <a:r>
              <a:t>        self.remaining = 30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749808" y="6181344"/>
            <a:ext cx="1078992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000" b="0">
                <a:solidFill>
                  <a:srgbClr val="5C6672"/>
                </a:solidFill>
                <a:latin typeface="Noto Sans CJK KR"/>
              </a:defRPr>
            </a:pPr>
            <a:r>
              <a:t>파일 전체 1/3 · 이 슬라이드 다음에 같은 파일의 나머지 줄이 이어집니다.</a:t>
            </a:r>
          </a:p>
        </p:txBody>
      </p:sp>
    </p:spTree>
  </p:cSld>
  <p:clrMapOvr>
    <a:masterClrMapping/>
  </p:clrMapOvr>
</p:sld>
</file>

<file path=ppt/slides/slide3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66928" y="347472"/>
            <a:ext cx="10881360" cy="438912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3200" b="1">
                <a:solidFill>
                  <a:srgbClr val="122C4E"/>
                </a:solidFill>
                <a:latin typeface="Noto Sans CJK KR"/>
              </a:defRPr>
            </a:pPr>
            <a:r>
              <a:t>파일을 계속 작성하고 저장한다 (2/3)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03504" y="859536"/>
            <a:ext cx="10698480" cy="29260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700" b="0">
                <a:solidFill>
                  <a:srgbClr val="5C6672"/>
                </a:solidFill>
                <a:latin typeface="Noto Sans CJK KR"/>
              </a:defRPr>
            </a:pPr>
            <a:r>
              <a:t>~/agv_ws/src/agv_control/agv_control/cmd_test_node.py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30352" y="6510528"/>
            <a:ext cx="777240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000" b="0">
                <a:solidFill>
                  <a:srgbClr val="5C6672"/>
                </a:solidFill>
                <a:latin typeface="Noto Sans CJK KR"/>
              </a:defRPr>
            </a:pPr>
            <a:r>
              <a:t>ROS 2 Jazzy · Gazebo Harmonic · M09 · 따라 하기형 AGV 실습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144000" y="6510528"/>
            <a:ext cx="246888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r">
              <a:spcAft>
                <a:spcPts val="0"/>
              </a:spcAft>
              <a:defRPr sz="1000" b="0">
                <a:solidFill>
                  <a:srgbClr val="5C6672"/>
                </a:solidFill>
                <a:latin typeface="Noto Sans CJK KR"/>
              </a:defRPr>
            </a:pPr>
            <a:r>
              <a:t>명령·파일 경로는 슬라이드에서 복사 가능</a:t>
            </a:r>
          </a:p>
        </p:txBody>
      </p:sp>
      <p:sp>
        <p:nvSpPr>
          <p:cNvPr id="6" name="Rectangle 5"/>
          <p:cNvSpPr/>
          <p:nvPr/>
        </p:nvSpPr>
        <p:spPr>
          <a:xfrm>
            <a:off x="566928" y="1188720"/>
            <a:ext cx="11064240" cy="347472"/>
          </a:xfrm>
          <a:prstGeom prst="rect">
            <a:avLst/>
          </a:prstGeom>
          <a:solidFill>
            <a:srgbClr val="F4F7FB"/>
          </a:solidFill>
          <a:ln>
            <a:solidFill>
              <a:srgbClr val="F4F7F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l">
              <a:spcAft>
                <a:spcPts val="0"/>
              </a:spcAft>
              <a:defRPr sz="1300" b="1">
                <a:solidFill>
                  <a:srgbClr val="122C4E"/>
                </a:solidFill>
                <a:latin typeface="Noto Sans CJK KR"/>
              </a:defRPr>
            </a:pPr>
            <a:r>
              <a:t>현재 단계 28/30    |    현재 폴더 ~/agv_ws    |    현재 터미널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58368" y="1627632"/>
            <a:ext cx="10972800" cy="256032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500" b="1">
                <a:solidFill>
                  <a:srgbClr val="122C4E"/>
                </a:solidFill>
                <a:latin typeface="Noto Sans CJK KR"/>
              </a:defRPr>
            </a:pPr>
            <a:r>
              <a:t>이번 단계: 파일의 전체 내용을 중간 생략 없이 작성합니다. 아래 줄 범위를 끝까지 입력하세요.</a:t>
            </a:r>
          </a:p>
        </p:txBody>
      </p:sp>
      <p:sp>
        <p:nvSpPr>
          <p:cNvPr id="8" name="Rectangle 7"/>
          <p:cNvSpPr/>
          <p:nvPr/>
        </p:nvSpPr>
        <p:spPr>
          <a:xfrm>
            <a:off x="658368" y="1956816"/>
            <a:ext cx="10972800" cy="603504"/>
          </a:xfrm>
          <a:prstGeom prst="rect">
            <a:avLst/>
          </a:prstGeom>
          <a:solidFill>
            <a:srgbClr val="F4F7FB"/>
          </a:solidFill>
          <a:ln>
            <a:solidFill>
              <a:srgbClr val="F4F7F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l">
              <a:spcAft>
                <a:spcPts val="0"/>
              </a:spcAft>
              <a:defRPr sz="1400" b="0">
                <a:solidFill>
                  <a:srgbClr val="122C4E"/>
                </a:solidFill>
                <a:latin typeface="DejaVu Sans Mono"/>
              </a:defRPr>
            </a:pPr>
            <a:r>
              <a:t>파일 생성: mkdir -p ~/agv_ws/src/agv_control/agv_control</a:t>
            </a:r>
            <a:br/>
            <a:r>
              <a:t>파일 열기: nano ~/agv_ws/src/agv_control/agv_control/cmd_test_node.py</a:t>
            </a:r>
          </a:p>
        </p:txBody>
      </p:sp>
      <p:sp>
        <p:nvSpPr>
          <p:cNvPr id="9" name="Rectangle 8"/>
          <p:cNvSpPr/>
          <p:nvPr/>
        </p:nvSpPr>
        <p:spPr>
          <a:xfrm>
            <a:off x="658368" y="2706624"/>
            <a:ext cx="10972800" cy="3364992"/>
          </a:xfrm>
          <a:prstGeom prst="rect">
            <a:avLst/>
          </a:prstGeom>
          <a:solidFill>
            <a:srgbClr val="1D232D"/>
          </a:solidFill>
          <a:ln>
            <a:solidFill>
              <a:srgbClr val="1D232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64592" rIns="164592" tIns="109728" bIns="36576"/>
          <a:lstStyle/>
          <a:p>
            <a:pPr algn="l">
              <a:spcAft>
                <a:spcPts val="0"/>
              </a:spcAft>
              <a:defRPr sz="1400" b="0">
                <a:solidFill>
                  <a:srgbClr val="FFFFFF"/>
                </a:solidFill>
                <a:latin typeface="DejaVu Sans Mono"/>
              </a:defRPr>
            </a:pPr>
            <a:r>
              <a:t>        self.create_timer(0.1, self.publish_once)</a:t>
            </a:r>
            <a:br/>
            <a:br/>
            <a:r>
              <a:t>    def publish_once(self):</a:t>
            </a:r>
            <a:br/>
            <a:r>
              <a:t>        command = Twist()</a:t>
            </a:r>
            <a:br/>
            <a:r>
              <a:t>        if self.remaining &gt; 0:</a:t>
            </a:r>
            <a:br/>
            <a:r>
              <a:t>            command.linear.x = self.get_parameter('linear_speed').value</a:t>
            </a:r>
            <a:br/>
            <a:r>
              <a:t>            command.angular.z = self.get_parameter('angular_speed').value</a:t>
            </a:r>
            <a:br/>
            <a:r>
              <a:t>            self.remaining -= 1</a:t>
            </a:r>
            <a:br/>
            <a:r>
              <a:t>        self.publisher.publish(command)</a:t>
            </a:r>
            <a:br/>
            <a:r>
              <a:t>        if self.remaining == 0:</a:t>
            </a:r>
            <a:br/>
            <a:r>
              <a:t>            self.get_logger().info('test command finished; publishing zero Twist')</a:t>
            </a:r>
            <a:br/>
            <a:r>
              <a:t>            self.remaining = -1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749808" y="6181344"/>
            <a:ext cx="1078992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000" b="0">
                <a:solidFill>
                  <a:srgbClr val="5C6672"/>
                </a:solidFill>
                <a:latin typeface="Noto Sans CJK KR"/>
              </a:defRPr>
            </a:pPr>
            <a:r>
              <a:t>파일 전체 2/3 · 이 슬라이드 다음에 같은 파일의 나머지 줄이 이어집니다.</a:t>
            </a:r>
          </a:p>
        </p:txBody>
      </p:sp>
    </p:spTree>
  </p:cSld>
  <p:clrMapOvr>
    <a:masterClrMapping/>
  </p:clrMapOvr>
</p:sld>
</file>

<file path=ppt/slides/slide3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66928" y="347472"/>
            <a:ext cx="10881360" cy="438912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3200" b="1">
                <a:solidFill>
                  <a:srgbClr val="122C4E"/>
                </a:solidFill>
                <a:latin typeface="Noto Sans CJK KR"/>
              </a:defRPr>
            </a:pPr>
            <a:r>
              <a:t>파일을 계속 작성하고 저장한다 (3/3)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03504" y="859536"/>
            <a:ext cx="10698480" cy="29260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700" b="0">
                <a:solidFill>
                  <a:srgbClr val="5C6672"/>
                </a:solidFill>
                <a:latin typeface="Noto Sans CJK KR"/>
              </a:defRPr>
            </a:pPr>
            <a:r>
              <a:t>~/agv_ws/src/agv_control/agv_control/cmd_test_node.py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30352" y="6510528"/>
            <a:ext cx="777240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000" b="0">
                <a:solidFill>
                  <a:srgbClr val="5C6672"/>
                </a:solidFill>
                <a:latin typeface="Noto Sans CJK KR"/>
              </a:defRPr>
            </a:pPr>
            <a:r>
              <a:t>ROS 2 Jazzy · Gazebo Harmonic · M09 · 따라 하기형 AGV 실습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144000" y="6510528"/>
            <a:ext cx="246888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r">
              <a:spcAft>
                <a:spcPts val="0"/>
              </a:spcAft>
              <a:defRPr sz="1000" b="0">
                <a:solidFill>
                  <a:srgbClr val="5C6672"/>
                </a:solidFill>
                <a:latin typeface="Noto Sans CJK KR"/>
              </a:defRPr>
            </a:pPr>
            <a:r>
              <a:t>명령·파일 경로는 슬라이드에서 복사 가능</a:t>
            </a:r>
          </a:p>
        </p:txBody>
      </p:sp>
      <p:sp>
        <p:nvSpPr>
          <p:cNvPr id="6" name="Rectangle 5"/>
          <p:cNvSpPr/>
          <p:nvPr/>
        </p:nvSpPr>
        <p:spPr>
          <a:xfrm>
            <a:off x="566928" y="1188720"/>
            <a:ext cx="11064240" cy="347472"/>
          </a:xfrm>
          <a:prstGeom prst="rect">
            <a:avLst/>
          </a:prstGeom>
          <a:solidFill>
            <a:srgbClr val="F4F7FB"/>
          </a:solidFill>
          <a:ln>
            <a:solidFill>
              <a:srgbClr val="F4F7F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l">
              <a:spcAft>
                <a:spcPts val="0"/>
              </a:spcAft>
              <a:defRPr sz="1300" b="1">
                <a:solidFill>
                  <a:srgbClr val="122C4E"/>
                </a:solidFill>
                <a:latin typeface="Noto Sans CJK KR"/>
              </a:defRPr>
            </a:pPr>
            <a:r>
              <a:t>현재 단계 29/30    |    현재 폴더 ~/agv_ws    |    현재 터미널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58368" y="1627632"/>
            <a:ext cx="10972800" cy="256032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500" b="1">
                <a:solidFill>
                  <a:srgbClr val="122C4E"/>
                </a:solidFill>
                <a:latin typeface="Noto Sans CJK KR"/>
              </a:defRPr>
            </a:pPr>
            <a:r>
              <a:t>이번 단계: 파일의 전체 내용을 중간 생략 없이 작성합니다. 아래 줄 범위를 끝까지 입력하세요.</a:t>
            </a:r>
          </a:p>
        </p:txBody>
      </p:sp>
      <p:sp>
        <p:nvSpPr>
          <p:cNvPr id="8" name="Rectangle 7"/>
          <p:cNvSpPr/>
          <p:nvPr/>
        </p:nvSpPr>
        <p:spPr>
          <a:xfrm>
            <a:off x="658368" y="1956816"/>
            <a:ext cx="10972800" cy="603504"/>
          </a:xfrm>
          <a:prstGeom prst="rect">
            <a:avLst/>
          </a:prstGeom>
          <a:solidFill>
            <a:srgbClr val="F4F7FB"/>
          </a:solidFill>
          <a:ln>
            <a:solidFill>
              <a:srgbClr val="F4F7F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l">
              <a:spcAft>
                <a:spcPts val="0"/>
              </a:spcAft>
              <a:defRPr sz="1400" b="0">
                <a:solidFill>
                  <a:srgbClr val="122C4E"/>
                </a:solidFill>
                <a:latin typeface="DejaVu Sans Mono"/>
              </a:defRPr>
            </a:pPr>
            <a:r>
              <a:t>파일 생성: mkdir -p ~/agv_ws/src/agv_control/agv_control</a:t>
            </a:r>
            <a:br/>
            <a:r>
              <a:t>파일 열기: nano ~/agv_ws/src/agv_control/agv_control/cmd_test_node.py</a:t>
            </a:r>
          </a:p>
        </p:txBody>
      </p:sp>
      <p:sp>
        <p:nvSpPr>
          <p:cNvPr id="9" name="Rectangle 8"/>
          <p:cNvSpPr/>
          <p:nvPr/>
        </p:nvSpPr>
        <p:spPr>
          <a:xfrm>
            <a:off x="658368" y="2706624"/>
            <a:ext cx="10972800" cy="3364992"/>
          </a:xfrm>
          <a:prstGeom prst="rect">
            <a:avLst/>
          </a:prstGeom>
          <a:solidFill>
            <a:srgbClr val="1D232D"/>
          </a:solidFill>
          <a:ln>
            <a:solidFill>
              <a:srgbClr val="1D232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64592" rIns="164592" tIns="109728" bIns="36576"/>
          <a:lstStyle/>
          <a:p>
            <a:pPr algn="l">
              <a:spcAft>
                <a:spcPts val="0"/>
              </a:spcAft>
              <a:defRPr sz="1400" b="0">
                <a:solidFill>
                  <a:srgbClr val="FFFFFF"/>
                </a:solidFill>
                <a:latin typeface="DejaVu Sans Mono"/>
              </a:defRPr>
            </a:pPr>
            <a:br/>
            <a:r>
              <a:t>def main():</a:t>
            </a:r>
            <a:br/>
            <a:r>
              <a:t>    rclpy.init()</a:t>
            </a:r>
            <a:br/>
            <a:r>
              <a:t>    node = CmdTestNode()</a:t>
            </a:r>
            <a:br/>
            <a:r>
              <a:t>    try:</a:t>
            </a:r>
            <a:br/>
            <a:r>
              <a:t>        rclpy.spin(node)</a:t>
            </a:r>
            <a:br/>
            <a:r>
              <a:t>    except KeyboardInterrupt:</a:t>
            </a:r>
            <a:br/>
            <a:r>
              <a:t>        pass</a:t>
            </a:r>
            <a:br/>
            <a:r>
              <a:t>    finally:</a:t>
            </a:r>
            <a:br/>
            <a:r>
              <a:t>        node.destroy_node()</a:t>
            </a:r>
            <a:br/>
            <a:r>
              <a:t>        if rclpy.ok():</a:t>
            </a:r>
            <a:br/>
            <a:r>
              <a:t>            rclpy.shutdown()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749808" y="6181344"/>
            <a:ext cx="1078992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000" b="0">
                <a:solidFill>
                  <a:srgbClr val="5C6672"/>
                </a:solidFill>
                <a:latin typeface="Noto Sans CJK KR"/>
              </a:defRPr>
            </a:pPr>
            <a:r>
              <a:t>파일 전체 3/3 · 이 슬라이드 다음에 같은 파일의 나머지 줄이 이어집니다.</a:t>
            </a:r>
          </a:p>
        </p:txBody>
      </p:sp>
    </p:spTree>
  </p:cSld>
  <p:clrMapOvr>
    <a:masterClrMapping/>
  </p:clrMapOvr>
</p:sld>
</file>

<file path=ppt/slides/slide3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66928" y="347472"/>
            <a:ext cx="10881360" cy="438912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3200" b="1">
                <a:solidFill>
                  <a:srgbClr val="122C4E"/>
                </a:solidFill>
                <a:latin typeface="Noto Sans CJK KR"/>
              </a:defRPr>
            </a:pPr>
            <a:r>
              <a:t>build → source → run 순서로 실행한다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03504" y="859536"/>
            <a:ext cx="10698480" cy="29260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700" b="0">
                <a:solidFill>
                  <a:srgbClr val="5C6672"/>
                </a:solidFill>
                <a:latin typeface="Noto Sans CJK KR"/>
              </a:defRPr>
            </a:pPr>
            <a:r>
              <a:t>새 파일 또는 수정 파일은 build와 source 뒤에만 실행 이름·설정에 반영됩니다.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30352" y="6510528"/>
            <a:ext cx="777240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000" b="0">
                <a:solidFill>
                  <a:srgbClr val="5C6672"/>
                </a:solidFill>
                <a:latin typeface="Noto Sans CJK KR"/>
              </a:defRPr>
            </a:pPr>
            <a:r>
              <a:t>ROS 2 Jazzy · Gazebo Harmonic · M09 · 따라 하기형 AGV 실습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144000" y="6510528"/>
            <a:ext cx="246888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r">
              <a:spcAft>
                <a:spcPts val="0"/>
              </a:spcAft>
              <a:defRPr sz="1000" b="0">
                <a:solidFill>
                  <a:srgbClr val="5C6672"/>
                </a:solidFill>
                <a:latin typeface="Noto Sans CJK KR"/>
              </a:defRPr>
            </a:pPr>
            <a:r>
              <a:t>명령·파일 경로는 슬라이드에서 복사 가능</a:t>
            </a:r>
          </a:p>
        </p:txBody>
      </p:sp>
      <p:sp>
        <p:nvSpPr>
          <p:cNvPr id="6" name="Rectangle 5"/>
          <p:cNvSpPr/>
          <p:nvPr/>
        </p:nvSpPr>
        <p:spPr>
          <a:xfrm>
            <a:off x="566928" y="1188720"/>
            <a:ext cx="11064240" cy="347472"/>
          </a:xfrm>
          <a:prstGeom prst="rect">
            <a:avLst/>
          </a:prstGeom>
          <a:solidFill>
            <a:srgbClr val="F4F7FB"/>
          </a:solidFill>
          <a:ln>
            <a:solidFill>
              <a:srgbClr val="F4F7F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l">
              <a:spcAft>
                <a:spcPts val="0"/>
              </a:spcAft>
              <a:defRPr sz="1300" b="1">
                <a:solidFill>
                  <a:srgbClr val="122C4E"/>
                </a:solidFill>
                <a:latin typeface="Noto Sans CJK KR"/>
              </a:defRPr>
            </a:pPr>
            <a:r>
              <a:t>현재 단계 실행    |    현재 폴더 ~/agv_ws    |    현재 터미널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658368" y="1700784"/>
            <a:ext cx="10972800" cy="3182112"/>
          </a:xfrm>
          <a:prstGeom prst="roundRect">
            <a:avLst/>
          </a:prstGeom>
          <a:solidFill>
            <a:srgbClr val="1D232D"/>
          </a:solidFill>
          <a:ln>
            <a:solidFill>
              <a:srgbClr val="1D232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l">
              <a:spcAft>
                <a:spcPts val="0"/>
              </a:spcAft>
              <a:defRPr sz="1600" b="0">
                <a:solidFill>
                  <a:srgbClr val="FFFFFF"/>
                </a:solidFill>
                <a:latin typeface="DejaVu Sans Mono"/>
              </a:defRPr>
            </a:pPr>
            <a:r>
              <a:t>ros2 launch agv_gazebo gazebo.launch.py</a:t>
            </a:r>
            <a:br/>
            <a:r>
              <a:t># 새 터미널: ros2 run agv_control cmd_test_node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786384" y="5239512"/>
            <a:ext cx="1261872" cy="237744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800" b="1">
                <a:solidFill>
                  <a:srgbClr val="2A8B5A"/>
                </a:solidFill>
                <a:latin typeface="Noto Sans CJK KR"/>
              </a:defRPr>
            </a:pPr>
            <a:r>
              <a:t>확인 기준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786384" y="5532120"/>
            <a:ext cx="10469880" cy="420624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800" b="0">
                <a:solidFill>
                  <a:srgbClr val="122C4E"/>
                </a:solidFill>
                <a:latin typeface="Noto Sans CJK KR"/>
              </a:defRPr>
            </a:pPr>
            <a:r>
              <a:t>/cmd_vel에서 odom과 바퀴 구동 topic으로 이어지는 경로를 확인한다.</a:t>
            </a:r>
          </a:p>
        </p:txBody>
      </p:sp>
    </p:spTree>
  </p:cSld>
  <p:clrMapOvr>
    <a:masterClrMapping/>
  </p:clrMapOvr>
</p:sld>
</file>

<file path=ppt/slides/slide3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66928" y="347472"/>
            <a:ext cx="10881360" cy="438912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3200" b="1">
                <a:solidFill>
                  <a:srgbClr val="122C4E"/>
                </a:solidFill>
                <a:latin typeface="Noto Sans CJK KR"/>
              </a:defRPr>
            </a:pPr>
            <a:r>
              <a:t>정상 결과: 실제 환경에서 확인한 출력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03504" y="859536"/>
            <a:ext cx="10698480" cy="29260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700" b="0">
                <a:solidFill>
                  <a:srgbClr val="5C6672"/>
                </a:solidFill>
                <a:latin typeface="Noto Sans CJK KR"/>
              </a:defRPr>
            </a:pPr>
            <a:r>
              <a:t>실제 ROS 2 환경의 파일·패키지·구성 검증 로그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30352" y="6510528"/>
            <a:ext cx="777240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000" b="0">
                <a:solidFill>
                  <a:srgbClr val="5C6672"/>
                </a:solidFill>
                <a:latin typeface="Noto Sans CJK KR"/>
              </a:defRPr>
            </a:pPr>
            <a:r>
              <a:t>ROS 2 Jazzy · Gazebo Harmonic · M09 · 따라 하기형 AGV 실습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144000" y="6510528"/>
            <a:ext cx="246888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r">
              <a:spcAft>
                <a:spcPts val="0"/>
              </a:spcAft>
              <a:defRPr sz="1000" b="0">
                <a:solidFill>
                  <a:srgbClr val="5C6672"/>
                </a:solidFill>
                <a:latin typeface="Noto Sans CJK KR"/>
              </a:defRPr>
            </a:pPr>
            <a:r>
              <a:t>명령·파일 경로는 슬라이드에서 복사 가능</a:t>
            </a:r>
          </a:p>
        </p:txBody>
      </p:sp>
      <p:pic>
        <p:nvPicPr>
          <p:cNvPr id="6" name="Picture 5" descr="validation_terminal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90956" y="1884338"/>
            <a:ext cx="10607040" cy="3738546"/>
          </a:xfrm>
          <a:prstGeom prst="rect">
            <a:avLst/>
          </a:prstGeom>
        </p:spPr>
      </p:pic>
      <p:sp>
        <p:nvSpPr>
          <p:cNvPr id="7" name="TextBox 6"/>
          <p:cNvSpPr txBox="1"/>
          <p:nvPr/>
        </p:nvSpPr>
        <p:spPr>
          <a:xfrm>
            <a:off x="777240" y="6217920"/>
            <a:ext cx="10607040" cy="182880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ctr">
              <a:spcAft>
                <a:spcPts val="0"/>
              </a:spcAft>
              <a:defRPr sz="1100" b="1">
                <a:solidFill>
                  <a:srgbClr val="2A8B5A"/>
                </a:solidFill>
                <a:latin typeface="Noto Sans CJK KR"/>
              </a:defRPr>
            </a:pPr>
            <a:r>
              <a:t>① 명령/설정  ② 정상 출력 또는 화면  ③ 다음 검증 명령으로 재확인</a:t>
            </a:r>
          </a:p>
        </p:txBody>
      </p:sp>
    </p:spTree>
  </p:cSld>
  <p:clrMapOvr>
    <a:masterClrMapping/>
  </p:clrMapOvr>
</p:sld>
</file>

<file path=ppt/slides/slide3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66928" y="347472"/>
            <a:ext cx="10881360" cy="438912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3200" b="1">
                <a:solidFill>
                  <a:srgbClr val="122C4E"/>
                </a:solidFill>
                <a:latin typeface="Noto Sans CJK KR"/>
              </a:defRPr>
            </a:pPr>
            <a:r>
              <a:t>객관적 검증 명령으로 완료를 확인한다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03504" y="859536"/>
            <a:ext cx="10698480" cy="29260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700" b="0">
                <a:solidFill>
                  <a:srgbClr val="5C6672"/>
                </a:solidFill>
                <a:latin typeface="Noto Sans CJK KR"/>
              </a:defRPr>
            </a:pPr>
            <a:r>
              <a:t>화면만 보지 말고 topic·frame·파일·parameter를 다시 확인합니다.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30352" y="6510528"/>
            <a:ext cx="777240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000" b="0">
                <a:solidFill>
                  <a:srgbClr val="5C6672"/>
                </a:solidFill>
                <a:latin typeface="Noto Sans CJK KR"/>
              </a:defRPr>
            </a:pPr>
            <a:r>
              <a:t>ROS 2 Jazzy · Gazebo Harmonic · M09 · 따라 하기형 AGV 실습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144000" y="6510528"/>
            <a:ext cx="246888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r">
              <a:spcAft>
                <a:spcPts val="0"/>
              </a:spcAft>
              <a:defRPr sz="1000" b="0">
                <a:solidFill>
                  <a:srgbClr val="5C6672"/>
                </a:solidFill>
                <a:latin typeface="Noto Sans CJK KR"/>
              </a:defRPr>
            </a:pPr>
            <a:r>
              <a:t>명령·파일 경로는 슬라이드에서 복사 가능</a:t>
            </a:r>
          </a:p>
        </p:txBody>
      </p:sp>
      <p:sp>
        <p:nvSpPr>
          <p:cNvPr id="6" name="Rectangle 5"/>
          <p:cNvSpPr/>
          <p:nvPr/>
        </p:nvSpPr>
        <p:spPr>
          <a:xfrm>
            <a:off x="566928" y="1188720"/>
            <a:ext cx="11064240" cy="347472"/>
          </a:xfrm>
          <a:prstGeom prst="rect">
            <a:avLst/>
          </a:prstGeom>
          <a:solidFill>
            <a:srgbClr val="F4F7FB"/>
          </a:solidFill>
          <a:ln>
            <a:solidFill>
              <a:srgbClr val="F4F7F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l">
              <a:spcAft>
                <a:spcPts val="0"/>
              </a:spcAft>
              <a:defRPr sz="1300" b="1">
                <a:solidFill>
                  <a:srgbClr val="122C4E"/>
                </a:solidFill>
                <a:latin typeface="Noto Sans CJK KR"/>
              </a:defRPr>
            </a:pPr>
            <a:r>
              <a:t>현재 단계 검증    |    현재 폴더 ~/agv_ws    |    현재 터미널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658368" y="1755648"/>
            <a:ext cx="10972800" cy="2148840"/>
          </a:xfrm>
          <a:prstGeom prst="roundRect">
            <a:avLst/>
          </a:prstGeom>
          <a:solidFill>
            <a:srgbClr val="1D232D"/>
          </a:solidFill>
          <a:ln>
            <a:solidFill>
              <a:srgbClr val="1D232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l">
              <a:spcAft>
                <a:spcPts val="0"/>
              </a:spcAft>
              <a:defRPr sz="1600" b="0">
                <a:solidFill>
                  <a:srgbClr val="FFFFFF"/>
                </a:solidFill>
                <a:latin typeface="DejaVu Sans Mono"/>
              </a:defRPr>
            </a:pPr>
            <a:r>
              <a:t>ros2 topic info /cmd_vel</a:t>
            </a:r>
            <a:br/>
            <a:r>
              <a:t>ros2 topic echo /odom --once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58368" y="4206240"/>
            <a:ext cx="10972800" cy="1554480"/>
          </a:xfrm>
          <a:prstGeom prst="roundRect">
            <a:avLst/>
          </a:prstGeom>
          <a:solidFill>
            <a:srgbClr val="F4F7FB"/>
          </a:solidFill>
          <a:ln>
            <a:solidFill>
              <a:srgbClr val="D1DFD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l">
              <a:spcAft>
                <a:spcPts val="0"/>
              </a:spcAft>
              <a:defRPr sz="1800" b="1">
                <a:solidFill>
                  <a:srgbClr val="2A8B5A"/>
                </a:solidFill>
                <a:latin typeface="Noto Sans CJK KR"/>
              </a:defRPr>
            </a:pPr>
            <a:r>
              <a:t>완료 체크</a:t>
            </a:r>
            <a:br/>
            <a:r>
              <a:t>□ 명령이 오류 없이 실행된다.</a:t>
            </a:r>
            <a:br/>
            <a:r>
              <a:t>□ 기대한 파일·topic·frame·parameter 이름이 보인다.</a:t>
            </a:r>
            <a:br/>
            <a:r>
              <a:t>□ 값의 단위와 방향을 한 문장으로 설명할 수 있다.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731520" y="5989320"/>
            <a:ext cx="10789920" cy="237744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500" b="1">
                <a:solidFill>
                  <a:srgbClr val="122C4E"/>
                </a:solidFill>
                <a:latin typeface="Noto Sans CJK KR"/>
              </a:defRPr>
            </a:pPr>
            <a:r>
              <a:t>완료 조건: /cmd_vel에서 odom과 바퀴 구동 topic으로 이어지는 경로를 확인한다.</a:t>
            </a:r>
          </a:p>
        </p:txBody>
      </p:sp>
    </p:spTree>
  </p:cSld>
  <p:clrMapOvr>
    <a:masterClrMapping/>
  </p:clrMapOvr>
</p:sld>
</file>

<file path=ppt/slides/slide3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66928" y="347472"/>
            <a:ext cx="10881360" cy="438912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3200" b="1">
                <a:solidFill>
                  <a:srgbClr val="122C4E"/>
                </a:solidFill>
                <a:latin typeface="Noto Sans CJK KR"/>
              </a:defRPr>
            </a:pPr>
            <a:r>
              <a:t>막히면: 증상 → 우선 확인 → 재검증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03504" y="859536"/>
            <a:ext cx="10698480" cy="29260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700" b="0">
                <a:solidFill>
                  <a:srgbClr val="5C6672"/>
                </a:solidFill>
                <a:latin typeface="Noto Sans CJK KR"/>
              </a:defRPr>
            </a:pPr>
            <a:r>
              <a:t>오류 메시지를 숨기지 않고 같은 순서로 점검합니다.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30352" y="6510528"/>
            <a:ext cx="777240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000" b="0">
                <a:solidFill>
                  <a:srgbClr val="5C6672"/>
                </a:solidFill>
                <a:latin typeface="Noto Sans CJK KR"/>
              </a:defRPr>
            </a:pPr>
            <a:r>
              <a:t>ROS 2 Jazzy · Gazebo Harmonic · M09 · 따라 하기형 AGV 실습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144000" y="6510528"/>
            <a:ext cx="246888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r">
              <a:spcAft>
                <a:spcPts val="0"/>
              </a:spcAft>
              <a:defRPr sz="1000" b="0">
                <a:solidFill>
                  <a:srgbClr val="5C6672"/>
                </a:solidFill>
                <a:latin typeface="Noto Sans CJK KR"/>
              </a:defRPr>
            </a:pPr>
            <a:r>
              <a:t>명령·파일 경로는 슬라이드에서 복사 가능</a:t>
            </a:r>
          </a:p>
        </p:txBody>
      </p:sp>
      <p:sp>
        <p:nvSpPr>
          <p:cNvPr id="6" name="Rectangle 5"/>
          <p:cNvSpPr/>
          <p:nvPr/>
        </p:nvSpPr>
        <p:spPr>
          <a:xfrm>
            <a:off x="566928" y="1188720"/>
            <a:ext cx="11064240" cy="347472"/>
          </a:xfrm>
          <a:prstGeom prst="rect">
            <a:avLst/>
          </a:prstGeom>
          <a:solidFill>
            <a:srgbClr val="F4F7FB"/>
          </a:solidFill>
          <a:ln>
            <a:solidFill>
              <a:srgbClr val="F4F7F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l">
              <a:spcAft>
                <a:spcPts val="0"/>
              </a:spcAft>
              <a:defRPr sz="1300" b="1">
                <a:solidFill>
                  <a:srgbClr val="122C4E"/>
                </a:solidFill>
                <a:latin typeface="Noto Sans CJK KR"/>
              </a:defRPr>
            </a:pPr>
            <a:r>
              <a:t>현재 단계 오류 대응    |    현재 폴더 ~/agv_ws    |    현재 터미널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694944" y="1755648"/>
            <a:ext cx="10972800" cy="1115568"/>
          </a:xfrm>
          <a:prstGeom prst="roundRect">
            <a:avLst/>
          </a:prstGeom>
          <a:solidFill>
            <a:srgbClr val="FFF7F4"/>
          </a:solidFill>
          <a:ln>
            <a:solidFill>
              <a:srgbClr val="EDBEB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896112" y="1901952"/>
            <a:ext cx="2926080" cy="274320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800" b="1">
                <a:solidFill>
                  <a:srgbClr val="BE3B3B"/>
                </a:solidFill>
                <a:latin typeface="Noto Sans CJK KR"/>
              </a:defRPr>
            </a:pPr>
            <a:r>
              <a:t>증상 1: 바퀴는 도는데 이동 안 함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3794760" y="1883664"/>
            <a:ext cx="7543800" cy="621792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600" b="0">
                <a:solidFill>
                  <a:srgbClr val="122C4E"/>
                </a:solidFill>
                <a:latin typeface="Noto Sans CJK KR"/>
              </a:defRPr>
            </a:pPr>
            <a:r>
              <a:t>우선 확인: joint axis·friction·contact·wheel radius를 확인한다.</a:t>
            </a:r>
            <a:br/>
            <a:r>
              <a:t>수정 후: ros2 topic info /cmd_vel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694944" y="3172968"/>
            <a:ext cx="10972800" cy="1115568"/>
          </a:xfrm>
          <a:prstGeom prst="roundRect">
            <a:avLst/>
          </a:prstGeom>
          <a:solidFill>
            <a:srgbClr val="FFF7F4"/>
          </a:solidFill>
          <a:ln>
            <a:solidFill>
              <a:srgbClr val="EDBEB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896112" y="3319272"/>
            <a:ext cx="2926080" cy="274320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800" b="1">
                <a:solidFill>
                  <a:srgbClr val="BE3B3B"/>
                </a:solidFill>
                <a:latin typeface="Noto Sans CJK KR"/>
              </a:defRPr>
            </a:pPr>
            <a:r>
              <a:t>증상 2: 회전 방향이 반대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3794760" y="3300984"/>
            <a:ext cx="7543800" cy="621792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600" b="0">
                <a:solidFill>
                  <a:srgbClr val="122C4E"/>
                </a:solidFill>
                <a:latin typeface="Noto Sans CJK KR"/>
              </a:defRPr>
            </a:pPr>
            <a:r>
              <a:t>우선 확인: left/right joint와 angular.z 부호를 확인한다.</a:t>
            </a:r>
            <a:br/>
            <a:r>
              <a:t>수정 후: ros2 topic info /cmd_vel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822960" y="5102352"/>
            <a:ext cx="10607040" cy="402336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ctr">
              <a:spcAft>
                <a:spcPts val="0"/>
              </a:spcAft>
              <a:defRPr sz="1800" b="1">
                <a:solidFill>
                  <a:srgbClr val="DB7E22"/>
                </a:solidFill>
                <a:latin typeface="Noto Sans CJK KR"/>
              </a:defRPr>
            </a:pPr>
            <a:r>
              <a:t>공통 순서: ① 현재 폴더 ② source ③ 파일 경로 ④ 이름/타입/단위 ⑤ build·source 후 재실행</a:t>
            </a:r>
          </a:p>
        </p:txBody>
      </p:sp>
    </p:spTree>
  </p:cSld>
  <p:clrMapOvr>
    <a:masterClrMapping/>
  </p:clrMapOvr>
</p:sld>
</file>

<file path=ppt/slides/slide4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66928" y="347472"/>
            <a:ext cx="10881360" cy="438912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3200" b="1">
                <a:solidFill>
                  <a:srgbClr val="122C4E"/>
                </a:solidFill>
                <a:latin typeface="Noto Sans CJK KR"/>
              </a:defRPr>
            </a:pPr>
            <a:r>
              <a:t>미니 실습: 값 하나를 바꾸고 결과를 비교한다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03504" y="859536"/>
            <a:ext cx="10698480" cy="29260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700" b="0">
                <a:solidFill>
                  <a:srgbClr val="5C6672"/>
                </a:solidFill>
                <a:latin typeface="Noto Sans CJK KR"/>
              </a:defRPr>
            </a:pPr>
            <a:r>
              <a:t>정상 결과를 만든 뒤에는 한 번에 하나의 값만 바꿉니다.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30352" y="6510528"/>
            <a:ext cx="777240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000" b="0">
                <a:solidFill>
                  <a:srgbClr val="5C6672"/>
                </a:solidFill>
                <a:latin typeface="Noto Sans CJK KR"/>
              </a:defRPr>
            </a:pPr>
            <a:r>
              <a:t>ROS 2 Jazzy · Gazebo Harmonic · M09 · 따라 하기형 AGV 실습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144000" y="6510528"/>
            <a:ext cx="246888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r">
              <a:spcAft>
                <a:spcPts val="0"/>
              </a:spcAft>
              <a:defRPr sz="1000" b="0">
                <a:solidFill>
                  <a:srgbClr val="5C6672"/>
                </a:solidFill>
                <a:latin typeface="Noto Sans CJK KR"/>
              </a:defRPr>
            </a:pPr>
            <a:r>
              <a:t>명령·파일 경로는 슬라이드에서 복사 가능</a:t>
            </a:r>
          </a:p>
        </p:txBody>
      </p:sp>
      <p:sp>
        <p:nvSpPr>
          <p:cNvPr id="6" name="Rectangle 5"/>
          <p:cNvSpPr/>
          <p:nvPr/>
        </p:nvSpPr>
        <p:spPr>
          <a:xfrm>
            <a:off x="566928" y="1188720"/>
            <a:ext cx="11064240" cy="347472"/>
          </a:xfrm>
          <a:prstGeom prst="rect">
            <a:avLst/>
          </a:prstGeom>
          <a:solidFill>
            <a:srgbClr val="F4F7FB"/>
          </a:solidFill>
          <a:ln>
            <a:solidFill>
              <a:srgbClr val="F4F7F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l">
              <a:spcAft>
                <a:spcPts val="0"/>
              </a:spcAft>
              <a:defRPr sz="1300" b="1">
                <a:solidFill>
                  <a:srgbClr val="122C4E"/>
                </a:solidFill>
                <a:latin typeface="Noto Sans CJK KR"/>
              </a:defRPr>
            </a:pPr>
            <a:r>
              <a:t>현재 단계 미니 실습    |    현재 폴더 ~/agv_ws    |    현재 터미널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749808" y="1874519"/>
            <a:ext cx="10652760" cy="1993392"/>
          </a:xfrm>
          <a:prstGeom prst="roundRect">
            <a:avLst/>
          </a:prstGeom>
          <a:solidFill>
            <a:srgbClr val="FFF8EB"/>
          </a:solidFill>
          <a:ln>
            <a:solidFill>
              <a:srgbClr val="ECC68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ctr">
              <a:spcAft>
                <a:spcPts val="0"/>
              </a:spcAft>
              <a:defRPr sz="2300" b="1">
                <a:solidFill>
                  <a:srgbClr val="122C4E"/>
                </a:solidFill>
                <a:latin typeface="Noto Sans CJK KR"/>
              </a:defRPr>
            </a:pPr>
            <a:r>
              <a:t>0.15 m/s 직진, 0.4 rad/s 회전, 둘 다 비영 값인 곡선을 각각 2초씩 시험해 경로를 비교한다.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877824" y="4590288"/>
            <a:ext cx="10241280" cy="594360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ctr">
              <a:spcAft>
                <a:spcPts val="0"/>
              </a:spcAft>
              <a:defRPr sz="1900" b="1">
                <a:solidFill>
                  <a:srgbClr val="DB7E22"/>
                </a:solidFill>
                <a:latin typeface="Noto Sans CJK KR"/>
              </a:defRPr>
            </a:pPr>
            <a:r>
              <a:t>기록할 것: 바꾼 값(단위) · 기대한 변화 · 실제 출력/화면 · 원래 값으로 되돌린 결과</a:t>
            </a:r>
          </a:p>
        </p:txBody>
      </p:sp>
    </p:spTree>
  </p:cSld>
  <p:clrMapOvr>
    <a:masterClrMapping/>
  </p:clrMapOvr>
</p:sld>
</file>

<file path=ppt/slides/slide4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66928" y="347472"/>
            <a:ext cx="10881360" cy="438912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3200" b="1">
                <a:solidFill>
                  <a:srgbClr val="122C4E"/>
                </a:solidFill>
                <a:latin typeface="Noto Sans CJK KR"/>
              </a:defRPr>
            </a:pPr>
            <a:r>
              <a:t>체크포인트를 저장하고 다음 모듈로 넘긴다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03504" y="859536"/>
            <a:ext cx="10698480" cy="29260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700" b="0">
                <a:solidFill>
                  <a:srgbClr val="5C6672"/>
                </a:solidFill>
                <a:latin typeface="Noto Sans CJK KR"/>
              </a:defRPr>
            </a:pPr>
            <a:r>
              <a:t>현재 Complete는 다음 Starter의 기준선입니다.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30352" y="6510528"/>
            <a:ext cx="777240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000" b="0">
                <a:solidFill>
                  <a:srgbClr val="5C6672"/>
                </a:solidFill>
                <a:latin typeface="Noto Sans CJK KR"/>
              </a:defRPr>
            </a:pPr>
            <a:r>
              <a:t>ROS 2 Jazzy · Gazebo Harmonic · M09 · 따라 하기형 AGV 실습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144000" y="6510528"/>
            <a:ext cx="246888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r">
              <a:spcAft>
                <a:spcPts val="0"/>
              </a:spcAft>
              <a:defRPr sz="1000" b="0">
                <a:solidFill>
                  <a:srgbClr val="5C6672"/>
                </a:solidFill>
                <a:latin typeface="Noto Sans CJK KR"/>
              </a:defRPr>
            </a:pPr>
            <a:r>
              <a:t>명령·파일 경로는 슬라이드에서 복사 가능</a:t>
            </a:r>
          </a:p>
        </p:txBody>
      </p:sp>
      <p:sp>
        <p:nvSpPr>
          <p:cNvPr id="6" name="Rectangle 5"/>
          <p:cNvSpPr/>
          <p:nvPr/>
        </p:nvSpPr>
        <p:spPr>
          <a:xfrm>
            <a:off x="566928" y="1188720"/>
            <a:ext cx="11064240" cy="347472"/>
          </a:xfrm>
          <a:prstGeom prst="rect">
            <a:avLst/>
          </a:prstGeom>
          <a:solidFill>
            <a:srgbClr val="F4F7FB"/>
          </a:solidFill>
          <a:ln>
            <a:solidFill>
              <a:srgbClr val="F4F7F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l">
              <a:spcAft>
                <a:spcPts val="0"/>
              </a:spcAft>
              <a:defRPr sz="1300" b="1">
                <a:solidFill>
                  <a:srgbClr val="122C4E"/>
                </a:solidFill>
                <a:latin typeface="Noto Sans CJK KR"/>
              </a:defRPr>
            </a:pPr>
            <a:r>
              <a:t>현재 단계 체크포인트    |    현재 폴더 ~/agv_ws    |    현재 터미널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685800" y="1737360"/>
            <a:ext cx="10972800" cy="3611880"/>
          </a:xfrm>
          <a:prstGeom prst="roundRect">
            <a:avLst/>
          </a:prstGeom>
          <a:solidFill>
            <a:srgbClr val="F4F7FB"/>
          </a:solidFill>
          <a:ln>
            <a:solidFill>
              <a:srgbClr val="D2DCE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896112" y="1993392"/>
            <a:ext cx="10332720" cy="2971800"/>
          </a:xfrm>
          <a:prstGeom prst="rect">
            <a:avLst/>
          </a:prstGeom>
          <a:noFill/>
        </p:spPr>
        <p:txBody>
          <a:bodyPr wrap="square" lIns="109728" rIns="109728">
            <a:spAutoFit/>
          </a:bodyPr>
          <a:lstStyle/>
          <a:p>
            <a:pPr>
              <a:spcAft>
                <a:spcPts val="800"/>
              </a:spcAft>
              <a:defRPr sz="1800">
                <a:solidFill>
                  <a:srgbClr val="122C4E"/>
                </a:solidFill>
                <a:latin typeface="Noto Sans CJK KR"/>
              </a:defRPr>
            </a:pPr>
            <a:r>
              <a:t>• □ 완료 화면: /cmd_vel에서 odom과 바퀴 구동 topic으로 이어지는 경로를 확인한다.</a:t>
            </a:r>
          </a:p>
          <a:p>
            <a:pPr>
              <a:spcAft>
                <a:spcPts val="800"/>
              </a:spcAft>
              <a:defRPr sz="1800">
                <a:solidFill>
                  <a:srgbClr val="122C4E"/>
                </a:solidFill>
                <a:latin typeface="Noto Sans CJK KR"/>
              </a:defRPr>
            </a:pPr>
            <a:r>
              <a:t>• □ Complete 파일: blocks/C_drive_visualization/M09_differential_drive/complete/</a:t>
            </a:r>
          </a:p>
          <a:p>
            <a:pPr>
              <a:spcAft>
                <a:spcPts val="800"/>
              </a:spcAft>
              <a:defRPr sz="1800">
                <a:solidFill>
                  <a:srgbClr val="122C4E"/>
                </a:solidFill>
                <a:latin typeface="Noto Sans CJK KR"/>
              </a:defRPr>
            </a:pPr>
            <a:r>
              <a:t>• □ 정상 로그·캡처: logs/validation.log, screenshots/validation_terminal.png</a:t>
            </a:r>
          </a:p>
          <a:p>
            <a:pPr>
              <a:spcAft>
                <a:spcPts val="800"/>
              </a:spcAft>
              <a:defRPr sz="1800">
                <a:solidFill>
                  <a:srgbClr val="122C4E"/>
                </a:solidFill>
                <a:latin typeface="Noto Sans CJK KR"/>
              </a:defRPr>
            </a:pPr>
            <a:r>
              <a:t>• □ 버전 식별: CHECKSUM_or_TAG.txt의 SHA-256 manifest</a:t>
            </a:r>
          </a:p>
          <a:p>
            <a:pPr>
              <a:spcAft>
                <a:spcPts val="800"/>
              </a:spcAft>
              <a:defRPr sz="1800">
                <a:solidFill>
                  <a:srgbClr val="122C4E"/>
                </a:solidFill>
                <a:latin typeface="Noto Sans CJK KR"/>
              </a:defRPr>
            </a:pPr>
            <a:r>
              <a:t>• □ 다음 시작 조건: M10 ros_gz_bridge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868680" y="5596128"/>
            <a:ext cx="10515600" cy="33832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ctr">
              <a:spcAft>
                <a:spcPts val="0"/>
              </a:spcAft>
              <a:defRPr sz="1700" b="1">
                <a:solidFill>
                  <a:srgbClr val="2A8B5A"/>
                </a:solidFill>
                <a:latin typeface="Noto Sans CJK KR"/>
              </a:defRPr>
            </a:pPr>
            <a:r>
              <a:t>다음 모듈을 시작하기 전, 이 슬라이드의 Complete와 다음 모듈의 Starter를 비교합니다.</a:t>
            </a:r>
          </a:p>
        </p:txBody>
      </p:sp>
    </p:spTree>
  </p:cSld>
  <p:clrMapOvr>
    <a:masterClrMapping/>
  </p:clrMapOvr>
</p:sld>
</file>

<file path=ppt/slides/slide4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66928" y="347472"/>
            <a:ext cx="10881360" cy="438912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3200" b="1">
                <a:solidFill>
                  <a:srgbClr val="122C4E"/>
                </a:solidFill>
                <a:latin typeface="Noto Sans CJK KR"/>
              </a:defRPr>
            </a:pPr>
            <a:r>
              <a:t>공식 참고 자료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03504" y="859536"/>
            <a:ext cx="10698480" cy="29260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700" b="0">
                <a:solidFill>
                  <a:srgbClr val="5C6672"/>
                </a:solidFill>
                <a:latin typeface="Noto Sans CJK KR"/>
              </a:defRPr>
            </a:pPr>
            <a:r>
              <a:t>본문 단계는 링크를 열지 않아도 완료할 수 있으며, 링크는 개념을 더 확인할 때만 사용합니다.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30352" y="6510528"/>
            <a:ext cx="777240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000" b="0">
                <a:solidFill>
                  <a:srgbClr val="5C6672"/>
                </a:solidFill>
                <a:latin typeface="Noto Sans CJK KR"/>
              </a:defRPr>
            </a:pPr>
            <a:r>
              <a:t>ROS 2 Jazzy · Gazebo Harmonic · M09 · 따라 하기형 AGV 실습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144000" y="6510528"/>
            <a:ext cx="246888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r">
              <a:spcAft>
                <a:spcPts val="0"/>
              </a:spcAft>
              <a:defRPr sz="1000" b="0">
                <a:solidFill>
                  <a:srgbClr val="5C6672"/>
                </a:solidFill>
                <a:latin typeface="Noto Sans CJK KR"/>
              </a:defRPr>
            </a:pPr>
            <a:r>
              <a:t>명령·파일 경로는 슬라이드에서 복사 가능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658368" y="1554480"/>
            <a:ext cx="10972800" cy="4526280"/>
          </a:xfrm>
          <a:prstGeom prst="roundRect">
            <a:avLst/>
          </a:prstGeom>
          <a:solidFill>
            <a:srgbClr val="F4F7FB"/>
          </a:solidFill>
          <a:ln>
            <a:solidFill>
              <a:srgbClr val="D7DFE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914400" y="1773936"/>
            <a:ext cx="3840480" cy="256032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700" b="1">
                <a:solidFill>
                  <a:srgbClr val="122C4E"/>
                </a:solidFill>
                <a:latin typeface="Noto Sans CJK KR"/>
              </a:defRPr>
            </a:pPr>
            <a:r>
              <a:t>ROS 2 Jazzy — Gazebo Simulation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914400" y="2048255"/>
            <a:ext cx="9966960" cy="47548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000" b="0">
                <a:solidFill>
                  <a:srgbClr val="225B9B"/>
                </a:solidFill>
                <a:latin typeface="DejaVu Sans Mono"/>
              </a:defRPr>
            </a:pPr>
            <a:r>
              <a:t>https://docs.ros.org/en/jazzy/Tutorials/Advanced/Simulators/Gazebo/Simulation-Gazebo.html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914400" y="2852928"/>
            <a:ext cx="3840480" cy="256032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700" b="1">
                <a:solidFill>
                  <a:srgbClr val="122C4E"/>
                </a:solidFill>
                <a:latin typeface="Noto Sans CJK KR"/>
              </a:defRPr>
            </a:pPr>
            <a:r>
              <a:t>ROS 2 Jazzy — URDF / robot_state_publisher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914400" y="3127248"/>
            <a:ext cx="9966960" cy="47548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000" b="0">
                <a:solidFill>
                  <a:srgbClr val="225B9B"/>
                </a:solidFill>
                <a:latin typeface="DejaVu Sans Mono"/>
              </a:defRPr>
            </a:pPr>
            <a:r>
              <a:t>https://docs.ros.org/en/jazzy/Tutorials/Intermediate/URDF/Using-URDF-with-Robot-State-Publisher-py.html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914400" y="3931920"/>
            <a:ext cx="3840480" cy="256032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700" b="1">
                <a:solidFill>
                  <a:srgbClr val="122C4E"/>
                </a:solidFill>
                <a:latin typeface="Noto Sans CJK KR"/>
              </a:defRPr>
            </a:pPr>
            <a:r>
              <a:t>Gazebo — ROS 2 Integration / ros_gz_bridge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914400" y="4206240"/>
            <a:ext cx="9966960" cy="47548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000" b="0">
                <a:solidFill>
                  <a:srgbClr val="225B9B"/>
                </a:solidFill>
                <a:latin typeface="DejaVu Sans Mono"/>
              </a:defRPr>
            </a:pPr>
            <a:r>
              <a:t>https://gazebosim.org/docs/latest/ros2_integration/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914400" y="5010912"/>
            <a:ext cx="3840480" cy="256032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700" b="1">
                <a:solidFill>
                  <a:srgbClr val="122C4E"/>
                </a:solidFill>
                <a:latin typeface="Noto Sans CJK KR"/>
              </a:defRPr>
            </a:pPr>
            <a:r>
              <a:t>ROS 2 Jazzy — rosbag2 Recording and Playback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914400" y="5285232"/>
            <a:ext cx="9966960" cy="47548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000" b="0">
                <a:solidFill>
                  <a:srgbClr val="225B9B"/>
                </a:solidFill>
                <a:latin typeface="DejaVu Sans Mono"/>
              </a:defRPr>
            </a:pPr>
            <a:r>
              <a:t>https://docs.ros.org/en/jazzy/Tutorials/Beginner-CLI-Tools/Recording-And-Playing-Back-Data/Recording-And-Playing-Back-Data.html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