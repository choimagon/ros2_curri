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1508760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3400" b="1">
                <a:solidFill>
                  <a:srgbClr val="173E6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30428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3F5373"/>
                </a:solidFill>
                <a:latin typeface="Noto Sans CJK KR"/>
              </a:defRPr>
            </a:pPr>
            <a:r>
              <a:t>M05 URDF · M06 Xacro · M07 물리 · M08 Gazebo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310896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212B3D"/>
                </a:solidFill>
                <a:latin typeface="Noto Sans CJK KR"/>
              </a:defRPr>
            </a:pPr>
            <a:r>
              <a:t>body, 바퀴, caster, LiDAR, camera, IMU를 가진 AGV 모델을 URDF/Xacro와 SDF로 만든다.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897880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9687E"/>
                </a:solidFill>
                <a:latin typeface="Noto Sans CJK KR"/>
              </a:defRPr>
            </a:pPr>
            <a:r>
              <a:t>실제 실행 결과 캡처 포함 · 한국어 작성 · 최소 글꼴 크기 10pt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만들어진 파일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이 Block에서 실제로 만든 핵심 파일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agv_description/urdf/common.xacro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agv_description/urdf/wheels.xacro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agv_description/urdf/sensors.xacro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agv_gazebo/models/agv/model.sdf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34924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300" b="0">
                <a:solidFill>
                  <a:srgbClr val="3F5373"/>
                </a:solidFill>
                <a:latin typeface="Noto Sans CJK KR"/>
              </a:defRPr>
            </a:pPr>
            <a:r>
              <a:t>모듈별 만드는 방법과 상세 확인 기준은 이 폴더의 Mxx/README.md에 정리되어 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명령어 실행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3268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권장 실행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10972800" cy="4526280"/>
          </a:xfrm>
          <a:prstGeom prst="roundRect">
            <a:avLst/>
          </a:prstGeom>
          <a:solidFill>
            <a:srgbClr val="141C2A"/>
          </a:solidFill>
          <a:ln>
            <a:solidFill>
              <a:srgbClr val="4050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tIns="182880"/>
          <a:lstStyle/>
          <a:p>
            <a:pPr algn="ctr"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cd /home/lab4090/ros2_curri/agv_ws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/opt/ros/jazzy/setup.bash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source install/setup.bash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xacro src/agv_description/urdf/agv.urdf.xacro &gt; /tmp/agv.urdf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check_urdf /tmp/agv.urdf</a:t>
            </a:r>
          </a:p>
          <a:p>
            <a:pPr>
              <a:spcAft>
                <a:spcPts val="700"/>
              </a:spcAft>
              <a:defRPr sz="1100">
                <a:solidFill>
                  <a:srgbClr val="DFEDFF"/>
                </a:solidFill>
                <a:latin typeface="Noto Sans CJK KR"/>
              </a:defRPr>
            </a:pPr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89904"/>
            <a:ext cx="10789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505C70"/>
                </a:solidFill>
                <a:latin typeface="Noto Sans CJK KR"/>
              </a:defRPr>
            </a:pPr>
            <a:r>
              <a:t>명령은 Block README의 순서와 동일합니다. 새 터미널에서도 ROS와 workspace를 source해야 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실제 실행 결과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pic>
        <p:nvPicPr>
          <p:cNvPr id="6" name="Picture 5" descr="block_b_actual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32688"/>
            <a:ext cx="11365992" cy="54223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73E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8046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500" b="1">
                <a:solidFill>
                  <a:srgbClr val="FFFFFF"/>
                </a:solidFill>
                <a:latin typeface="Noto Sans CJK KR"/>
              </a:defRPr>
            </a:pPr>
            <a:r>
              <a:t>Block B — AGV 로봇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182880"/>
            <a:ext cx="34747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DCEAFC"/>
                </a:solidFill>
                <a:latin typeface="Noto Sans CJK KR"/>
              </a:defRPr>
            </a:pPr>
            <a:r>
              <a:t>확인 기준과 다음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56248"/>
            <a:ext cx="1124712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667080"/>
                </a:solidFill>
                <a:latin typeface="Noto Sans CJK KR"/>
              </a:defRPr>
            </a:pPr>
            <a:r>
              <a:t>ROS 2 + Gazebo AGV 실습 · 모든 텍스트 최소 10pt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6012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2100" b="1">
                <a:solidFill>
                  <a:srgbClr val="173E6F"/>
                </a:solidFill>
                <a:latin typeface="Noto Sans CJK KR"/>
              </a:defRPr>
            </a:pPr>
            <a:r>
              <a:t>통과 기준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1069848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check_urdf 출력에 base_footprint → base_link와 두 바퀴·세 센서 link가 보이면 모델 구조가 정상이다. Gazebo에서 바닥 관통이나 진동이 없는지 이어서 확인한다.</a:t>
            </a:r>
          </a:p>
          <a:p>
            <a:pPr>
              <a:spcAft>
                <a:spcPts val="500"/>
              </a:spcAft>
              <a:defRPr sz="1500" b="0">
                <a:solidFill>
                  <a:srgbClr val="212B3D"/>
                </a:solidFill>
                <a:latin typeface="Noto Sans CJK KR"/>
              </a:defRPr>
            </a:pPr>
            <a:r>
              <a:t>• 문제가 생기면 README의 '확인' 명령부터 다시 실행하고, 첫 오류 메시지를 기준으로 수정합니다.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