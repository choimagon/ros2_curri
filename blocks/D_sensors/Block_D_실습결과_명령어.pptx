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73E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1508760"/>
            <a:ext cx="107899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3400" b="1">
                <a:solidFill>
                  <a:srgbClr val="173E6F"/>
                </a:solidFill>
                <a:latin typeface="Noto Sans CJK KR"/>
              </a:defRPr>
            </a:pPr>
            <a:r>
              <a:t>Block D — 센서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2304288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1700" b="0">
                <a:solidFill>
                  <a:srgbClr val="3F5373"/>
                </a:solidFill>
                <a:latin typeface="Noto Sans CJK KR"/>
              </a:defRPr>
            </a:pPr>
            <a:r>
              <a:t>M12 Camera · M13 2D LiDAR · M14 IMU · M15 운영/QoS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3108960"/>
            <a:ext cx="104241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2000" b="0">
                <a:solidFill>
                  <a:srgbClr val="212B3D"/>
                </a:solidFill>
                <a:latin typeface="Noto Sans CJK KR"/>
              </a:defRPr>
            </a:pPr>
            <a:r>
              <a:t>Gazebo 센서를 생성하고 ROS topic, frame_id, /clock, update rate를 관리한다.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5897880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1200" b="0">
                <a:solidFill>
                  <a:srgbClr val="59687E"/>
                </a:solidFill>
                <a:latin typeface="Noto Sans CJK KR"/>
              </a:defRPr>
            </a:pPr>
            <a:r>
              <a:t>실제 실행 결과 캡처 포함 · 한국어 작성 · 최소 글꼴 크기 10pt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173E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37160"/>
            <a:ext cx="8046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2500" b="1">
                <a:solidFill>
                  <a:srgbClr val="FFFFFF"/>
                </a:solidFill>
                <a:latin typeface="Noto Sans CJK KR"/>
              </a:defRPr>
            </a:pPr>
            <a:r>
              <a:t>Block D — 센서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21040" y="182880"/>
            <a:ext cx="34747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1000" b="0">
                <a:solidFill>
                  <a:srgbClr val="DCEAFC"/>
                </a:solidFill>
                <a:latin typeface="Noto Sans CJK KR"/>
              </a:defRPr>
            </a:pPr>
            <a:r>
              <a:t>만들어진 파일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56248"/>
            <a:ext cx="112471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1000" b="0">
                <a:solidFill>
                  <a:srgbClr val="667080"/>
                </a:solidFill>
                <a:latin typeface="Noto Sans CJK KR"/>
              </a:defRPr>
            </a:pPr>
            <a:r>
              <a:t>ROS 2 + Gazebo AGV 실습 · 모든 텍스트 최소 10pt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960120"/>
            <a:ext cx="109728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2100" b="1">
                <a:solidFill>
                  <a:srgbClr val="173E6F"/>
                </a:solidFill>
                <a:latin typeface="Noto Sans CJK KR"/>
              </a:defRPr>
            </a:pPr>
            <a:r>
              <a:t>이 Block에서 실제로 만든 핵심 파일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508760"/>
            <a:ext cx="1069848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1500" b="0">
                <a:solidFill>
                  <a:srgbClr val="212B3D"/>
                </a:solidFill>
                <a:latin typeface="Noto Sans CJK KR"/>
              </a:defRPr>
            </a:pPr>
            <a:r>
              <a:t>• agv_gazebo/models/agv/model.sdf</a:t>
            </a:r>
          </a:p>
          <a:p>
            <a:pPr>
              <a:spcAft>
                <a:spcPts val="500"/>
              </a:spcAft>
              <a:defRPr sz="1500" b="0">
                <a:solidFill>
                  <a:srgbClr val="212B3D"/>
                </a:solidFill>
                <a:latin typeface="Noto Sans CJK KR"/>
              </a:defRPr>
            </a:pPr>
            <a:r>
              <a:t>• agv_gazebo/config/bridge.yaml</a:t>
            </a:r>
          </a:p>
          <a:p>
            <a:pPr>
              <a:spcAft>
                <a:spcPts val="500"/>
              </a:spcAft>
              <a:defRPr sz="1500" b="0">
                <a:solidFill>
                  <a:srgbClr val="212B3D"/>
                </a:solidFill>
                <a:latin typeface="Noto Sans CJK KR"/>
              </a:defRPr>
            </a:pPr>
            <a:r>
              <a:t>• agv_sensors/agv_sensors/lidar_processor.py</a:t>
            </a:r>
          </a:p>
          <a:p>
            <a:pPr>
              <a:spcAft>
                <a:spcPts val="500"/>
              </a:spcAft>
              <a:defRPr sz="1500" b="0">
                <a:solidFill>
                  <a:srgbClr val="212B3D"/>
                </a:solidFill>
                <a:latin typeface="Noto Sans CJK KR"/>
              </a:defRPr>
            </a:pPr>
            <a:r>
              <a:t>• agv_sensors/agv_sensors/imu_monitor.py</a:t>
            </a:r>
          </a:p>
          <a:p>
            <a:pPr>
              <a:spcAft>
                <a:spcPts val="500"/>
              </a:spcAft>
              <a:defRPr sz="1500" b="0">
                <a:solidFill>
                  <a:srgbClr val="212B3D"/>
                </a:solidFill>
                <a:latin typeface="Noto Sans CJK KR"/>
              </a:defRPr>
            </a:pPr>
            <a:r>
              <a:t>• agv_bringup/config/sensors.yaml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349240"/>
            <a:ext cx="10698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1300" b="0">
                <a:solidFill>
                  <a:srgbClr val="3F5373"/>
                </a:solidFill>
                <a:latin typeface="Noto Sans CJK KR"/>
              </a:defRPr>
            </a:pPr>
            <a:r>
              <a:t>모듈별 만드는 방법과 상세 확인 기준은 이 폴더의 Mxx/README.md에 정리되어 있습니다.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173E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37160"/>
            <a:ext cx="8046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2500" b="1">
                <a:solidFill>
                  <a:srgbClr val="FFFFFF"/>
                </a:solidFill>
                <a:latin typeface="Noto Sans CJK KR"/>
              </a:defRPr>
            </a:pPr>
            <a:r>
              <a:t>Block D — 센서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21040" y="182880"/>
            <a:ext cx="34747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1000" b="0">
                <a:solidFill>
                  <a:srgbClr val="DCEAFC"/>
                </a:solidFill>
                <a:latin typeface="Noto Sans CJK KR"/>
              </a:defRPr>
            </a:pPr>
            <a:r>
              <a:t>명령어 실행 순서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56248"/>
            <a:ext cx="112471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1000" b="0">
                <a:solidFill>
                  <a:srgbClr val="667080"/>
                </a:solidFill>
                <a:latin typeface="Noto Sans CJK KR"/>
              </a:defRPr>
            </a:pPr>
            <a:r>
              <a:t>ROS 2 + Gazebo AGV 실습 · 모든 텍스트 최소 10pt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932688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2100" b="1">
                <a:solidFill>
                  <a:srgbClr val="173E6F"/>
                </a:solidFill>
                <a:latin typeface="Noto Sans CJK KR"/>
              </a:defRPr>
            </a:pPr>
            <a:r>
              <a:t>권장 실행 순서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" y="1417320"/>
            <a:ext cx="10972800" cy="4526280"/>
          </a:xfrm>
          <a:prstGeom prst="roundRect">
            <a:avLst/>
          </a:prstGeom>
          <a:solidFill>
            <a:srgbClr val="141C2A"/>
          </a:solidFill>
          <a:ln>
            <a:solidFill>
              <a:srgbClr val="4050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37744" tIns="182880"/>
          <a:lstStyle/>
          <a:p>
            <a:pPr algn="ctr">
              <a:spcAft>
                <a:spcPts val="700"/>
              </a:spcAft>
              <a:defRPr sz="1100">
                <a:solidFill>
                  <a:srgbClr val="DFEDFF"/>
                </a:solidFill>
                <a:latin typeface="Noto Sans CJK KR"/>
              </a:defRPr>
            </a:pPr>
            <a:r>
              <a:t>ros2 launch agv_bringup agv_sim.launch.py rviz:=false</a:t>
            </a:r>
          </a:p>
          <a:p>
            <a:pPr>
              <a:spcAft>
                <a:spcPts val="700"/>
              </a:spcAft>
              <a:defRPr sz="1100">
                <a:solidFill>
                  <a:srgbClr val="DFEDFF"/>
                </a:solidFill>
                <a:latin typeface="Noto Sans CJK KR"/>
              </a:defRPr>
            </a:pPr>
            <a:r>
              <a:t># 새 터미널</a:t>
            </a:r>
          </a:p>
          <a:p>
            <a:pPr>
              <a:spcAft>
                <a:spcPts val="700"/>
              </a:spcAft>
              <a:defRPr sz="1100">
                <a:solidFill>
                  <a:srgbClr val="DFEDFF"/>
                </a:solidFill>
                <a:latin typeface="Noto Sans CJK KR"/>
              </a:defRPr>
            </a:pPr>
            <a:r>
              <a:t>ros2 topic hz /scan</a:t>
            </a:r>
          </a:p>
          <a:p>
            <a:pPr>
              <a:spcAft>
                <a:spcPts val="700"/>
              </a:spcAft>
              <a:defRPr sz="1100">
                <a:solidFill>
                  <a:srgbClr val="DFEDFF"/>
                </a:solidFill>
                <a:latin typeface="Noto Sans CJK KR"/>
              </a:defRPr>
            </a:pPr>
            <a:r>
              <a:t>ros2 topic echo /imu/data --once</a:t>
            </a:r>
          </a:p>
          <a:p>
            <a:pPr>
              <a:spcAft>
                <a:spcPts val="700"/>
              </a:spcAft>
              <a:defRPr sz="1100">
                <a:solidFill>
                  <a:srgbClr val="DFEDFF"/>
                </a:solidFill>
                <a:latin typeface="Noto Sans CJK KR"/>
              </a:defRPr>
            </a:pPr>
            <a:r>
              <a:t>ros2 run agv_sensors lidar_processor</a:t>
            </a:r>
          </a:p>
          <a:p>
            <a:pPr>
              <a:spcAft>
                <a:spcPts val="700"/>
              </a:spcAft>
              <a:defRPr sz="1100">
                <a:solidFill>
                  <a:srgbClr val="DFEDFF"/>
                </a:solidFill>
                <a:latin typeface="Noto Sans CJK KR"/>
              </a:defRPr>
            </a:pPr>
            <a:r>
              <a:t>ros2 topic echo /obstacle_distance</a:t>
            </a:r>
          </a:p>
          <a:p>
            <a:pPr>
              <a:spcAft>
                <a:spcPts val="700"/>
              </a:spcAft>
              <a:defRPr sz="1100">
                <a:solidFill>
                  <a:srgbClr val="DFEDFF"/>
                </a:solidFill>
                <a:latin typeface="Noto Sans CJK KR"/>
              </a:defRPr>
            </a:pPr>
            <a:r>
              <a:t>ros2 run rqt_image_view rqt_image_view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6089904"/>
            <a:ext cx="10789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1000" b="0">
                <a:solidFill>
                  <a:srgbClr val="505C70"/>
                </a:solidFill>
                <a:latin typeface="Noto Sans CJK KR"/>
              </a:defRPr>
            </a:pPr>
            <a:r>
              <a:t>명령은 Block README의 순서와 동일합니다. 새 터미널에서도 ROS와 workspace를 source해야 합니다.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173E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37160"/>
            <a:ext cx="8046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2500" b="1">
                <a:solidFill>
                  <a:srgbClr val="FFFFFF"/>
                </a:solidFill>
                <a:latin typeface="Noto Sans CJK KR"/>
              </a:defRPr>
            </a:pPr>
            <a:r>
              <a:t>Block D — 센서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21040" y="182880"/>
            <a:ext cx="34747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1000" b="0">
                <a:solidFill>
                  <a:srgbClr val="DCEAFC"/>
                </a:solidFill>
                <a:latin typeface="Noto Sans CJK KR"/>
              </a:defRPr>
            </a:pPr>
            <a:r>
              <a:t>명령어 동작과 설정 포인트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56248"/>
            <a:ext cx="112471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1000" b="0">
                <a:solidFill>
                  <a:srgbClr val="667080"/>
                </a:solidFill>
                <a:latin typeface="Noto Sans CJK KR"/>
              </a:defRPr>
            </a:pPr>
            <a:r>
              <a:t>ROS 2 + Gazebo AGV 실습 · 모든 텍스트 최소 10pt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960120"/>
            <a:ext cx="109728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2100" b="1">
                <a:solidFill>
                  <a:srgbClr val="173E6F"/>
                </a:solidFill>
                <a:latin typeface="Noto Sans CJK KR"/>
              </a:defRPr>
            </a:pPr>
            <a:r>
              <a:t>이 명령이 실제로 하는 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508760"/>
            <a:ext cx="1069848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1500" b="0">
                <a:solidFill>
                  <a:srgbClr val="212B3D"/>
                </a:solidFill>
                <a:latin typeface="Noto Sans CJK KR"/>
              </a:defRPr>
            </a:pPr>
            <a:r>
              <a:t>• SDF sensor의 update_rate·range·FOV가 Gazebo 원본 데이터를 만들고, bridge가 ROS 메시지로 변환한다.</a:t>
            </a:r>
          </a:p>
          <a:p>
            <a:pPr>
              <a:spcAft>
                <a:spcPts val="500"/>
              </a:spcAft>
              <a:defRPr sz="1500" b="0">
                <a:solidFill>
                  <a:srgbClr val="212B3D"/>
                </a:solidFill>
                <a:latin typeface="Noto Sans CJK KR"/>
              </a:defRPr>
            </a:pPr>
            <a:r>
              <a:t>• ros2 topic hz는 내용 대신 도착 주기를 측정한다. 현재 LiDAR 10 Hz, camera 15 Hz, IMU 100 Hz이다.</a:t>
            </a:r>
          </a:p>
          <a:p>
            <a:pPr>
              <a:spcAft>
                <a:spcPts val="500"/>
              </a:spcAft>
              <a:defRPr sz="1500" b="0">
                <a:solidFill>
                  <a:srgbClr val="212B3D"/>
                </a:solidFill>
                <a:latin typeface="Noto Sans CJK KR"/>
              </a:defRPr>
            </a:pPr>
            <a:r>
              <a:t>• front_half_angle_deg는 LiDAR processor가 장애물을 검사할 전방 반각을 정한다.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440680"/>
            <a:ext cx="10698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1200" b="0">
                <a:solidFill>
                  <a:srgbClr val="3F5373"/>
                </a:solidFill>
                <a:latin typeface="Noto Sans CJK KR"/>
              </a:defRPr>
            </a:pPr>
            <a:r>
              <a:t>수치·토픽·방향을 바꿀 때는 해당 Block의 Mxx README에서 구현 파일과 기대 결과를 함께 확인합니다.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173E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37160"/>
            <a:ext cx="8046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2500" b="1">
                <a:solidFill>
                  <a:srgbClr val="FFFFFF"/>
                </a:solidFill>
                <a:latin typeface="Noto Sans CJK KR"/>
              </a:defRPr>
            </a:pPr>
            <a:r>
              <a:t>Block D — 센서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21040" y="182880"/>
            <a:ext cx="34747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1000" b="0">
                <a:solidFill>
                  <a:srgbClr val="DCEAFC"/>
                </a:solidFill>
                <a:latin typeface="Noto Sans CJK KR"/>
              </a:defRPr>
            </a:pPr>
            <a:r>
              <a:t>실제 실행 결과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56248"/>
            <a:ext cx="112471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1000" b="0">
                <a:solidFill>
                  <a:srgbClr val="667080"/>
                </a:solidFill>
                <a:latin typeface="Noto Sans CJK KR"/>
              </a:defRPr>
            </a:pPr>
            <a:r>
              <a:t>ROS 2 + Gazebo AGV 실습 · 모든 텍스트 최소 10pt</a:t>
            </a:r>
          </a:p>
        </p:txBody>
      </p:sp>
      <p:pic>
        <p:nvPicPr>
          <p:cNvPr id="6" name="Picture 5" descr="block_d_actual_term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32688"/>
            <a:ext cx="11365992" cy="542239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173E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37160"/>
            <a:ext cx="8046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2500" b="1">
                <a:solidFill>
                  <a:srgbClr val="FFFFFF"/>
                </a:solidFill>
                <a:latin typeface="Noto Sans CJK KR"/>
              </a:defRPr>
            </a:pPr>
            <a:r>
              <a:t>Block D — 센서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21040" y="182880"/>
            <a:ext cx="34747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1000" b="0">
                <a:solidFill>
                  <a:srgbClr val="DCEAFC"/>
                </a:solidFill>
                <a:latin typeface="Noto Sans CJK KR"/>
              </a:defRPr>
            </a:pPr>
            <a:r>
              <a:t>확인 기준과 다음 단계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56248"/>
            <a:ext cx="112471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1000" b="0">
                <a:solidFill>
                  <a:srgbClr val="667080"/>
                </a:solidFill>
                <a:latin typeface="Noto Sans CJK KR"/>
              </a:defRPr>
            </a:pPr>
            <a:r>
              <a:t>ROS 2 + Gazebo AGV 실습 · 모든 텍스트 최소 10pt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960120"/>
            <a:ext cx="109728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2100" b="1">
                <a:solidFill>
                  <a:srgbClr val="173E6F"/>
                </a:solidFill>
                <a:latin typeface="Noto Sans CJK KR"/>
              </a:defRPr>
            </a:pPr>
            <a:r>
              <a:t>통과 기준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508760"/>
            <a:ext cx="1069848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1500" b="0">
                <a:solidFill>
                  <a:srgbClr val="212B3D"/>
                </a:solidFill>
                <a:latin typeface="Noto Sans CJK KR"/>
              </a:defRPr>
            </a:pPr>
            <a:r>
              <a:t>• SDF에 camera·lidar·imu sensor와 topic/update_rate가, bridge YAML에 ROS 메시지 타입과 방향이 함께 있어야 한다. 실행 중에는 topic hz와 header.frame_id를 반드시 확인한다.</a:t>
            </a:r>
          </a:p>
          <a:p>
            <a:pPr>
              <a:spcAft>
                <a:spcPts val="500"/>
              </a:spcAft>
              <a:defRPr sz="1500" b="0">
                <a:solidFill>
                  <a:srgbClr val="212B3D"/>
                </a:solidFill>
                <a:latin typeface="Noto Sans CJK KR"/>
              </a:defRPr>
            </a:pPr>
            <a:r>
              <a:t>• 문제가 생기면 README의 '확인' 명령부터 다시 실행하고, 첫 오류 메시지를 기준으로 수정합니다.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