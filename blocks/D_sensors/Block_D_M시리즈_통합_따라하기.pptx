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50.xml" ContentType="application/vnd.openxmlformats-officedocument.presentationml.notesSlide+xml"/>
  <Override PartName="/ppt/notesSlides/notesSlide151.xml" ContentType="application/vnd.openxmlformats-officedocument.presentationml.notesSlide+xml"/>
  <Override PartName="/ppt/notesSlides/notesSlide152.xml" ContentType="application/vnd.openxmlformats-officedocument.presentationml.notesSlide+xml"/>
  <Override PartName="/ppt/notesSlides/notesSlide153.xml" ContentType="application/vnd.openxmlformats-officedocument.presentationml.notesSlide+xml"/>
  <Override PartName="/ppt/notesSlides/notesSlide154.xml" ContentType="application/vnd.openxmlformats-officedocument.presentationml.notesSlide+xml"/>
  <Override PartName="/ppt/notesSlides/notesSlide155.xml" ContentType="application/vnd.openxmlformats-officedocument.presentationml.notesSlide+xml"/>
  <Override PartName="/ppt/notesSlides/notesSlide156.xml" ContentType="application/vnd.openxmlformats-officedocument.presentationml.notesSlide+xml"/>
  <Override PartName="/ppt/notesSlides/notesSlide157.xml" ContentType="application/vnd.openxmlformats-officedocument.presentationml.notesSlide+xml"/>
  <Override PartName="/ppt/notesSlides/notesSlide158.xml" ContentType="application/vnd.openxmlformats-officedocument.presentationml.notesSlide+xml"/>
  <Override PartName="/ppt/notesSlides/notesSlide159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60.xml" ContentType="application/vnd.openxmlformats-officedocument.presentationml.notesSlide+xml"/>
  <Override PartName="/ppt/notesSlides/notesSlide161.xml" ContentType="application/vnd.openxmlformats-officedocument.presentationml.notesSlide+xml"/>
  <Override PartName="/ppt/notesSlides/notesSlide162.xml" ContentType="application/vnd.openxmlformats-officedocument.presentationml.notesSlide+xml"/>
  <Override PartName="/ppt/notesSlides/notesSlide163.xml" ContentType="application/vnd.openxmlformats-officedocument.presentationml.notesSlide+xml"/>
  <Override PartName="/ppt/notesSlides/notesSlide164.xml" ContentType="application/vnd.openxmlformats-officedocument.presentationml.notesSlide+xml"/>
  <Override PartName="/ppt/notesSlides/notesSlide165.xml" ContentType="application/vnd.openxmlformats-officedocument.presentationml.notesSlide+xml"/>
  <Override PartName="/ppt/notesSlides/notesSlide166.xml" ContentType="application/vnd.openxmlformats-officedocument.presentationml.notesSlide+xml"/>
  <Override PartName="/ppt/notesSlides/notesSlide167.xml" ContentType="application/vnd.openxmlformats-officedocument.presentationml.notesSlide+xml"/>
  <Override PartName="/ppt/notesSlides/notesSlide168.xml" ContentType="application/vnd.openxmlformats-officedocument.presentationml.notesSlide+xml"/>
  <Override PartName="/ppt/notesSlides/notesSlide169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70.xml" ContentType="application/vnd.openxmlformats-officedocument.presentationml.notesSlide+xml"/>
  <Override PartName="/ppt/notesSlides/notesSlide171.xml" ContentType="application/vnd.openxmlformats-officedocument.presentationml.notesSlide+xml"/>
  <Override PartName="/ppt/notesSlides/notesSlide172.xml" ContentType="application/vnd.openxmlformats-officedocument.presentationml.notesSlide+xml"/>
  <Override PartName="/ppt/notesSlides/notesSlide173.xml" ContentType="application/vnd.openxmlformats-officedocument.presentationml.notesSlide+xml"/>
  <Override PartName="/ppt/notesSlides/notesSlide174.xml" ContentType="application/vnd.openxmlformats-officedocument.presentationml.notesSlide+xml"/>
  <Override PartName="/ppt/notesSlides/notesSlide175.xml" ContentType="application/vnd.openxmlformats-officedocument.presentationml.notesSlide+xml"/>
  <Override PartName="/ppt/notesSlides/notesSlide176.xml" ContentType="application/vnd.openxmlformats-officedocument.presentationml.notesSlide+xml"/>
  <Override PartName="/ppt/notesSlides/notesSlide177.xml" ContentType="application/vnd.openxmlformats-officedocument.presentationml.notesSlide+xml"/>
  <Override PartName="/ppt/notesSlides/notesSlide178.xml" ContentType="application/vnd.openxmlformats-officedocument.presentationml.notesSlide+xml"/>
  <Override PartName="/ppt/notesSlides/notesSlide179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80.xml" ContentType="application/vnd.openxmlformats-officedocument.presentationml.notesSlide+xml"/>
  <Override PartName="/ppt/notesSlides/notesSlide181.xml" ContentType="application/vnd.openxmlformats-officedocument.presentationml.notesSlide+xml"/>
  <Override PartName="/ppt/notesSlides/notesSlide182.xml" ContentType="application/vnd.openxmlformats-officedocument.presentationml.notesSlide+xml"/>
  <Override PartName="/ppt/notesSlides/notesSlide183.xml" ContentType="application/vnd.openxmlformats-officedocument.presentationml.notesSlide+xml"/>
  <Override PartName="/ppt/notesSlides/notesSlide184.xml" ContentType="application/vnd.openxmlformats-officedocument.presentationml.notesSlide+xml"/>
  <Override PartName="/ppt/notesSlides/notesSlide185.xml" ContentType="application/vnd.openxmlformats-officedocument.presentationml.notesSlide+xml"/>
  <Override PartName="/ppt/notesSlides/notesSlide186.xml" ContentType="application/vnd.openxmlformats-officedocument.presentationml.notesSlide+xml"/>
  <Override PartName="/ppt/notesSlides/notesSlide187.xml" ContentType="application/vnd.openxmlformats-officedocument.presentationml.notesSlide+xml"/>
  <Override PartName="/ppt/notesSlides/notesSlide188.xml" ContentType="application/vnd.openxmlformats-officedocument.presentationml.notesSlide+xml"/>
  <Override PartName="/ppt/notesSlides/notesSlide189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190.xml" ContentType="application/vnd.openxmlformats-officedocument.presentationml.notesSlide+xml"/>
  <Override PartName="/ppt/notesSlides/notesSlide191.xml" ContentType="application/vnd.openxmlformats-officedocument.presentationml.notesSlide+xml"/>
  <Override PartName="/ppt/notesSlides/notesSlide192.xml" ContentType="application/vnd.openxmlformats-officedocument.presentationml.notesSlide+xml"/>
  <Override PartName="/ppt/notesSlides/notesSlide193.xml" ContentType="application/vnd.openxmlformats-officedocument.presentationml.notesSlide+xml"/>
  <Override PartName="/ppt/notesSlides/notesSlide194.xml" ContentType="application/vnd.openxmlformats-officedocument.presentationml.notesSlide+xml"/>
  <Override PartName="/ppt/notesSlides/notesSlide195.xml" ContentType="application/vnd.openxmlformats-officedocument.presentationml.notesSlide+xml"/>
  <Override PartName="/ppt/notesSlides/notesSlide196.xml" ContentType="application/vnd.openxmlformats-officedocument.presentationml.notesSlide+xml"/>
  <Override PartName="/ppt/notesSlides/notesSlide197.xml" ContentType="application/vnd.openxmlformats-officedocument.presentationml.notesSlide+xml"/>
  <Override PartName="/ppt/notesSlides/notesSlide198.xml" ContentType="application/vnd.openxmlformats-officedocument.presentationml.notesSlide+xml"/>
  <Override PartName="/ppt/notesSlides/notesSlide19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00.xml" ContentType="application/vnd.openxmlformats-officedocument.presentationml.notesSlide+xml"/>
  <Override PartName="/ppt/notesSlides/notesSlide201.xml" ContentType="application/vnd.openxmlformats-officedocument.presentationml.notesSlide+xml"/>
  <Override PartName="/ppt/notesSlides/notesSlide202.xml" ContentType="application/vnd.openxmlformats-officedocument.presentationml.notesSlide+xml"/>
  <Override PartName="/ppt/notesSlides/notesSlide203.xml" ContentType="application/vnd.openxmlformats-officedocument.presentationml.notesSlide+xml"/>
  <Override PartName="/ppt/notesSlides/notesSlide204.xml" ContentType="application/vnd.openxmlformats-officedocument.presentationml.notesSlide+xml"/>
  <Override PartName="/ppt/notesSlides/notesSlide205.xml" ContentType="application/vnd.openxmlformats-officedocument.presentationml.notesSlide+xml"/>
  <Override PartName="/ppt/notesSlides/notesSlide206.xml" ContentType="application/vnd.openxmlformats-officedocument.presentationml.notesSlide+xml"/>
  <Override PartName="/ppt/notesSlides/notesSlide207.xml" ContentType="application/vnd.openxmlformats-officedocument.presentationml.notesSlide+xml"/>
  <Override PartName="/ppt/notesSlides/notesSlide208.xml" ContentType="application/vnd.openxmlformats-officedocument.presentationml.notesSlide+xml"/>
  <Override PartName="/ppt/notesSlides/notesSlide209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10.xml" ContentType="application/vnd.openxmlformats-officedocument.presentationml.notesSlide+xml"/>
  <Override PartName="/ppt/notesSlides/notesSlide211.xml" ContentType="application/vnd.openxmlformats-officedocument.presentationml.notesSlide+xml"/>
  <Override PartName="/ppt/notesSlides/notesSlide212.xml" ContentType="application/vnd.openxmlformats-officedocument.presentationml.notesSlide+xml"/>
  <Override PartName="/ppt/notesSlides/notesSlide213.xml" ContentType="application/vnd.openxmlformats-officedocument.presentationml.notesSlide+xml"/>
  <Override PartName="/ppt/notesSlides/notesSlide214.xml" ContentType="application/vnd.openxmlformats-officedocument.presentationml.notesSlide+xml"/>
  <Override PartName="/ppt/notesSlides/notesSlide215.xml" ContentType="application/vnd.openxmlformats-officedocument.presentationml.notesSlide+xml"/>
  <Override PartName="/ppt/notesSlides/notesSlide216.xml" ContentType="application/vnd.openxmlformats-officedocument.presentationml.notesSlide+xml"/>
  <Override PartName="/ppt/notesSlides/notesSlide217.xml" ContentType="application/vnd.openxmlformats-officedocument.presentationml.notesSlide+xml"/>
  <Override PartName="/ppt/notesSlides/notesSlide218.xml" ContentType="application/vnd.openxmlformats-officedocument.presentationml.notesSlide+xml"/>
  <Override PartName="/ppt/notesSlides/notesSlide219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20.xml" ContentType="application/vnd.openxmlformats-officedocument.presentationml.notesSlide+xml"/>
  <Override PartName="/ppt/notesSlides/notesSlide221.xml" ContentType="application/vnd.openxmlformats-officedocument.presentationml.notesSlide+xml"/>
  <Override PartName="/ppt/notesSlides/notesSlide222.xml" ContentType="application/vnd.openxmlformats-officedocument.presentationml.notesSlide+xml"/>
  <Override PartName="/ppt/notesSlides/notesSlide223.xml" ContentType="application/vnd.openxmlformats-officedocument.presentationml.notesSlide+xml"/>
  <Override PartName="/ppt/notesSlides/notesSlide224.xml" ContentType="application/vnd.openxmlformats-officedocument.presentationml.notesSlide+xml"/>
  <Override PartName="/ppt/notesSlides/notesSlide225.xml" ContentType="application/vnd.openxmlformats-officedocument.presentationml.notesSlide+xml"/>
  <Override PartName="/ppt/notesSlides/notesSlide226.xml" ContentType="application/vnd.openxmlformats-officedocument.presentationml.notesSlide+xml"/>
  <Override PartName="/ppt/notesSlides/notesSlide227.xml" ContentType="application/vnd.openxmlformats-officedocument.presentationml.notesSlide+xml"/>
  <Override PartName="/ppt/notesSlides/notesSlide228.xml" ContentType="application/vnd.openxmlformats-officedocument.presentationml.notesSlide+xml"/>
  <Override PartName="/ppt/notesSlides/notesSlide229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30.xml" ContentType="application/vnd.openxmlformats-officedocument.presentationml.notesSlide+xml"/>
  <Override PartName="/ppt/notesSlides/notesSlide231.xml" ContentType="application/vnd.openxmlformats-officedocument.presentationml.notesSlide+xml"/>
  <Override PartName="/ppt/notesSlides/notesSlide232.xml" ContentType="application/vnd.openxmlformats-officedocument.presentationml.notesSlide+xml"/>
  <Override PartName="/ppt/notesSlides/notesSlide233.xml" ContentType="application/vnd.openxmlformats-officedocument.presentationml.notesSlide+xml"/>
  <Override PartName="/ppt/notesSlides/notesSlide234.xml" ContentType="application/vnd.openxmlformats-officedocument.presentationml.notesSlide+xml"/>
  <Override PartName="/ppt/notesSlides/notesSlide235.xml" ContentType="application/vnd.openxmlformats-officedocument.presentationml.notesSlide+xml"/>
  <Override PartName="/ppt/notesSlides/notesSlide236.xml" ContentType="application/vnd.openxmlformats-officedocument.presentationml.notesSlide+xml"/>
  <Override PartName="/ppt/notesSlides/notesSlide237.xml" ContentType="application/vnd.openxmlformats-officedocument.presentationml.notesSlide+xml"/>
  <Override PartName="/ppt/notesSlides/notesSlide238.xml" ContentType="application/vnd.openxmlformats-officedocument.presentationml.notesSlide+xml"/>
  <Override PartName="/ppt/notesSlides/notesSlide239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40.xml" ContentType="application/vnd.openxmlformats-officedocument.presentationml.notesSlide+xml"/>
  <Override PartName="/ppt/notesSlides/notesSlide241.xml" ContentType="application/vnd.openxmlformats-officedocument.presentationml.notesSlide+xml"/>
  <Override PartName="/ppt/notesSlides/notesSlide242.xml" ContentType="application/vnd.openxmlformats-officedocument.presentationml.notesSlide+xml"/>
  <Override PartName="/ppt/notesSlides/notesSlide243.xml" ContentType="application/vnd.openxmlformats-officedocument.presentationml.notesSlide+xml"/>
  <Override PartName="/ppt/notesSlides/notesSlide244.xml" ContentType="application/vnd.openxmlformats-officedocument.presentationml.notesSlide+xml"/>
  <Override PartName="/ppt/notesSlides/notesSlide245.xml" ContentType="application/vnd.openxmlformats-officedocument.presentationml.notesSlide+xml"/>
  <Override PartName="/ppt/notesSlides/notesSlide246.xml" ContentType="application/vnd.openxmlformats-officedocument.presentationml.notesSlide+xml"/>
  <Override PartName="/ppt/notesSlides/notesSlide247.xml" ContentType="application/vnd.openxmlformats-officedocument.presentationml.notesSlide+xml"/>
  <Override PartName="/ppt/notesSlides/notesSlide248.xml" ContentType="application/vnd.openxmlformats-officedocument.presentationml.notesSlide+xml"/>
  <Override PartName="/ppt/notesSlides/notesSlide249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50.xml" ContentType="application/vnd.openxmlformats-officedocument.presentationml.notesSlide+xml"/>
  <Override PartName="/ppt/notesSlides/notesSlide251.xml" ContentType="application/vnd.openxmlformats-officedocument.presentationml.notesSlide+xml"/>
  <Override PartName="/ppt/notesSlides/notesSlide252.xml" ContentType="application/vnd.openxmlformats-officedocument.presentationml.notesSlide+xml"/>
  <Override PartName="/ppt/notesSlides/notesSlide253.xml" ContentType="application/vnd.openxmlformats-officedocument.presentationml.notesSlide+xml"/>
  <Override PartName="/ppt/notesSlides/notesSlide254.xml" ContentType="application/vnd.openxmlformats-officedocument.presentationml.notesSlide+xml"/>
  <Override PartName="/ppt/notesSlides/notesSlide255.xml" ContentType="application/vnd.openxmlformats-officedocument.presentationml.notesSlide+xml"/>
  <Override PartName="/ppt/notesSlides/notesSlide256.xml" ContentType="application/vnd.openxmlformats-officedocument.presentationml.notesSlide+xml"/>
  <Override PartName="/ppt/notesSlides/notesSlide257.xml" ContentType="application/vnd.openxmlformats-officedocument.presentationml.notesSlide+xml"/>
  <Override PartName="/ppt/notesSlides/notesSlide258.xml" ContentType="application/vnd.openxmlformats-officedocument.presentationml.notesSlide+xml"/>
  <Override PartName="/ppt/notesSlides/notesSlide259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60.xml" ContentType="application/vnd.openxmlformats-officedocument.presentationml.notesSlide+xml"/>
  <Override PartName="/ppt/notesSlides/notesSlide261.xml" ContentType="application/vnd.openxmlformats-officedocument.presentationml.notesSlide+xml"/>
  <Override PartName="/ppt/notesSlides/notesSlide262.xml" ContentType="application/vnd.openxmlformats-officedocument.presentationml.notesSlide+xml"/>
  <Override PartName="/ppt/notesSlides/notesSlide263.xml" ContentType="application/vnd.openxmlformats-officedocument.presentationml.notesSlide+xml"/>
  <Override PartName="/ppt/notesSlides/notesSlide264.xml" ContentType="application/vnd.openxmlformats-officedocument.presentationml.notesSlide+xml"/>
  <Override PartName="/ppt/notesSlides/notesSlide265.xml" ContentType="application/vnd.openxmlformats-officedocument.presentationml.notesSlide+xml"/>
  <Override PartName="/ppt/notesSlides/notesSlide266.xml" ContentType="application/vnd.openxmlformats-officedocument.presentationml.notesSlide+xml"/>
  <Override PartName="/ppt/notesSlides/notesSlide267.xml" ContentType="application/vnd.openxmlformats-officedocument.presentationml.notesSlide+xml"/>
  <Override PartName="/ppt/notesSlides/notesSlide268.xml" ContentType="application/vnd.openxmlformats-officedocument.presentationml.notesSlide+xml"/>
  <Override PartName="/ppt/notesSlides/notesSlide269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70.xml" ContentType="application/vnd.openxmlformats-officedocument.presentationml.notesSlide+xml"/>
  <Override PartName="/ppt/notesSlides/notesSlide271.xml" ContentType="application/vnd.openxmlformats-officedocument.presentationml.notesSlide+xml"/>
  <Override PartName="/ppt/notesSlides/notesSlide272.xml" ContentType="application/vnd.openxmlformats-officedocument.presentationml.notesSlide+xml"/>
  <Override PartName="/ppt/notesSlides/notesSlide273.xml" ContentType="application/vnd.openxmlformats-officedocument.presentationml.notesSlide+xml"/>
  <Override PartName="/ppt/notesSlides/notesSlide274.xml" ContentType="application/vnd.openxmlformats-officedocument.presentationml.notesSlide+xml"/>
  <Override PartName="/ppt/notesSlides/notesSlide275.xml" ContentType="application/vnd.openxmlformats-officedocument.presentationml.notesSlide+xml"/>
  <Override PartName="/ppt/notesSlides/notesSlide276.xml" ContentType="application/vnd.openxmlformats-officedocument.presentationml.notesSlide+xml"/>
  <Override PartName="/ppt/notesSlides/notesSlide277.xml" ContentType="application/vnd.openxmlformats-officedocument.presentationml.notesSlide+xml"/>
  <Override PartName="/ppt/notesSlides/notesSlide278.xml" ContentType="application/vnd.openxmlformats-officedocument.presentationml.notesSlide+xml"/>
  <Override PartName="/ppt/notesSlides/notesSlide279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80.xml" ContentType="application/vnd.openxmlformats-officedocument.presentationml.notesSlide+xml"/>
  <Override PartName="/ppt/notesSlides/notesSlide281.xml" ContentType="application/vnd.openxmlformats-officedocument.presentationml.notesSlide+xml"/>
  <Override PartName="/ppt/notesSlides/notesSlide282.xml" ContentType="application/vnd.openxmlformats-officedocument.presentationml.notesSlide+xml"/>
  <Override PartName="/ppt/notesSlides/notesSlide283.xml" ContentType="application/vnd.openxmlformats-officedocument.presentationml.notesSlide+xml"/>
  <Override PartName="/ppt/notesSlides/notesSlide284.xml" ContentType="application/vnd.openxmlformats-officedocument.presentationml.notesSlide+xml"/>
  <Override PartName="/ppt/notesSlides/notesSlide285.xml" ContentType="application/vnd.openxmlformats-officedocument.presentationml.notesSlide+xml"/>
  <Override PartName="/ppt/notesSlides/notesSlide286.xml" ContentType="application/vnd.openxmlformats-officedocument.presentationml.notesSlide+xml"/>
  <Override PartName="/ppt/notesSlides/notesSlide287.xml" ContentType="application/vnd.openxmlformats-officedocument.presentationml.notesSlide+xml"/>
  <Override PartName="/ppt/notesSlides/notesSlide288.xml" ContentType="application/vnd.openxmlformats-officedocument.presentationml.notesSlide+xml"/>
  <Override PartName="/ppt/notesSlides/notesSlide289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290.xml" ContentType="application/vnd.openxmlformats-officedocument.presentationml.notesSlide+xml"/>
  <Override PartName="/ppt/notesSlides/notesSlide291.xml" ContentType="application/vnd.openxmlformats-officedocument.presentationml.notesSlide+xml"/>
  <Override PartName="/ppt/notesSlides/notesSlide292.xml" ContentType="application/vnd.openxmlformats-officedocument.presentationml.notesSlide+xml"/>
  <Override PartName="/ppt/notesSlides/notesSlide293.xml" ContentType="application/vnd.openxmlformats-officedocument.presentationml.notesSlide+xml"/>
  <Override PartName="/ppt/notesSlides/notesSlide294.xml" ContentType="application/vnd.openxmlformats-officedocument.presentationml.notesSlide+xml"/>
  <Override PartName="/ppt/notesSlides/notesSlide295.xml" ContentType="application/vnd.openxmlformats-officedocument.presentationml.notesSlide+xml"/>
  <Override PartName="/ppt/notesSlides/notesSlide296.xml" ContentType="application/vnd.openxmlformats-officedocument.presentationml.notesSlide+xml"/>
  <Override PartName="/ppt/notesSlides/notesSlide297.xml" ContentType="application/vnd.openxmlformats-officedocument.presentationml.notesSlide+xml"/>
  <Override PartName="/ppt/notesSlides/notesSlide298.xml" ContentType="application/vnd.openxmlformats-officedocument.presentationml.notesSlide+xml"/>
  <Override PartName="/ppt/notesSlides/notesSlide29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00.xml" ContentType="application/vnd.openxmlformats-officedocument.presentationml.notesSlide+xml"/>
  <Override PartName="/ppt/notesSlides/notesSlide301.xml" ContentType="application/vnd.openxmlformats-officedocument.presentationml.notesSlide+xml"/>
  <Override PartName="/ppt/notesSlides/notesSlide302.xml" ContentType="application/vnd.openxmlformats-officedocument.presentationml.notesSlide+xml"/>
  <Override PartName="/ppt/notesSlides/notesSlide303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slides/slide242.xml" ContentType="application/vnd.openxmlformats-officedocument.presentationml.slide+xml"/>
  <Override PartName="/ppt/slides/slide243.xml" ContentType="application/vnd.openxmlformats-officedocument.presentationml.slide+xml"/>
  <Override PartName="/ppt/slides/slide244.xml" ContentType="application/vnd.openxmlformats-officedocument.presentationml.slide+xml"/>
  <Override PartName="/ppt/slides/slide245.xml" ContentType="application/vnd.openxmlformats-officedocument.presentationml.slide+xml"/>
  <Override PartName="/ppt/slides/slide246.xml" ContentType="application/vnd.openxmlformats-officedocument.presentationml.slide+xml"/>
  <Override PartName="/ppt/slides/slide247.xml" ContentType="application/vnd.openxmlformats-officedocument.presentationml.slide+xml"/>
  <Override PartName="/ppt/slides/slide248.xml" ContentType="application/vnd.openxmlformats-officedocument.presentationml.slide+xml"/>
  <Override PartName="/ppt/slides/slide249.xml" ContentType="application/vnd.openxmlformats-officedocument.presentationml.slide+xml"/>
  <Override PartName="/ppt/slides/slide25.xml" ContentType="application/vnd.openxmlformats-officedocument.presentationml.slide+xml"/>
  <Override PartName="/ppt/slides/slide250.xml" ContentType="application/vnd.openxmlformats-officedocument.presentationml.slide+xml"/>
  <Override PartName="/ppt/slides/slide251.xml" ContentType="application/vnd.openxmlformats-officedocument.presentationml.slide+xml"/>
  <Override PartName="/ppt/slides/slide252.xml" ContentType="application/vnd.openxmlformats-officedocument.presentationml.slide+xml"/>
  <Override PartName="/ppt/slides/slide253.xml" ContentType="application/vnd.openxmlformats-officedocument.presentationml.slide+xml"/>
  <Override PartName="/ppt/slides/slide254.xml" ContentType="application/vnd.openxmlformats-officedocument.presentationml.slide+xml"/>
  <Override PartName="/ppt/slides/slide255.xml" ContentType="application/vnd.openxmlformats-officedocument.presentationml.slide+xml"/>
  <Override PartName="/ppt/slides/slide256.xml" ContentType="application/vnd.openxmlformats-officedocument.presentationml.slide+xml"/>
  <Override PartName="/ppt/slides/slide257.xml" ContentType="application/vnd.openxmlformats-officedocument.presentationml.slide+xml"/>
  <Override PartName="/ppt/slides/slide258.xml" ContentType="application/vnd.openxmlformats-officedocument.presentationml.slide+xml"/>
  <Override PartName="/ppt/slides/slide259.xml" ContentType="application/vnd.openxmlformats-officedocument.presentationml.slide+xml"/>
  <Override PartName="/ppt/slides/slide26.xml" ContentType="application/vnd.openxmlformats-officedocument.presentationml.slide+xml"/>
  <Override PartName="/ppt/slides/slide260.xml" ContentType="application/vnd.openxmlformats-officedocument.presentationml.slide+xml"/>
  <Override PartName="/ppt/slides/slide261.xml" ContentType="application/vnd.openxmlformats-officedocument.presentationml.slide+xml"/>
  <Override PartName="/ppt/slides/slide262.xml" ContentType="application/vnd.openxmlformats-officedocument.presentationml.slide+xml"/>
  <Override PartName="/ppt/slides/slide263.xml" ContentType="application/vnd.openxmlformats-officedocument.presentationml.slide+xml"/>
  <Override PartName="/ppt/slides/slide264.xml" ContentType="application/vnd.openxmlformats-officedocument.presentationml.slide+xml"/>
  <Override PartName="/ppt/slides/slide265.xml" ContentType="application/vnd.openxmlformats-officedocument.presentationml.slide+xml"/>
  <Override PartName="/ppt/slides/slide266.xml" ContentType="application/vnd.openxmlformats-officedocument.presentationml.slide+xml"/>
  <Override PartName="/ppt/slides/slide267.xml" ContentType="application/vnd.openxmlformats-officedocument.presentationml.slide+xml"/>
  <Override PartName="/ppt/slides/slide268.xml" ContentType="application/vnd.openxmlformats-officedocument.presentationml.slide+xml"/>
  <Override PartName="/ppt/slides/slide269.xml" ContentType="application/vnd.openxmlformats-officedocument.presentationml.slide+xml"/>
  <Override PartName="/ppt/slides/slide27.xml" ContentType="application/vnd.openxmlformats-officedocument.presentationml.slide+xml"/>
  <Override PartName="/ppt/slides/slide270.xml" ContentType="application/vnd.openxmlformats-officedocument.presentationml.slide+xml"/>
  <Override PartName="/ppt/slides/slide271.xml" ContentType="application/vnd.openxmlformats-officedocument.presentationml.slide+xml"/>
  <Override PartName="/ppt/slides/slide272.xml" ContentType="application/vnd.openxmlformats-officedocument.presentationml.slide+xml"/>
  <Override PartName="/ppt/slides/slide273.xml" ContentType="application/vnd.openxmlformats-officedocument.presentationml.slide+xml"/>
  <Override PartName="/ppt/slides/slide274.xml" ContentType="application/vnd.openxmlformats-officedocument.presentationml.slide+xml"/>
  <Override PartName="/ppt/slides/slide275.xml" ContentType="application/vnd.openxmlformats-officedocument.presentationml.slide+xml"/>
  <Override PartName="/ppt/slides/slide276.xml" ContentType="application/vnd.openxmlformats-officedocument.presentationml.slide+xml"/>
  <Override PartName="/ppt/slides/slide277.xml" ContentType="application/vnd.openxmlformats-officedocument.presentationml.slide+xml"/>
  <Override PartName="/ppt/slides/slide278.xml" ContentType="application/vnd.openxmlformats-officedocument.presentationml.slide+xml"/>
  <Override PartName="/ppt/slides/slide279.xml" ContentType="application/vnd.openxmlformats-officedocument.presentationml.slide+xml"/>
  <Override PartName="/ppt/slides/slide28.xml" ContentType="application/vnd.openxmlformats-officedocument.presentationml.slide+xml"/>
  <Override PartName="/ppt/slides/slide280.xml" ContentType="application/vnd.openxmlformats-officedocument.presentationml.slide+xml"/>
  <Override PartName="/ppt/slides/slide281.xml" ContentType="application/vnd.openxmlformats-officedocument.presentationml.slide+xml"/>
  <Override PartName="/ppt/slides/slide282.xml" ContentType="application/vnd.openxmlformats-officedocument.presentationml.slide+xml"/>
  <Override PartName="/ppt/slides/slide283.xml" ContentType="application/vnd.openxmlformats-officedocument.presentationml.slide+xml"/>
  <Override PartName="/ppt/slides/slide284.xml" ContentType="application/vnd.openxmlformats-officedocument.presentationml.slide+xml"/>
  <Override PartName="/ppt/slides/slide285.xml" ContentType="application/vnd.openxmlformats-officedocument.presentationml.slide+xml"/>
  <Override PartName="/ppt/slides/slide286.xml" ContentType="application/vnd.openxmlformats-officedocument.presentationml.slide+xml"/>
  <Override PartName="/ppt/slides/slide287.xml" ContentType="application/vnd.openxmlformats-officedocument.presentationml.slide+xml"/>
  <Override PartName="/ppt/slides/slide288.xml" ContentType="application/vnd.openxmlformats-officedocument.presentationml.slide+xml"/>
  <Override PartName="/ppt/slides/slide289.xml" ContentType="application/vnd.openxmlformats-officedocument.presentationml.slide+xml"/>
  <Override PartName="/ppt/slides/slide29.xml" ContentType="application/vnd.openxmlformats-officedocument.presentationml.slide+xml"/>
  <Override PartName="/ppt/slides/slide290.xml" ContentType="application/vnd.openxmlformats-officedocument.presentationml.slide+xml"/>
  <Override PartName="/ppt/slides/slide291.xml" ContentType="application/vnd.openxmlformats-officedocument.presentationml.slide+xml"/>
  <Override PartName="/ppt/slides/slide292.xml" ContentType="application/vnd.openxmlformats-officedocument.presentationml.slide+xml"/>
  <Override PartName="/ppt/slides/slide293.xml" ContentType="application/vnd.openxmlformats-officedocument.presentationml.slide+xml"/>
  <Override PartName="/ppt/slides/slide294.xml" ContentType="application/vnd.openxmlformats-officedocument.presentationml.slide+xml"/>
  <Override PartName="/ppt/slides/slide295.xml" ContentType="application/vnd.openxmlformats-officedocument.presentationml.slide+xml"/>
  <Override PartName="/ppt/slides/slide296.xml" ContentType="application/vnd.openxmlformats-officedocument.presentationml.slide+xml"/>
  <Override PartName="/ppt/slides/slide297.xml" ContentType="application/vnd.openxmlformats-officedocument.presentationml.slide+xml"/>
  <Override PartName="/ppt/slides/slide298.xml" ContentType="application/vnd.openxmlformats-officedocument.presentationml.slide+xml"/>
  <Override PartName="/ppt/slides/slide29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00.xml" ContentType="application/vnd.openxmlformats-officedocument.presentationml.slide+xml"/>
  <Override PartName="/ppt/slides/slide301.xml" ContentType="application/vnd.openxmlformats-officedocument.presentationml.slide+xml"/>
  <Override PartName="/ppt/slides/slide302.xml" ContentType="application/vnd.openxmlformats-officedocument.presentationml.slide+xml"/>
  <Override PartName="/ppt/slides/slide303.xml" ContentType="application/vnd.openxmlformats-officedocument.presentationml.slide+xml"/>
  <Override PartName="/ppt/slides/slide304.xml" ContentType="application/vnd.openxmlformats-officedocument.presentationml.slide+xml"/>
  <Override PartName="/ppt/slides/slide305.xml" ContentType="application/vnd.openxmlformats-officedocument.presentationml.slide+xml"/>
  <Override PartName="/ppt/slides/slide306.xml" ContentType="application/vnd.openxmlformats-officedocument.presentationml.slide+xml"/>
  <Override PartName="/ppt/slides/slide307.xml" ContentType="application/vnd.openxmlformats-officedocument.presentationml.slide+xml"/>
  <Override PartName="/ppt/slides/slide308.xml" ContentType="application/vnd.openxmlformats-officedocument.presentationml.slide+xml"/>
  <Override PartName="/ppt/slides/slide309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  <p:sldId id="361" r:id="rId113"/>
    <p:sldId id="362" r:id="rId114"/>
    <p:sldId id="363" r:id="rId115"/>
    <p:sldId id="364" r:id="rId116"/>
    <p:sldId id="365" r:id="rId117"/>
    <p:sldId id="366" r:id="rId118"/>
    <p:sldId id="367" r:id="rId119"/>
    <p:sldId id="368" r:id="rId120"/>
    <p:sldId id="369" r:id="rId121"/>
    <p:sldId id="370" r:id="rId122"/>
    <p:sldId id="371" r:id="rId123"/>
    <p:sldId id="372" r:id="rId124"/>
    <p:sldId id="373" r:id="rId125"/>
    <p:sldId id="374" r:id="rId126"/>
    <p:sldId id="375" r:id="rId127"/>
    <p:sldId id="376" r:id="rId128"/>
    <p:sldId id="377" r:id="rId129"/>
    <p:sldId id="378" r:id="rId130"/>
    <p:sldId id="379" r:id="rId131"/>
    <p:sldId id="380" r:id="rId132"/>
    <p:sldId id="381" r:id="rId133"/>
    <p:sldId id="382" r:id="rId134"/>
    <p:sldId id="383" r:id="rId135"/>
    <p:sldId id="384" r:id="rId136"/>
    <p:sldId id="385" r:id="rId137"/>
    <p:sldId id="386" r:id="rId138"/>
    <p:sldId id="387" r:id="rId139"/>
    <p:sldId id="388" r:id="rId140"/>
    <p:sldId id="389" r:id="rId141"/>
    <p:sldId id="390" r:id="rId142"/>
    <p:sldId id="391" r:id="rId143"/>
    <p:sldId id="392" r:id="rId144"/>
    <p:sldId id="393" r:id="rId145"/>
    <p:sldId id="394" r:id="rId146"/>
    <p:sldId id="395" r:id="rId147"/>
    <p:sldId id="396" r:id="rId148"/>
    <p:sldId id="397" r:id="rId149"/>
    <p:sldId id="398" r:id="rId150"/>
    <p:sldId id="399" r:id="rId151"/>
    <p:sldId id="400" r:id="rId152"/>
    <p:sldId id="401" r:id="rId153"/>
    <p:sldId id="402" r:id="rId154"/>
    <p:sldId id="403" r:id="rId155"/>
    <p:sldId id="404" r:id="rId156"/>
    <p:sldId id="405" r:id="rId157"/>
    <p:sldId id="406" r:id="rId158"/>
    <p:sldId id="407" r:id="rId159"/>
    <p:sldId id="408" r:id="rId160"/>
    <p:sldId id="409" r:id="rId161"/>
    <p:sldId id="410" r:id="rId162"/>
    <p:sldId id="411" r:id="rId163"/>
    <p:sldId id="412" r:id="rId164"/>
    <p:sldId id="413" r:id="rId165"/>
    <p:sldId id="414" r:id="rId166"/>
    <p:sldId id="415" r:id="rId167"/>
    <p:sldId id="416" r:id="rId168"/>
    <p:sldId id="417" r:id="rId169"/>
    <p:sldId id="418" r:id="rId170"/>
    <p:sldId id="419" r:id="rId171"/>
    <p:sldId id="420" r:id="rId172"/>
    <p:sldId id="421" r:id="rId173"/>
    <p:sldId id="422" r:id="rId174"/>
    <p:sldId id="423" r:id="rId175"/>
    <p:sldId id="424" r:id="rId176"/>
    <p:sldId id="425" r:id="rId177"/>
    <p:sldId id="426" r:id="rId178"/>
    <p:sldId id="427" r:id="rId179"/>
    <p:sldId id="428" r:id="rId180"/>
    <p:sldId id="429" r:id="rId181"/>
    <p:sldId id="430" r:id="rId182"/>
    <p:sldId id="431" r:id="rId183"/>
    <p:sldId id="432" r:id="rId184"/>
    <p:sldId id="433" r:id="rId185"/>
    <p:sldId id="434" r:id="rId186"/>
    <p:sldId id="435" r:id="rId187"/>
    <p:sldId id="436" r:id="rId188"/>
    <p:sldId id="437" r:id="rId189"/>
    <p:sldId id="438" r:id="rId190"/>
    <p:sldId id="439" r:id="rId191"/>
    <p:sldId id="440" r:id="rId192"/>
    <p:sldId id="441" r:id="rId193"/>
    <p:sldId id="442" r:id="rId194"/>
    <p:sldId id="443" r:id="rId195"/>
    <p:sldId id="444" r:id="rId196"/>
    <p:sldId id="445" r:id="rId197"/>
    <p:sldId id="446" r:id="rId198"/>
    <p:sldId id="447" r:id="rId199"/>
    <p:sldId id="448" r:id="rId200"/>
    <p:sldId id="449" r:id="rId201"/>
    <p:sldId id="450" r:id="rId202"/>
    <p:sldId id="451" r:id="rId203"/>
    <p:sldId id="452" r:id="rId204"/>
    <p:sldId id="453" r:id="rId205"/>
    <p:sldId id="454" r:id="rId206"/>
    <p:sldId id="455" r:id="rId207"/>
    <p:sldId id="456" r:id="rId208"/>
    <p:sldId id="457" r:id="rId209"/>
    <p:sldId id="458" r:id="rId210"/>
    <p:sldId id="459" r:id="rId211"/>
    <p:sldId id="460" r:id="rId212"/>
    <p:sldId id="461" r:id="rId213"/>
    <p:sldId id="462" r:id="rId214"/>
    <p:sldId id="463" r:id="rId215"/>
    <p:sldId id="464" r:id="rId216"/>
    <p:sldId id="465" r:id="rId217"/>
    <p:sldId id="466" r:id="rId218"/>
    <p:sldId id="467" r:id="rId219"/>
    <p:sldId id="468" r:id="rId220"/>
    <p:sldId id="469" r:id="rId221"/>
    <p:sldId id="470" r:id="rId222"/>
    <p:sldId id="471" r:id="rId223"/>
    <p:sldId id="472" r:id="rId224"/>
    <p:sldId id="473" r:id="rId225"/>
    <p:sldId id="474" r:id="rId226"/>
    <p:sldId id="475" r:id="rId227"/>
    <p:sldId id="476" r:id="rId228"/>
    <p:sldId id="477" r:id="rId229"/>
    <p:sldId id="478" r:id="rId230"/>
    <p:sldId id="479" r:id="rId231"/>
    <p:sldId id="480" r:id="rId232"/>
    <p:sldId id="481" r:id="rId233"/>
    <p:sldId id="482" r:id="rId234"/>
    <p:sldId id="483" r:id="rId235"/>
    <p:sldId id="484" r:id="rId236"/>
    <p:sldId id="485" r:id="rId237"/>
    <p:sldId id="486" r:id="rId238"/>
    <p:sldId id="487" r:id="rId239"/>
    <p:sldId id="488" r:id="rId240"/>
    <p:sldId id="489" r:id="rId241"/>
    <p:sldId id="490" r:id="rId242"/>
    <p:sldId id="491" r:id="rId243"/>
    <p:sldId id="492" r:id="rId244"/>
    <p:sldId id="493" r:id="rId245"/>
    <p:sldId id="494" r:id="rId246"/>
    <p:sldId id="495" r:id="rId247"/>
    <p:sldId id="496" r:id="rId248"/>
    <p:sldId id="497" r:id="rId249"/>
    <p:sldId id="498" r:id="rId250"/>
    <p:sldId id="499" r:id="rId251"/>
    <p:sldId id="500" r:id="rId252"/>
    <p:sldId id="501" r:id="rId253"/>
    <p:sldId id="502" r:id="rId254"/>
    <p:sldId id="503" r:id="rId255"/>
    <p:sldId id="504" r:id="rId256"/>
    <p:sldId id="505" r:id="rId257"/>
    <p:sldId id="506" r:id="rId258"/>
    <p:sldId id="507" r:id="rId259"/>
    <p:sldId id="508" r:id="rId260"/>
    <p:sldId id="509" r:id="rId261"/>
    <p:sldId id="510" r:id="rId262"/>
    <p:sldId id="511" r:id="rId263"/>
    <p:sldId id="512" r:id="rId264"/>
    <p:sldId id="513" r:id="rId265"/>
    <p:sldId id="514" r:id="rId266"/>
    <p:sldId id="515" r:id="rId267"/>
    <p:sldId id="516" r:id="rId268"/>
    <p:sldId id="517" r:id="rId269"/>
    <p:sldId id="518" r:id="rId270"/>
    <p:sldId id="519" r:id="rId271"/>
    <p:sldId id="520" r:id="rId272"/>
    <p:sldId id="521" r:id="rId273"/>
    <p:sldId id="522" r:id="rId274"/>
    <p:sldId id="523" r:id="rId275"/>
    <p:sldId id="524" r:id="rId276"/>
    <p:sldId id="525" r:id="rId277"/>
    <p:sldId id="526" r:id="rId278"/>
    <p:sldId id="527" r:id="rId279"/>
    <p:sldId id="528" r:id="rId280"/>
    <p:sldId id="529" r:id="rId281"/>
    <p:sldId id="530" r:id="rId282"/>
    <p:sldId id="531" r:id="rId283"/>
    <p:sldId id="532" r:id="rId284"/>
    <p:sldId id="533" r:id="rId285"/>
    <p:sldId id="534" r:id="rId286"/>
    <p:sldId id="535" r:id="rId287"/>
    <p:sldId id="536" r:id="rId288"/>
    <p:sldId id="537" r:id="rId289"/>
    <p:sldId id="538" r:id="rId290"/>
    <p:sldId id="539" r:id="rId291"/>
    <p:sldId id="540" r:id="rId292"/>
    <p:sldId id="541" r:id="rId293"/>
    <p:sldId id="542" r:id="rId294"/>
    <p:sldId id="543" r:id="rId295"/>
    <p:sldId id="544" r:id="rId296"/>
    <p:sldId id="545" r:id="rId297"/>
    <p:sldId id="546" r:id="rId298"/>
    <p:sldId id="547" r:id="rId299"/>
    <p:sldId id="548" r:id="rId300"/>
    <p:sldId id="549" r:id="rId301"/>
    <p:sldId id="550" r:id="rId302"/>
    <p:sldId id="551" r:id="rId303"/>
    <p:sldId id="552" r:id="rId304"/>
    <p:sldId id="553" r:id="rId305"/>
    <p:sldId id="554" r:id="rId306"/>
    <p:sldId id="555" r:id="rId307"/>
    <p:sldId id="556" r:id="rId308"/>
    <p:sldId id="557" r:id="rId309"/>
    <p:sldId id="558" r:id="rId310"/>
    <p:sldId id="559" r:id="rId311"/>
    <p:sldId id="560" r:id="rId312"/>
    <p:sldId id="561" r:id="rId313"/>
    <p:sldId id="562" r:id="rId314"/>
    <p:sldId id="563" r:id="rId315"/>
    <p:sldId id="564" r:id="rId316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Relationship Id="rId110" Type="http://schemas.openxmlformats.org/officeDocument/2006/relationships/slide" Target="slides/slide103.xml"/><Relationship Id="rId111" Type="http://schemas.openxmlformats.org/officeDocument/2006/relationships/slide" Target="slides/slide104.xml"/><Relationship Id="rId112" Type="http://schemas.openxmlformats.org/officeDocument/2006/relationships/slide" Target="slides/slide105.xml"/><Relationship Id="rId113" Type="http://schemas.openxmlformats.org/officeDocument/2006/relationships/slide" Target="slides/slide106.xml"/><Relationship Id="rId114" Type="http://schemas.openxmlformats.org/officeDocument/2006/relationships/slide" Target="slides/slide107.xml"/><Relationship Id="rId115" Type="http://schemas.openxmlformats.org/officeDocument/2006/relationships/slide" Target="slides/slide108.xml"/><Relationship Id="rId116" Type="http://schemas.openxmlformats.org/officeDocument/2006/relationships/slide" Target="slides/slide109.xml"/><Relationship Id="rId117" Type="http://schemas.openxmlformats.org/officeDocument/2006/relationships/slide" Target="slides/slide110.xml"/><Relationship Id="rId118" Type="http://schemas.openxmlformats.org/officeDocument/2006/relationships/slide" Target="slides/slide111.xml"/><Relationship Id="rId119" Type="http://schemas.openxmlformats.org/officeDocument/2006/relationships/slide" Target="slides/slide112.xml"/><Relationship Id="rId120" Type="http://schemas.openxmlformats.org/officeDocument/2006/relationships/slide" Target="slides/slide113.xml"/><Relationship Id="rId121" Type="http://schemas.openxmlformats.org/officeDocument/2006/relationships/slide" Target="slides/slide114.xml"/><Relationship Id="rId122" Type="http://schemas.openxmlformats.org/officeDocument/2006/relationships/slide" Target="slides/slide115.xml"/><Relationship Id="rId123" Type="http://schemas.openxmlformats.org/officeDocument/2006/relationships/slide" Target="slides/slide116.xml"/><Relationship Id="rId124" Type="http://schemas.openxmlformats.org/officeDocument/2006/relationships/slide" Target="slides/slide117.xml"/><Relationship Id="rId125" Type="http://schemas.openxmlformats.org/officeDocument/2006/relationships/slide" Target="slides/slide118.xml"/><Relationship Id="rId126" Type="http://schemas.openxmlformats.org/officeDocument/2006/relationships/slide" Target="slides/slide119.xml"/><Relationship Id="rId127" Type="http://schemas.openxmlformats.org/officeDocument/2006/relationships/slide" Target="slides/slide120.xml"/><Relationship Id="rId128" Type="http://schemas.openxmlformats.org/officeDocument/2006/relationships/slide" Target="slides/slide121.xml"/><Relationship Id="rId129" Type="http://schemas.openxmlformats.org/officeDocument/2006/relationships/slide" Target="slides/slide122.xml"/><Relationship Id="rId130" Type="http://schemas.openxmlformats.org/officeDocument/2006/relationships/slide" Target="slides/slide123.xml"/><Relationship Id="rId131" Type="http://schemas.openxmlformats.org/officeDocument/2006/relationships/slide" Target="slides/slide124.xml"/><Relationship Id="rId132" Type="http://schemas.openxmlformats.org/officeDocument/2006/relationships/slide" Target="slides/slide125.xml"/><Relationship Id="rId133" Type="http://schemas.openxmlformats.org/officeDocument/2006/relationships/slide" Target="slides/slide126.xml"/><Relationship Id="rId134" Type="http://schemas.openxmlformats.org/officeDocument/2006/relationships/slide" Target="slides/slide127.xml"/><Relationship Id="rId135" Type="http://schemas.openxmlformats.org/officeDocument/2006/relationships/slide" Target="slides/slide128.xml"/><Relationship Id="rId136" Type="http://schemas.openxmlformats.org/officeDocument/2006/relationships/slide" Target="slides/slide129.xml"/><Relationship Id="rId137" Type="http://schemas.openxmlformats.org/officeDocument/2006/relationships/slide" Target="slides/slide130.xml"/><Relationship Id="rId138" Type="http://schemas.openxmlformats.org/officeDocument/2006/relationships/slide" Target="slides/slide131.xml"/><Relationship Id="rId139" Type="http://schemas.openxmlformats.org/officeDocument/2006/relationships/slide" Target="slides/slide132.xml"/><Relationship Id="rId140" Type="http://schemas.openxmlformats.org/officeDocument/2006/relationships/slide" Target="slides/slide133.xml"/><Relationship Id="rId141" Type="http://schemas.openxmlformats.org/officeDocument/2006/relationships/slide" Target="slides/slide134.xml"/><Relationship Id="rId142" Type="http://schemas.openxmlformats.org/officeDocument/2006/relationships/slide" Target="slides/slide135.xml"/><Relationship Id="rId143" Type="http://schemas.openxmlformats.org/officeDocument/2006/relationships/slide" Target="slides/slide136.xml"/><Relationship Id="rId144" Type="http://schemas.openxmlformats.org/officeDocument/2006/relationships/slide" Target="slides/slide137.xml"/><Relationship Id="rId145" Type="http://schemas.openxmlformats.org/officeDocument/2006/relationships/slide" Target="slides/slide138.xml"/><Relationship Id="rId146" Type="http://schemas.openxmlformats.org/officeDocument/2006/relationships/slide" Target="slides/slide139.xml"/><Relationship Id="rId147" Type="http://schemas.openxmlformats.org/officeDocument/2006/relationships/slide" Target="slides/slide140.xml"/><Relationship Id="rId148" Type="http://schemas.openxmlformats.org/officeDocument/2006/relationships/slide" Target="slides/slide141.xml"/><Relationship Id="rId149" Type="http://schemas.openxmlformats.org/officeDocument/2006/relationships/slide" Target="slides/slide142.xml"/><Relationship Id="rId150" Type="http://schemas.openxmlformats.org/officeDocument/2006/relationships/slide" Target="slides/slide143.xml"/><Relationship Id="rId151" Type="http://schemas.openxmlformats.org/officeDocument/2006/relationships/slide" Target="slides/slide144.xml"/><Relationship Id="rId152" Type="http://schemas.openxmlformats.org/officeDocument/2006/relationships/slide" Target="slides/slide145.xml"/><Relationship Id="rId153" Type="http://schemas.openxmlformats.org/officeDocument/2006/relationships/slide" Target="slides/slide146.xml"/><Relationship Id="rId154" Type="http://schemas.openxmlformats.org/officeDocument/2006/relationships/slide" Target="slides/slide147.xml"/><Relationship Id="rId155" Type="http://schemas.openxmlformats.org/officeDocument/2006/relationships/slide" Target="slides/slide148.xml"/><Relationship Id="rId156" Type="http://schemas.openxmlformats.org/officeDocument/2006/relationships/slide" Target="slides/slide149.xml"/><Relationship Id="rId157" Type="http://schemas.openxmlformats.org/officeDocument/2006/relationships/slide" Target="slides/slide150.xml"/><Relationship Id="rId158" Type="http://schemas.openxmlformats.org/officeDocument/2006/relationships/slide" Target="slides/slide151.xml"/><Relationship Id="rId159" Type="http://schemas.openxmlformats.org/officeDocument/2006/relationships/slide" Target="slides/slide152.xml"/><Relationship Id="rId160" Type="http://schemas.openxmlformats.org/officeDocument/2006/relationships/slide" Target="slides/slide153.xml"/><Relationship Id="rId161" Type="http://schemas.openxmlformats.org/officeDocument/2006/relationships/slide" Target="slides/slide154.xml"/><Relationship Id="rId162" Type="http://schemas.openxmlformats.org/officeDocument/2006/relationships/slide" Target="slides/slide155.xml"/><Relationship Id="rId163" Type="http://schemas.openxmlformats.org/officeDocument/2006/relationships/slide" Target="slides/slide156.xml"/><Relationship Id="rId164" Type="http://schemas.openxmlformats.org/officeDocument/2006/relationships/slide" Target="slides/slide157.xml"/><Relationship Id="rId165" Type="http://schemas.openxmlformats.org/officeDocument/2006/relationships/slide" Target="slides/slide158.xml"/><Relationship Id="rId166" Type="http://schemas.openxmlformats.org/officeDocument/2006/relationships/slide" Target="slides/slide159.xml"/><Relationship Id="rId167" Type="http://schemas.openxmlformats.org/officeDocument/2006/relationships/slide" Target="slides/slide160.xml"/><Relationship Id="rId168" Type="http://schemas.openxmlformats.org/officeDocument/2006/relationships/slide" Target="slides/slide161.xml"/><Relationship Id="rId169" Type="http://schemas.openxmlformats.org/officeDocument/2006/relationships/slide" Target="slides/slide162.xml"/><Relationship Id="rId170" Type="http://schemas.openxmlformats.org/officeDocument/2006/relationships/slide" Target="slides/slide163.xml"/><Relationship Id="rId171" Type="http://schemas.openxmlformats.org/officeDocument/2006/relationships/slide" Target="slides/slide164.xml"/><Relationship Id="rId172" Type="http://schemas.openxmlformats.org/officeDocument/2006/relationships/slide" Target="slides/slide165.xml"/><Relationship Id="rId173" Type="http://schemas.openxmlformats.org/officeDocument/2006/relationships/slide" Target="slides/slide166.xml"/><Relationship Id="rId174" Type="http://schemas.openxmlformats.org/officeDocument/2006/relationships/slide" Target="slides/slide167.xml"/><Relationship Id="rId175" Type="http://schemas.openxmlformats.org/officeDocument/2006/relationships/slide" Target="slides/slide168.xml"/><Relationship Id="rId176" Type="http://schemas.openxmlformats.org/officeDocument/2006/relationships/slide" Target="slides/slide169.xml"/><Relationship Id="rId177" Type="http://schemas.openxmlformats.org/officeDocument/2006/relationships/slide" Target="slides/slide170.xml"/><Relationship Id="rId178" Type="http://schemas.openxmlformats.org/officeDocument/2006/relationships/slide" Target="slides/slide171.xml"/><Relationship Id="rId179" Type="http://schemas.openxmlformats.org/officeDocument/2006/relationships/slide" Target="slides/slide172.xml"/><Relationship Id="rId180" Type="http://schemas.openxmlformats.org/officeDocument/2006/relationships/slide" Target="slides/slide173.xml"/><Relationship Id="rId181" Type="http://schemas.openxmlformats.org/officeDocument/2006/relationships/slide" Target="slides/slide174.xml"/><Relationship Id="rId182" Type="http://schemas.openxmlformats.org/officeDocument/2006/relationships/slide" Target="slides/slide175.xml"/><Relationship Id="rId183" Type="http://schemas.openxmlformats.org/officeDocument/2006/relationships/slide" Target="slides/slide176.xml"/><Relationship Id="rId184" Type="http://schemas.openxmlformats.org/officeDocument/2006/relationships/slide" Target="slides/slide177.xml"/><Relationship Id="rId185" Type="http://schemas.openxmlformats.org/officeDocument/2006/relationships/slide" Target="slides/slide178.xml"/><Relationship Id="rId186" Type="http://schemas.openxmlformats.org/officeDocument/2006/relationships/slide" Target="slides/slide179.xml"/><Relationship Id="rId187" Type="http://schemas.openxmlformats.org/officeDocument/2006/relationships/slide" Target="slides/slide180.xml"/><Relationship Id="rId188" Type="http://schemas.openxmlformats.org/officeDocument/2006/relationships/slide" Target="slides/slide181.xml"/><Relationship Id="rId189" Type="http://schemas.openxmlformats.org/officeDocument/2006/relationships/slide" Target="slides/slide182.xml"/><Relationship Id="rId190" Type="http://schemas.openxmlformats.org/officeDocument/2006/relationships/slide" Target="slides/slide183.xml"/><Relationship Id="rId191" Type="http://schemas.openxmlformats.org/officeDocument/2006/relationships/slide" Target="slides/slide184.xml"/><Relationship Id="rId192" Type="http://schemas.openxmlformats.org/officeDocument/2006/relationships/slide" Target="slides/slide185.xml"/><Relationship Id="rId193" Type="http://schemas.openxmlformats.org/officeDocument/2006/relationships/slide" Target="slides/slide186.xml"/><Relationship Id="rId194" Type="http://schemas.openxmlformats.org/officeDocument/2006/relationships/slide" Target="slides/slide187.xml"/><Relationship Id="rId195" Type="http://schemas.openxmlformats.org/officeDocument/2006/relationships/slide" Target="slides/slide188.xml"/><Relationship Id="rId196" Type="http://schemas.openxmlformats.org/officeDocument/2006/relationships/slide" Target="slides/slide189.xml"/><Relationship Id="rId197" Type="http://schemas.openxmlformats.org/officeDocument/2006/relationships/slide" Target="slides/slide190.xml"/><Relationship Id="rId198" Type="http://schemas.openxmlformats.org/officeDocument/2006/relationships/slide" Target="slides/slide191.xml"/><Relationship Id="rId199" Type="http://schemas.openxmlformats.org/officeDocument/2006/relationships/slide" Target="slides/slide192.xml"/><Relationship Id="rId200" Type="http://schemas.openxmlformats.org/officeDocument/2006/relationships/slide" Target="slides/slide193.xml"/><Relationship Id="rId201" Type="http://schemas.openxmlformats.org/officeDocument/2006/relationships/slide" Target="slides/slide194.xml"/><Relationship Id="rId202" Type="http://schemas.openxmlformats.org/officeDocument/2006/relationships/slide" Target="slides/slide195.xml"/><Relationship Id="rId203" Type="http://schemas.openxmlformats.org/officeDocument/2006/relationships/slide" Target="slides/slide196.xml"/><Relationship Id="rId204" Type="http://schemas.openxmlformats.org/officeDocument/2006/relationships/slide" Target="slides/slide197.xml"/><Relationship Id="rId205" Type="http://schemas.openxmlformats.org/officeDocument/2006/relationships/slide" Target="slides/slide198.xml"/><Relationship Id="rId206" Type="http://schemas.openxmlformats.org/officeDocument/2006/relationships/slide" Target="slides/slide199.xml"/><Relationship Id="rId207" Type="http://schemas.openxmlformats.org/officeDocument/2006/relationships/slide" Target="slides/slide200.xml"/><Relationship Id="rId208" Type="http://schemas.openxmlformats.org/officeDocument/2006/relationships/slide" Target="slides/slide201.xml"/><Relationship Id="rId209" Type="http://schemas.openxmlformats.org/officeDocument/2006/relationships/slide" Target="slides/slide202.xml"/><Relationship Id="rId210" Type="http://schemas.openxmlformats.org/officeDocument/2006/relationships/slide" Target="slides/slide203.xml"/><Relationship Id="rId211" Type="http://schemas.openxmlformats.org/officeDocument/2006/relationships/slide" Target="slides/slide204.xml"/><Relationship Id="rId212" Type="http://schemas.openxmlformats.org/officeDocument/2006/relationships/slide" Target="slides/slide205.xml"/><Relationship Id="rId213" Type="http://schemas.openxmlformats.org/officeDocument/2006/relationships/slide" Target="slides/slide206.xml"/><Relationship Id="rId214" Type="http://schemas.openxmlformats.org/officeDocument/2006/relationships/slide" Target="slides/slide207.xml"/><Relationship Id="rId215" Type="http://schemas.openxmlformats.org/officeDocument/2006/relationships/slide" Target="slides/slide208.xml"/><Relationship Id="rId216" Type="http://schemas.openxmlformats.org/officeDocument/2006/relationships/slide" Target="slides/slide209.xml"/><Relationship Id="rId217" Type="http://schemas.openxmlformats.org/officeDocument/2006/relationships/slide" Target="slides/slide210.xml"/><Relationship Id="rId218" Type="http://schemas.openxmlformats.org/officeDocument/2006/relationships/slide" Target="slides/slide211.xml"/><Relationship Id="rId219" Type="http://schemas.openxmlformats.org/officeDocument/2006/relationships/slide" Target="slides/slide212.xml"/><Relationship Id="rId220" Type="http://schemas.openxmlformats.org/officeDocument/2006/relationships/slide" Target="slides/slide213.xml"/><Relationship Id="rId221" Type="http://schemas.openxmlformats.org/officeDocument/2006/relationships/slide" Target="slides/slide214.xml"/><Relationship Id="rId222" Type="http://schemas.openxmlformats.org/officeDocument/2006/relationships/slide" Target="slides/slide215.xml"/><Relationship Id="rId223" Type="http://schemas.openxmlformats.org/officeDocument/2006/relationships/slide" Target="slides/slide216.xml"/><Relationship Id="rId224" Type="http://schemas.openxmlformats.org/officeDocument/2006/relationships/slide" Target="slides/slide217.xml"/><Relationship Id="rId225" Type="http://schemas.openxmlformats.org/officeDocument/2006/relationships/slide" Target="slides/slide218.xml"/><Relationship Id="rId226" Type="http://schemas.openxmlformats.org/officeDocument/2006/relationships/slide" Target="slides/slide219.xml"/><Relationship Id="rId227" Type="http://schemas.openxmlformats.org/officeDocument/2006/relationships/slide" Target="slides/slide220.xml"/><Relationship Id="rId228" Type="http://schemas.openxmlformats.org/officeDocument/2006/relationships/slide" Target="slides/slide221.xml"/><Relationship Id="rId229" Type="http://schemas.openxmlformats.org/officeDocument/2006/relationships/slide" Target="slides/slide222.xml"/><Relationship Id="rId230" Type="http://schemas.openxmlformats.org/officeDocument/2006/relationships/slide" Target="slides/slide223.xml"/><Relationship Id="rId231" Type="http://schemas.openxmlformats.org/officeDocument/2006/relationships/slide" Target="slides/slide224.xml"/><Relationship Id="rId232" Type="http://schemas.openxmlformats.org/officeDocument/2006/relationships/slide" Target="slides/slide225.xml"/><Relationship Id="rId233" Type="http://schemas.openxmlformats.org/officeDocument/2006/relationships/slide" Target="slides/slide226.xml"/><Relationship Id="rId234" Type="http://schemas.openxmlformats.org/officeDocument/2006/relationships/slide" Target="slides/slide227.xml"/><Relationship Id="rId235" Type="http://schemas.openxmlformats.org/officeDocument/2006/relationships/slide" Target="slides/slide228.xml"/><Relationship Id="rId236" Type="http://schemas.openxmlformats.org/officeDocument/2006/relationships/slide" Target="slides/slide229.xml"/><Relationship Id="rId237" Type="http://schemas.openxmlformats.org/officeDocument/2006/relationships/slide" Target="slides/slide230.xml"/><Relationship Id="rId238" Type="http://schemas.openxmlformats.org/officeDocument/2006/relationships/slide" Target="slides/slide231.xml"/><Relationship Id="rId239" Type="http://schemas.openxmlformats.org/officeDocument/2006/relationships/slide" Target="slides/slide232.xml"/><Relationship Id="rId240" Type="http://schemas.openxmlformats.org/officeDocument/2006/relationships/slide" Target="slides/slide233.xml"/><Relationship Id="rId241" Type="http://schemas.openxmlformats.org/officeDocument/2006/relationships/slide" Target="slides/slide234.xml"/><Relationship Id="rId242" Type="http://schemas.openxmlformats.org/officeDocument/2006/relationships/slide" Target="slides/slide235.xml"/><Relationship Id="rId243" Type="http://schemas.openxmlformats.org/officeDocument/2006/relationships/slide" Target="slides/slide236.xml"/><Relationship Id="rId244" Type="http://schemas.openxmlformats.org/officeDocument/2006/relationships/slide" Target="slides/slide237.xml"/><Relationship Id="rId245" Type="http://schemas.openxmlformats.org/officeDocument/2006/relationships/slide" Target="slides/slide238.xml"/><Relationship Id="rId246" Type="http://schemas.openxmlformats.org/officeDocument/2006/relationships/slide" Target="slides/slide239.xml"/><Relationship Id="rId247" Type="http://schemas.openxmlformats.org/officeDocument/2006/relationships/slide" Target="slides/slide240.xml"/><Relationship Id="rId248" Type="http://schemas.openxmlformats.org/officeDocument/2006/relationships/slide" Target="slides/slide241.xml"/><Relationship Id="rId249" Type="http://schemas.openxmlformats.org/officeDocument/2006/relationships/slide" Target="slides/slide242.xml"/><Relationship Id="rId250" Type="http://schemas.openxmlformats.org/officeDocument/2006/relationships/slide" Target="slides/slide243.xml"/><Relationship Id="rId251" Type="http://schemas.openxmlformats.org/officeDocument/2006/relationships/slide" Target="slides/slide244.xml"/><Relationship Id="rId252" Type="http://schemas.openxmlformats.org/officeDocument/2006/relationships/slide" Target="slides/slide245.xml"/><Relationship Id="rId253" Type="http://schemas.openxmlformats.org/officeDocument/2006/relationships/slide" Target="slides/slide246.xml"/><Relationship Id="rId254" Type="http://schemas.openxmlformats.org/officeDocument/2006/relationships/slide" Target="slides/slide247.xml"/><Relationship Id="rId255" Type="http://schemas.openxmlformats.org/officeDocument/2006/relationships/slide" Target="slides/slide248.xml"/><Relationship Id="rId256" Type="http://schemas.openxmlformats.org/officeDocument/2006/relationships/slide" Target="slides/slide249.xml"/><Relationship Id="rId257" Type="http://schemas.openxmlformats.org/officeDocument/2006/relationships/slide" Target="slides/slide250.xml"/><Relationship Id="rId258" Type="http://schemas.openxmlformats.org/officeDocument/2006/relationships/slide" Target="slides/slide251.xml"/><Relationship Id="rId259" Type="http://schemas.openxmlformats.org/officeDocument/2006/relationships/slide" Target="slides/slide252.xml"/><Relationship Id="rId260" Type="http://schemas.openxmlformats.org/officeDocument/2006/relationships/slide" Target="slides/slide253.xml"/><Relationship Id="rId261" Type="http://schemas.openxmlformats.org/officeDocument/2006/relationships/slide" Target="slides/slide254.xml"/><Relationship Id="rId262" Type="http://schemas.openxmlformats.org/officeDocument/2006/relationships/slide" Target="slides/slide255.xml"/><Relationship Id="rId263" Type="http://schemas.openxmlformats.org/officeDocument/2006/relationships/slide" Target="slides/slide256.xml"/><Relationship Id="rId264" Type="http://schemas.openxmlformats.org/officeDocument/2006/relationships/slide" Target="slides/slide257.xml"/><Relationship Id="rId265" Type="http://schemas.openxmlformats.org/officeDocument/2006/relationships/slide" Target="slides/slide258.xml"/><Relationship Id="rId266" Type="http://schemas.openxmlformats.org/officeDocument/2006/relationships/slide" Target="slides/slide259.xml"/><Relationship Id="rId267" Type="http://schemas.openxmlformats.org/officeDocument/2006/relationships/slide" Target="slides/slide260.xml"/><Relationship Id="rId268" Type="http://schemas.openxmlformats.org/officeDocument/2006/relationships/slide" Target="slides/slide261.xml"/><Relationship Id="rId269" Type="http://schemas.openxmlformats.org/officeDocument/2006/relationships/slide" Target="slides/slide262.xml"/><Relationship Id="rId270" Type="http://schemas.openxmlformats.org/officeDocument/2006/relationships/slide" Target="slides/slide263.xml"/><Relationship Id="rId271" Type="http://schemas.openxmlformats.org/officeDocument/2006/relationships/slide" Target="slides/slide264.xml"/><Relationship Id="rId272" Type="http://schemas.openxmlformats.org/officeDocument/2006/relationships/slide" Target="slides/slide265.xml"/><Relationship Id="rId273" Type="http://schemas.openxmlformats.org/officeDocument/2006/relationships/slide" Target="slides/slide266.xml"/><Relationship Id="rId274" Type="http://schemas.openxmlformats.org/officeDocument/2006/relationships/slide" Target="slides/slide267.xml"/><Relationship Id="rId275" Type="http://schemas.openxmlformats.org/officeDocument/2006/relationships/slide" Target="slides/slide268.xml"/><Relationship Id="rId276" Type="http://schemas.openxmlformats.org/officeDocument/2006/relationships/slide" Target="slides/slide269.xml"/><Relationship Id="rId277" Type="http://schemas.openxmlformats.org/officeDocument/2006/relationships/slide" Target="slides/slide270.xml"/><Relationship Id="rId278" Type="http://schemas.openxmlformats.org/officeDocument/2006/relationships/slide" Target="slides/slide271.xml"/><Relationship Id="rId279" Type="http://schemas.openxmlformats.org/officeDocument/2006/relationships/slide" Target="slides/slide272.xml"/><Relationship Id="rId280" Type="http://schemas.openxmlformats.org/officeDocument/2006/relationships/slide" Target="slides/slide273.xml"/><Relationship Id="rId281" Type="http://schemas.openxmlformats.org/officeDocument/2006/relationships/slide" Target="slides/slide274.xml"/><Relationship Id="rId282" Type="http://schemas.openxmlformats.org/officeDocument/2006/relationships/slide" Target="slides/slide275.xml"/><Relationship Id="rId283" Type="http://schemas.openxmlformats.org/officeDocument/2006/relationships/slide" Target="slides/slide276.xml"/><Relationship Id="rId284" Type="http://schemas.openxmlformats.org/officeDocument/2006/relationships/slide" Target="slides/slide277.xml"/><Relationship Id="rId285" Type="http://schemas.openxmlformats.org/officeDocument/2006/relationships/slide" Target="slides/slide278.xml"/><Relationship Id="rId286" Type="http://schemas.openxmlformats.org/officeDocument/2006/relationships/slide" Target="slides/slide279.xml"/><Relationship Id="rId287" Type="http://schemas.openxmlformats.org/officeDocument/2006/relationships/slide" Target="slides/slide280.xml"/><Relationship Id="rId288" Type="http://schemas.openxmlformats.org/officeDocument/2006/relationships/slide" Target="slides/slide281.xml"/><Relationship Id="rId289" Type="http://schemas.openxmlformats.org/officeDocument/2006/relationships/slide" Target="slides/slide282.xml"/><Relationship Id="rId290" Type="http://schemas.openxmlformats.org/officeDocument/2006/relationships/slide" Target="slides/slide283.xml"/><Relationship Id="rId291" Type="http://schemas.openxmlformats.org/officeDocument/2006/relationships/slide" Target="slides/slide284.xml"/><Relationship Id="rId292" Type="http://schemas.openxmlformats.org/officeDocument/2006/relationships/slide" Target="slides/slide285.xml"/><Relationship Id="rId293" Type="http://schemas.openxmlformats.org/officeDocument/2006/relationships/slide" Target="slides/slide286.xml"/><Relationship Id="rId294" Type="http://schemas.openxmlformats.org/officeDocument/2006/relationships/slide" Target="slides/slide287.xml"/><Relationship Id="rId295" Type="http://schemas.openxmlformats.org/officeDocument/2006/relationships/slide" Target="slides/slide288.xml"/><Relationship Id="rId296" Type="http://schemas.openxmlformats.org/officeDocument/2006/relationships/slide" Target="slides/slide289.xml"/><Relationship Id="rId297" Type="http://schemas.openxmlformats.org/officeDocument/2006/relationships/slide" Target="slides/slide290.xml"/><Relationship Id="rId298" Type="http://schemas.openxmlformats.org/officeDocument/2006/relationships/slide" Target="slides/slide291.xml"/><Relationship Id="rId299" Type="http://schemas.openxmlformats.org/officeDocument/2006/relationships/slide" Target="slides/slide292.xml"/><Relationship Id="rId300" Type="http://schemas.openxmlformats.org/officeDocument/2006/relationships/slide" Target="slides/slide293.xml"/><Relationship Id="rId301" Type="http://schemas.openxmlformats.org/officeDocument/2006/relationships/slide" Target="slides/slide294.xml"/><Relationship Id="rId302" Type="http://schemas.openxmlformats.org/officeDocument/2006/relationships/slide" Target="slides/slide295.xml"/><Relationship Id="rId303" Type="http://schemas.openxmlformats.org/officeDocument/2006/relationships/slide" Target="slides/slide296.xml"/><Relationship Id="rId304" Type="http://schemas.openxmlformats.org/officeDocument/2006/relationships/slide" Target="slides/slide297.xml"/><Relationship Id="rId305" Type="http://schemas.openxmlformats.org/officeDocument/2006/relationships/slide" Target="slides/slide298.xml"/><Relationship Id="rId306" Type="http://schemas.openxmlformats.org/officeDocument/2006/relationships/slide" Target="slides/slide299.xml"/><Relationship Id="rId307" Type="http://schemas.openxmlformats.org/officeDocument/2006/relationships/slide" Target="slides/slide300.xml"/><Relationship Id="rId308" Type="http://schemas.openxmlformats.org/officeDocument/2006/relationships/slide" Target="slides/slide301.xml"/><Relationship Id="rId309" Type="http://schemas.openxmlformats.org/officeDocument/2006/relationships/slide" Target="slides/slide302.xml"/><Relationship Id="rId310" Type="http://schemas.openxmlformats.org/officeDocument/2006/relationships/slide" Target="slides/slide303.xml"/><Relationship Id="rId311" Type="http://schemas.openxmlformats.org/officeDocument/2006/relationships/slide" Target="slides/slide304.xml"/><Relationship Id="rId312" Type="http://schemas.openxmlformats.org/officeDocument/2006/relationships/slide" Target="slides/slide305.xml"/><Relationship Id="rId313" Type="http://schemas.openxmlformats.org/officeDocument/2006/relationships/slide" Target="slides/slide306.xml"/><Relationship Id="rId314" Type="http://schemas.openxmlformats.org/officeDocument/2006/relationships/slide" Target="slides/slide307.xml"/><Relationship Id="rId315" Type="http://schemas.openxmlformats.org/officeDocument/2006/relationships/slide" Target="slides/slide308.xml"/><Relationship Id="rId316" Type="http://schemas.openxmlformats.org/officeDocument/2006/relationships/slide" Target="slides/slide30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.xml"/></Relationships>
</file>

<file path=ppt/notesSlides/_rels/notesSlide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2.xml"/></Relationships>
</file>

<file path=ppt/notesSlides/_rels/notesSlide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3.xml"/></Relationships>
</file>

<file path=ppt/notesSlides/_rels/notesSlide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4.xml"/></Relationships>
</file>

<file path=ppt/notesSlides/_rels/notesSlide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5.xml"/></Relationships>
</file>

<file path=ppt/notesSlides/_rels/notesSlide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6.xml"/></Relationships>
</file>

<file path=ppt/notesSlides/_rels/notesSlide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7.xml"/></Relationships>
</file>

<file path=ppt/notesSlides/_rels/notesSlide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8.xml"/></Relationships>
</file>

<file path=ppt/notesSlides/_rels/notesSlide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9.xml"/></Relationships>
</file>

<file path=ppt/notesSlides/_rels/notesSlide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.xml"/></Relationships>
</file>

<file path=ppt/notesSlides/_rels/notesSlide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1.xml"/></Relationships>
</file>

<file path=ppt/notesSlides/_rels/notesSlide9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2.xml"/></Relationships>
</file>

<file path=ppt/notesSlides/_rels/notesSlide10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4.xml"/></Relationships>
</file>

<file path=ppt/notesSlides/_rels/notesSlide10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5.xml"/></Relationships>
</file>

<file path=ppt/notesSlides/_rels/notesSlide10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6.xml"/></Relationships>
</file>

<file path=ppt/notesSlides/_rels/notesSlide10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7.xml"/></Relationships>
</file>

<file path=ppt/notesSlides/_rels/notesSlide10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8.xml"/></Relationships>
</file>

<file path=ppt/notesSlides/_rels/notesSlide10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9.xml"/></Relationships>
</file>

<file path=ppt/notesSlides/_rels/notesSlide10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0.xml"/></Relationships>
</file>

<file path=ppt/notesSlides/_rels/notesSlide10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1.xml"/></Relationships>
</file>

<file path=ppt/notesSlides/_rels/notesSlide10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2.xml"/></Relationships>
</file>

<file path=ppt/notesSlides/_rels/notesSlide10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3.xml"/></Relationships>
</file>

<file path=ppt/notesSlides/_rels/notesSlide1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4.xml"/></Relationships>
</file>

<file path=ppt/notesSlides/_rels/notesSlide1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5.xml"/></Relationships>
</file>

<file path=ppt/notesSlides/_rels/notesSlide1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6.xml"/></Relationships>
</file>

<file path=ppt/notesSlides/_rels/notesSlide1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7.xml"/></Relationships>
</file>

<file path=ppt/notesSlides/_rels/notesSlide1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8.xml"/></Relationships>
</file>

<file path=ppt/notesSlides/_rels/notesSlide1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9.xml"/></Relationships>
</file>

<file path=ppt/notesSlides/_rels/notesSlide1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0.xml"/></Relationships>
</file>

<file path=ppt/notesSlides/_rels/notesSlide1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1.xml"/></Relationships>
</file>

<file path=ppt/notesSlides/_rels/notesSlide1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2.xml"/></Relationships>
</file>

<file path=ppt/notesSlides/_rels/notesSlide1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3.xml"/></Relationships>
</file>

<file path=ppt/notesSlides/_rels/notesSlide1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4.xml"/></Relationships>
</file>

<file path=ppt/notesSlides/_rels/notesSlide1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5.xml"/></Relationships>
</file>

<file path=ppt/notesSlides/_rels/notesSlide1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6.xml"/></Relationships>
</file>

<file path=ppt/notesSlides/_rels/notesSlide1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7.xml"/></Relationships>
</file>

<file path=ppt/notesSlides/_rels/notesSlide1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8.xml"/></Relationships>
</file>

<file path=ppt/notesSlides/_rels/notesSlide1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9.xml"/></Relationships>
</file>

<file path=ppt/notesSlides/_rels/notesSlide1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0.xml"/></Relationships>
</file>

<file path=ppt/notesSlides/_rels/notesSlide1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1.xml"/></Relationships>
</file>

<file path=ppt/notesSlides/_rels/notesSlide1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2.xml"/></Relationships>
</file>

<file path=ppt/notesSlides/_rels/notesSlide1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3.xml"/></Relationships>
</file>

<file path=ppt/notesSlides/_rels/notesSlide1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4.xml"/></Relationships>
</file>

<file path=ppt/notesSlides/_rels/notesSlide1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5.xml"/></Relationships>
</file>

<file path=ppt/notesSlides/_rels/notesSlide1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6.xml"/></Relationships>
</file>

<file path=ppt/notesSlides/_rels/notesSlide1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7.xml"/></Relationships>
</file>

<file path=ppt/notesSlides/_rels/notesSlide1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8.xml"/></Relationships>
</file>

<file path=ppt/notesSlides/_rels/notesSlide1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9.xml"/></Relationships>
</file>

<file path=ppt/notesSlides/_rels/notesSlide1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0.xml"/></Relationships>
</file>

<file path=ppt/notesSlides/_rels/notesSlide1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1.xml"/></Relationships>
</file>

<file path=ppt/notesSlides/_rels/notesSlide1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2.xml"/></Relationships>
</file>

<file path=ppt/notesSlides/_rels/notesSlide1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3.xml"/></Relationships>
</file>

<file path=ppt/notesSlides/_rels/notesSlide1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4.xml"/></Relationships>
</file>

<file path=ppt/notesSlides/_rels/notesSlide1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5.xml"/></Relationships>
</file>

<file path=ppt/notesSlides/_rels/notesSlide1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6.xml"/></Relationships>
</file>

<file path=ppt/notesSlides/_rels/notesSlide1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7.xml"/></Relationships>
</file>

<file path=ppt/notesSlides/_rels/notesSlide1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8.xml"/></Relationships>
</file>

<file path=ppt/notesSlides/_rels/notesSlide1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9.xml"/></Relationships>
</file>

<file path=ppt/notesSlides/_rels/notesSlide1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0.xml"/></Relationships>
</file>

<file path=ppt/notesSlides/_rels/notesSlide1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1.xml"/></Relationships>
</file>

<file path=ppt/notesSlides/_rels/notesSlide1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2.xml"/></Relationships>
</file>

<file path=ppt/notesSlides/_rels/notesSlide1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3.xml"/></Relationships>
</file>

<file path=ppt/notesSlides/_rels/notesSlide1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4.xml"/></Relationships>
</file>

<file path=ppt/notesSlides/_rels/notesSlide1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5.xml"/></Relationships>
</file>

<file path=ppt/notesSlides/_rels/notesSlide1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6.xml"/></Relationships>
</file>

<file path=ppt/notesSlides/_rels/notesSlide1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7.xml"/></Relationships>
</file>

<file path=ppt/notesSlides/_rels/notesSlide1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8.xml"/></Relationships>
</file>

<file path=ppt/notesSlides/_rels/notesSlide1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9.xml"/></Relationships>
</file>

<file path=ppt/notesSlides/_rels/notesSlide1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0.xml"/></Relationships>
</file>

<file path=ppt/notesSlides/_rels/notesSlide1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1.xml"/></Relationships>
</file>

<file path=ppt/notesSlides/_rels/notesSlide1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2.xml"/></Relationships>
</file>

<file path=ppt/notesSlides/_rels/notesSlide1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3.xml"/></Relationships>
</file>

<file path=ppt/notesSlides/_rels/notesSlide1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4.xml"/></Relationships>
</file>

<file path=ppt/notesSlides/_rels/notesSlide1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5.xml"/></Relationships>
</file>

<file path=ppt/notesSlides/_rels/notesSlide1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6.xml"/></Relationships>
</file>

<file path=ppt/notesSlides/_rels/notesSlide1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7.xml"/></Relationships>
</file>

<file path=ppt/notesSlides/_rels/notesSlide1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8.xml"/></Relationships>
</file>

<file path=ppt/notesSlides/_rels/notesSlide1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9.xml"/></Relationships>
</file>

<file path=ppt/notesSlides/_rels/notesSlide1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0.xml"/></Relationships>
</file>

<file path=ppt/notesSlides/_rels/notesSlide1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1.xml"/></Relationships>
</file>

<file path=ppt/notesSlides/_rels/notesSlide1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3.xml"/></Relationships>
</file>

<file path=ppt/notesSlides/_rels/notesSlide1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4.xml"/></Relationships>
</file>

<file path=ppt/notesSlides/_rels/notesSlide1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5.xml"/></Relationships>
</file>

<file path=ppt/notesSlides/_rels/notesSlide1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6.xml"/></Relationships>
</file>

<file path=ppt/notesSlides/_rels/notesSlide1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7.xml"/></Relationships>
</file>

<file path=ppt/notesSlides/_rels/notesSlide1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8.xml"/></Relationships>
</file>

<file path=ppt/notesSlides/_rels/notesSlide1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9.xml"/></Relationships>
</file>

<file path=ppt/notesSlides/_rels/notesSlide1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0.xml"/></Relationships>
</file>

<file path=ppt/notesSlides/_rels/notesSlide1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1.xml"/></Relationships>
</file>

<file path=ppt/notesSlides/_rels/notesSlide1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2.xml"/></Relationships>
</file>

<file path=ppt/notesSlides/_rels/notesSlide1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3.xml"/></Relationships>
</file>

<file path=ppt/notesSlides/_rels/notesSlide1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4.xml"/></Relationships>
</file>

<file path=ppt/notesSlides/_rels/notesSlide1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5.xml"/></Relationships>
</file>

<file path=ppt/notesSlides/_rels/notesSlide1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6.xml"/></Relationships>
</file>

<file path=ppt/notesSlides/_rels/notesSlide1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7.xml"/></Relationships>
</file>

<file path=ppt/notesSlides/_rels/notesSlide1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8.xml"/></Relationships>
</file>

<file path=ppt/notesSlides/_rels/notesSlide1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9.xml"/></Relationships>
</file>

<file path=ppt/notesSlides/_rels/notesSlide1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0.xml"/></Relationships>
</file>

<file path=ppt/notesSlides/_rels/notesSlide1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1.xml"/></Relationships>
</file>

<file path=ppt/notesSlides/_rels/notesSlide1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2.xml"/></Relationships>
</file>

<file path=ppt/notesSlides/_rels/notesSlide1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3.xml"/></Relationships>
</file>

<file path=ppt/notesSlides/_rels/notesSlide1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4.xml"/></Relationships>
</file>

<file path=ppt/notesSlides/_rels/notesSlide1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5.xml"/></Relationships>
</file>

<file path=ppt/notesSlides/_rels/notesSlide1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6.xml"/></Relationships>
</file>

<file path=ppt/notesSlides/_rels/notesSlide1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7.xml"/></Relationships>
</file>

<file path=ppt/notesSlides/_rels/notesSlide1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8.xml"/></Relationships>
</file>

<file path=ppt/notesSlides/_rels/notesSlide1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9.xml"/></Relationships>
</file>

<file path=ppt/notesSlides/_rels/notesSlide1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0.xml"/></Relationships>
</file>

<file path=ppt/notesSlides/_rels/notesSlide1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1.xml"/></Relationships>
</file>

<file path=ppt/notesSlides/_rels/notesSlide1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2.xml"/></Relationships>
</file>

<file path=ppt/notesSlides/_rels/notesSlide1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3.xml"/></Relationships>
</file>

<file path=ppt/notesSlides/_rels/notesSlide19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4.xml"/></Relationships>
</file>

<file path=ppt/notesSlides/_rels/notesSlide20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5.xml"/></Relationships>
</file>

<file path=ppt/notesSlides/_rels/notesSlide20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6.xml"/></Relationships>
</file>

<file path=ppt/notesSlides/_rels/notesSlide20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7.xml"/></Relationships>
</file>

<file path=ppt/notesSlides/_rels/notesSlide20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8.xml"/></Relationships>
</file>

<file path=ppt/notesSlides/_rels/notesSlide20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9.xml"/></Relationships>
</file>

<file path=ppt/notesSlides/_rels/notesSlide20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0.xml"/></Relationships>
</file>

<file path=ppt/notesSlides/_rels/notesSlide20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1.xml"/></Relationships>
</file>

<file path=ppt/notesSlides/_rels/notesSlide20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2.xml"/></Relationships>
</file>

<file path=ppt/notesSlides/_rels/notesSlide20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3.xml"/></Relationships>
</file>

<file path=ppt/notesSlides/_rels/notesSlide20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4.xml"/></Relationships>
</file>

<file path=ppt/notesSlides/_rels/notesSlide2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5.xml"/></Relationships>
</file>

<file path=ppt/notesSlides/_rels/notesSlide2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6.xml"/></Relationships>
</file>

<file path=ppt/notesSlides/_rels/notesSlide2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7.xml"/></Relationships>
</file>

<file path=ppt/notesSlides/_rels/notesSlide2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8.xml"/></Relationships>
</file>

<file path=ppt/notesSlides/_rels/notesSlide2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9.xml"/></Relationships>
</file>

<file path=ppt/notesSlides/_rels/notesSlide2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0.xml"/></Relationships>
</file>

<file path=ppt/notesSlides/_rels/notesSlide2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1.xml"/></Relationships>
</file>

<file path=ppt/notesSlides/_rels/notesSlide2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2.xml"/></Relationships>
</file>

<file path=ppt/notesSlides/_rels/notesSlide2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3.xml"/></Relationships>
</file>

<file path=ppt/notesSlides/_rels/notesSlide2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4.xml"/></Relationships>
</file>

<file path=ppt/notesSlides/_rels/notesSlide2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5.xml"/></Relationships>
</file>

<file path=ppt/notesSlides/_rels/notesSlide2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6.xml"/></Relationships>
</file>

<file path=ppt/notesSlides/_rels/notesSlide2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7.xml"/></Relationships>
</file>

<file path=ppt/notesSlides/_rels/notesSlide2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8.xml"/></Relationships>
</file>

<file path=ppt/notesSlides/_rels/notesSlide2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9.xml"/></Relationships>
</file>

<file path=ppt/notesSlides/_rels/notesSlide2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0.xml"/></Relationships>
</file>

<file path=ppt/notesSlides/_rels/notesSlide2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1.xml"/></Relationships>
</file>

<file path=ppt/notesSlides/_rels/notesSlide2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2.xml"/></Relationships>
</file>

<file path=ppt/notesSlides/_rels/notesSlide2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3.xml"/></Relationships>
</file>

<file path=ppt/notesSlides/_rels/notesSlide2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4.xml"/></Relationships>
</file>

<file path=ppt/notesSlides/_rels/notesSlide2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5.xml"/></Relationships>
</file>

<file path=ppt/notesSlides/_rels/notesSlide2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6.xml"/></Relationships>
</file>

<file path=ppt/notesSlides/_rels/notesSlide2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7.xml"/></Relationships>
</file>

<file path=ppt/notesSlides/_rels/notesSlide2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8.xml"/></Relationships>
</file>

<file path=ppt/notesSlides/_rels/notesSlide2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9.xml"/></Relationships>
</file>

<file path=ppt/notesSlides/_rels/notesSlide2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0.xml"/></Relationships>
</file>

<file path=ppt/notesSlides/_rels/notesSlide2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1.xml"/></Relationships>
</file>

<file path=ppt/notesSlides/_rels/notesSlide2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2.xml"/></Relationships>
</file>

<file path=ppt/notesSlides/_rels/notesSlide2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3.xml"/></Relationships>
</file>

<file path=ppt/notesSlides/_rels/notesSlide2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4.xml"/></Relationships>
</file>

<file path=ppt/notesSlides/_rels/notesSlide2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5.xml"/></Relationships>
</file>

<file path=ppt/notesSlides/_rels/notesSlide2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6.xml"/></Relationships>
</file>

<file path=ppt/notesSlides/_rels/notesSlide2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7.xml"/></Relationships>
</file>

<file path=ppt/notesSlides/_rels/notesSlide2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8.xml"/></Relationships>
</file>

<file path=ppt/notesSlides/_rels/notesSlide2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9.xml"/></Relationships>
</file>

<file path=ppt/notesSlides/_rels/notesSlide2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0.xml"/></Relationships>
</file>

<file path=ppt/notesSlides/_rels/notesSlide2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1.xml"/></Relationships>
</file>

<file path=ppt/notesSlides/_rels/notesSlide2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2.xml"/></Relationships>
</file>

<file path=ppt/notesSlides/_rels/notesSlide2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3.xml"/></Relationships>
</file>

<file path=ppt/notesSlides/_rels/notesSlide2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5.xml"/></Relationships>
</file>

<file path=ppt/notesSlides/_rels/notesSlide2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6.xml"/></Relationships>
</file>

<file path=ppt/notesSlides/_rels/notesSlide2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7.xml"/></Relationships>
</file>

<file path=ppt/notesSlides/_rels/notesSlide2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8.xml"/></Relationships>
</file>

<file path=ppt/notesSlides/_rels/notesSlide2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9.xml"/></Relationships>
</file>

<file path=ppt/notesSlides/_rels/notesSlide2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0.xml"/></Relationships>
</file>

<file path=ppt/notesSlides/_rels/notesSlide2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1.xml"/></Relationships>
</file>

<file path=ppt/notesSlides/_rels/notesSlide2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2.xml"/></Relationships>
</file>

<file path=ppt/notesSlides/_rels/notesSlide2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3.xml"/></Relationships>
</file>

<file path=ppt/notesSlides/_rels/notesSlide2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4.xml"/></Relationships>
</file>

<file path=ppt/notesSlides/_rels/notesSlide2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5.xml"/></Relationships>
</file>

<file path=ppt/notesSlides/_rels/notesSlide2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6.xml"/></Relationships>
</file>

<file path=ppt/notesSlides/_rels/notesSlide2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7.xml"/></Relationships>
</file>

<file path=ppt/notesSlides/_rels/notesSlide2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8.xml"/></Relationships>
</file>

<file path=ppt/notesSlides/_rels/notesSlide2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9.xml"/></Relationships>
</file>

<file path=ppt/notesSlides/_rels/notesSlide2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0.xml"/></Relationships>
</file>

<file path=ppt/notesSlides/_rels/notesSlide2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1.xml"/></Relationships>
</file>

<file path=ppt/notesSlides/_rels/notesSlide2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2.xml"/></Relationships>
</file>

<file path=ppt/notesSlides/_rels/notesSlide2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3.xml"/></Relationships>
</file>

<file path=ppt/notesSlides/_rels/notesSlide2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4.xml"/></Relationships>
</file>

<file path=ppt/notesSlides/_rels/notesSlide2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5.xml"/></Relationships>
</file>

<file path=ppt/notesSlides/_rels/notesSlide2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6.xml"/></Relationships>
</file>

<file path=ppt/notesSlides/_rels/notesSlide2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7.xml"/></Relationships>
</file>

<file path=ppt/notesSlides/_rels/notesSlide2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8.xml"/></Relationships>
</file>

<file path=ppt/notesSlides/_rels/notesSlide2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9.xml"/></Relationships>
</file>

<file path=ppt/notesSlides/_rels/notesSlide2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0.xml"/></Relationships>
</file>

<file path=ppt/notesSlides/_rels/notesSlide2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1.xml"/></Relationships>
</file>

<file path=ppt/notesSlides/_rels/notesSlide2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2.xml"/></Relationships>
</file>

<file path=ppt/notesSlides/_rels/notesSlide2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3.xml"/></Relationships>
</file>

<file path=ppt/notesSlides/_rels/notesSlide2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4.xml"/></Relationships>
</file>

<file path=ppt/notesSlides/_rels/notesSlide2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5.xml"/></Relationships>
</file>

<file path=ppt/notesSlides/_rels/notesSlide2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6.xml"/></Relationships>
</file>

<file path=ppt/notesSlides/_rels/notesSlide2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7.xml"/></Relationships>
</file>

<file path=ppt/notesSlides/_rels/notesSlide2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8.xml"/></Relationships>
</file>

<file path=ppt/notesSlides/_rels/notesSlide2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9.xml"/></Relationships>
</file>

<file path=ppt/notesSlides/_rels/notesSlide2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0.xml"/></Relationships>
</file>

<file path=ppt/notesSlides/_rels/notesSlide2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1.xml"/></Relationships>
</file>

<file path=ppt/notesSlides/_rels/notesSlide2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2.xml"/></Relationships>
</file>

<file path=ppt/notesSlides/_rels/notesSlide2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3.xml"/></Relationships>
</file>

<file path=ppt/notesSlides/_rels/notesSlide2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4.xml"/></Relationships>
</file>

<file path=ppt/notesSlides/_rels/notesSlide2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5.xml"/></Relationships>
</file>

<file path=ppt/notesSlides/_rels/notesSlide2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6.xml"/></Relationships>
</file>

<file path=ppt/notesSlides/_rels/notesSlide2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7.xml"/></Relationships>
</file>

<file path=ppt/notesSlides/_rels/notesSlide2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8.xml"/></Relationships>
</file>

<file path=ppt/notesSlides/_rels/notesSlide2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9.xml"/></Relationships>
</file>

<file path=ppt/notesSlides/_rels/notesSlide2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0.xml"/></Relationships>
</file>

<file path=ppt/notesSlides/_rels/notesSlide2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1.xml"/></Relationships>
</file>

<file path=ppt/notesSlides/_rels/notesSlide2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2.xml"/></Relationships>
</file>

<file path=ppt/notesSlides/_rels/notesSlide2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3.xml"/></Relationships>
</file>

<file path=ppt/notesSlides/_rels/notesSlide2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4.xml"/></Relationships>
</file>

<file path=ppt/notesSlides/_rels/notesSlide29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5.xml"/></Relationships>
</file>

<file path=ppt/notesSlides/_rels/notesSlide30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6.xml"/></Relationships>
</file>

<file path=ppt/notesSlides/_rels/notesSlide30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7.xml"/></Relationships>
</file>

<file path=ppt/notesSlides/_rels/notesSlide30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8.xml"/></Relationships>
</file>

<file path=ppt/notesSlides/_rels/notesSlide30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Gazebo camera의 FOV·해상도·update_rate가 ROS Image topic으로 연결되는 흐름을 만든다.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/camera/image_raw가 bridge를 통과하고 cv_bridge 소비 노드가 받을 준비가 된 상태를 확인한다.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현재 모듈이 앞뒤 과정과 분리된 예제가 아님을 보여 준다.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이전=M11 RViz2, 다음=M13 LiDAR을 말할 수 있다.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교육생의 시작 상태를 통일한다.</a:t>
            </a:r>
          </a:p>
          <a:p>
            <a:r>
              <a:t>[실행] pwd; source /opt/ros/jazzy/setup.bash; source ~/ros2_curri/my_agv_ws/install/setup.bash</a:t>
            </a:r>
          </a:p>
          <a:p>
            <a:r>
              <a:t>[확인] 현재 폴더와 source 상태를 모두 확인한다.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Gazebo camera의 FOV·해상도·update_rate가 ROS Image topic으로 연결되는 흐름을 만든다.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/camera/image_raw가 bridge를 통과하고 cv_bridge 소비 노드가 받을 준비가 된 상태를 확인한다.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이 모듈이 전체 AGV 프로젝트에 추가하는 기능을 먼저 선언한다.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/camera/image_raw가 bridge를 통과하고 cv_bridge 소비 노드가 받을 준비가 된 상태를 확인한다.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코드를 입력하기 전에 완성 결과와 관찰 기준을 보여 준다.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빨간 target과 노란 장애물의 화면 위치로 camera pose·FOV를 판단합니다.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코드를 입력하기 전에 완성 결과와 관찰 기준을 보여 준다.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Image 타입, publisher 1개 이상, average rate를 함께 찾습니다.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코드를 입력하기 전에 완성 결과와 관찰 기준을 보여 준다.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노란 box와 ‘target … m’ 텍스트가 raw frame 처리 결과인지 확인합니다.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도식의 각 상자가 무엇을 만들고 화살표가 어떤 방향으로 데이터를 보내는지 설명한다.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교육생이 왼쪽에서 오른쪽(또는 제어 방향)으로 흐름을 말할 수 있다.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실제 파일 경로를 보여 주고 어떤 package의 책임인지 설명한다.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교육생이 파일의 부모 package를 찾을 수 있다.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파일을 코드 문법보다 먼저 역할·사용법·확인 화면으로 설명한다.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교육생이 각 파일의 산출물과 확인 위치를 말할 수 있다.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파일을 코드 문법보다 먼저 역할·사용법·확인 화면으로 설명한다.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교육생이 각 파일의 산출물과 확인 위치를 말할 수 있다.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파일을 코드 문법보다 먼저 역할·사용법·확인 화면으로 설명한다.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교육생이 각 파일의 산출물과 확인 위치를 말할 수 있다.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파일을 코드 문법보다 먼저 역할·사용법·확인 화면으로 설명한다.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교육생이 각 파일의 산출물과 확인 위치를 말할 수 있다.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Camera는 SDF에서 영상을 만들고 bridge가 ROS Image로 옮긴 뒤 cv_bridge 코드가 픽셀로 바꿉니다.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Camera raw 화면 → ros2 topic info/hz → debug Image 순서로 정상 여부를 확인합니다.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센서 처리와 영상 인지는 모델 파일과 분리해 Python ROS node package로 만듭니다.</a:t>
            </a:r>
          </a:p>
          <a:p>
            <a:r>
              <a:t>[실행] cd ~/ros2_curri/my_agv_ws/src</a:t>
            </a:r>
          </a:p>
          <a:p>
            <a:r>
              <a:t>ros2 pkg create --build-type ament_python --dependencies rclpy sensor_msgs std_msgs agv_sensors</a:t>
            </a:r>
          </a:p>
          <a:p>
            <a:r>
              <a:t>ros2 pkg create --build-type ament_python --dependencies rclpy sensor_msgs std_msgs agv_vision</a:t>
            </a:r>
          </a:p>
          <a:p>
            <a:r>
              <a:t>[확인] src 아래에 새 package 폴더와 package.xml이 생성되었는지 확인한다.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ROS 2 package의 이름·의존성·빌드 도구를 선언하는 manifest</a:t>
            </a:r>
          </a:p>
          <a:p>
            <a:r>
              <a:t>[실행] mkdir -p ~/ros2_curri/my_agv_ws/src/agv_sensors</a:t>
            </a:r>
          </a:p>
          <a:p>
            <a:r>
              <a:t>nano ~/ros2_curri/my_agv_ws/src/agv_sensors/package.xml</a:t>
            </a:r>
          </a:p>
          <a:p>
            <a:r>
              <a:t>[확인] 빈 파일을 연 뒤 다음 코드 입력 슬라이드로 간다.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코드를 읽어 주는 방식으로 한 줄의 역할과 실행 효과를 연결한다.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각 코드 줄의 뜻과 확인 위치를 한 문장으로 설명한다.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코드를 읽어 주는 방식으로 한 줄의 역할과 실행 효과를 연결한다.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각 코드 줄의 뜻과 확인 위치를 한 문장으로 설명한다.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~/ros2_curri/my_agv_ws/src/agv_sensors/package.xml의 1/3 구현 블록을 직접 입력한다.</a:t>
            </a:r>
          </a:p>
          <a:p>
            <a:r>
              <a:t>[실행] nano ~/ros2_curri/my_agv_ws/src/agv_sensors/package.xml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~/ros2_curri/my_agv_ws/src/agv_sensors/package.xml의 2/3 구현 블록을 직접 입력한다.</a:t>
            </a:r>
          </a:p>
          <a:p>
            <a:r>
              <a:t>[실행] nano ~/ros2_curri/my_agv_ws/src/agv_sensors/package.xml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~/ros2_curri/my_agv_ws/src/agv_sensors/package.xml의 3/3 구현 블록을 직접 입력한다.</a:t>
            </a:r>
          </a:p>
          <a:p>
            <a:r>
              <a:t>[실행] nano ~/ros2_curri/my_agv_ws/src/agv_sensors/package.xml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Python package 파일과 ros2 run 실행 이름을 install하는 설정</a:t>
            </a:r>
          </a:p>
          <a:p>
            <a:r>
              <a:t>[실행] mkdir -p ~/ros2_curri/my_agv_ws/src/agv_sensors</a:t>
            </a:r>
          </a:p>
          <a:p>
            <a:r>
              <a:t>nano ~/ros2_curri/my_agv_ws/src/agv_sensors/setup.py</a:t>
            </a:r>
          </a:p>
          <a:p>
            <a:r>
              <a:t>[확인] 빈 파일을 연 뒤 다음 코드 입력 슬라이드로 간다.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코드를 읽어 주는 방식으로 한 줄의 역할과 실행 효과를 연결한다.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각 코드 줄의 뜻과 확인 위치를 한 문장으로 설명한다.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코드를 읽어 주는 방식으로 한 줄의 역할과 실행 효과를 연결한다.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각 코드 줄의 뜻과 확인 위치를 한 문장으로 설명한다.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~/ros2_curri/my_agv_ws/src/agv_sensors/setup.py의 1/1 구현 블록을 직접 입력한다.</a:t>
            </a:r>
          </a:p>
          <a:p>
            <a:r>
              <a:t>[실행] nano ~/ros2_curri/my_agv_ws/src/agv_sensors/setup.py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ROS 2 package의 이름·의존성·빌드 도구를 선언하는 manifest</a:t>
            </a:r>
          </a:p>
          <a:p>
            <a:r>
              <a:t>[실행] mkdir -p ~/ros2_curri/my_agv_ws/src/agv_vision</a:t>
            </a:r>
          </a:p>
          <a:p>
            <a:r>
              <a:t>nano ~/ros2_curri/my_agv_ws/src/agv_vision/package.xml</a:t>
            </a:r>
          </a:p>
          <a:p>
            <a:r>
              <a:t>[확인] 빈 파일을 연 뒤 다음 코드 입력 슬라이드로 간다.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코드를 읽어 주는 방식으로 한 줄의 역할과 실행 효과를 연결한다.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각 코드 줄의 뜻과 확인 위치를 한 문장으로 설명한다.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코드를 읽어 주는 방식으로 한 줄의 역할과 실행 효과를 연결한다.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각 코드 줄의 뜻과 확인 위치를 한 문장으로 설명한다.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~/ros2_curri/my_agv_ws/src/agv_vision/package.xml의 1/2 구현 블록을 직접 입력한다.</a:t>
            </a:r>
          </a:p>
          <a:p>
            <a:r>
              <a:t>[실행] nano ~/ros2_curri/my_agv_ws/src/agv_vision/package.xml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~/ros2_curri/my_agv_ws/src/agv_vision/package.xml의 2/2 구현 블록을 직접 입력한다.</a:t>
            </a:r>
          </a:p>
          <a:p>
            <a:r>
              <a:t>[실행] nano ~/ros2_curri/my_agv_ws/src/agv_vision/package.xml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Python package 파일과 ros2 run 실행 이름을 install하는 설정</a:t>
            </a:r>
          </a:p>
          <a:p>
            <a:r>
              <a:t>[실행] mkdir -p ~/ros2_curri/my_agv_ws/src/agv_vision</a:t>
            </a:r>
          </a:p>
          <a:p>
            <a:r>
              <a:t>nano ~/ros2_curri/my_agv_ws/src/agv_vision/setup.py</a:t>
            </a:r>
          </a:p>
          <a:p>
            <a:r>
              <a:t>[확인] 빈 파일을 연 뒤 다음 코드 입력 슬라이드로 간다.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코드를 읽어 주는 방식으로 한 줄의 역할과 실행 효과를 연결한다.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각 코드 줄의 뜻과 확인 위치를 한 문장으로 설명한다.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코드를 읽어 주는 방식으로 한 줄의 역할과 실행 효과를 연결한다.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각 코드 줄의 뜻과 확인 위치를 한 문장으로 설명한다.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~/ros2_curri/my_agv_ws/src/agv_vision/setup.py의 1/1 구현 블록을 직접 입력한다.</a:t>
            </a:r>
          </a:p>
          <a:p>
            <a:r>
              <a:t>[실행] nano ~/ros2_curri/my_agv_ws/src/agv_vision/setup.py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구동·카메라·LiDAR·IMU를 포함해 Gazebo가 시뮬레이션할 완성 AGV</a:t>
            </a:r>
          </a:p>
          <a:p>
            <a:r>
              <a:t>[실행] mkdir -p ~/ros2_curri/my_agv_ws/src/agv_gazebo/models/agv</a:t>
            </a:r>
          </a:p>
          <a:p>
            <a:r>
              <a:t>nano ~/ros2_curri/my_agv_ws/src/agv_gazebo/models/agv/model.sdf</a:t>
            </a:r>
          </a:p>
          <a:p>
            <a:r>
              <a:t>[확인] 빈 파일을 연 뒤 다음 코드 입력 슬라이드로 간다.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코드를 읽어 주는 방식으로 한 줄의 역할과 실행 효과를 연결한다.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각 코드 줄의 뜻과 확인 위치를 한 문장으로 설명한다.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코드를 읽어 주는 방식으로 한 줄의 역할과 실행 효과를 연결한다.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각 코드 줄의 뜻과 확인 위치를 한 문장으로 설명한다.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코드를 읽어 주는 방식으로 한 줄의 역할과 실행 효과를 연결한다.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각 코드 줄의 뜻과 확인 위치를 한 문장으로 설명한다.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코드를 읽어 주는 방식으로 한 줄의 역할과 실행 효과를 연결한다.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각 코드 줄의 뜻과 확인 위치를 한 문장으로 설명한다.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코드를 읽어 주는 방식으로 한 줄의 역할과 실행 효과를 연결한다.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각 코드 줄의 뜻과 확인 위치를 한 문장으로 설명한다.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~/ros2_curri/my_agv_ws/src/agv_gazebo/models/agv/model.sdf의 1/24 구현 블록을 직접 입력한다.</a:t>
            </a:r>
          </a:p>
          <a:p>
            <a:r>
              <a:t>[실행] nano ~/ros2_curri/my_agv_ws/src/agv_gazebo/models/agv/model.sdf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~/ros2_curri/my_agv_ws/src/agv_gazebo/models/agv/model.sdf의 2/24 구현 블록을 직접 입력한다.</a:t>
            </a:r>
          </a:p>
          <a:p>
            <a:r>
              <a:t>[실행] nano ~/ros2_curri/my_agv_ws/src/agv_gazebo/models/agv/model.sdf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~/ros2_curri/my_agv_ws/src/agv_gazebo/models/agv/model.sdf의 3/24 구현 블록을 직접 입력한다.</a:t>
            </a:r>
          </a:p>
          <a:p>
            <a:r>
              <a:t>[실행] nano ~/ros2_curri/my_agv_ws/src/agv_gazebo/models/agv/model.sdf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~/ros2_curri/my_agv_ws/src/agv_gazebo/models/agv/model.sdf의 4/24 구현 블록을 직접 입력한다.</a:t>
            </a:r>
          </a:p>
          <a:p>
            <a:r>
              <a:t>[실행] nano ~/ros2_curri/my_agv_ws/src/agv_gazebo/models/agv/model.sdf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~/ros2_curri/my_agv_ws/src/agv_gazebo/models/agv/model.sdf의 5/24 구현 블록을 직접 입력한다.</a:t>
            </a:r>
          </a:p>
          <a:p>
            <a:r>
              <a:t>[실행] nano ~/ros2_curri/my_agv_ws/src/agv_gazebo/models/agv/model.sdf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~/ros2_curri/my_agv_ws/src/agv_gazebo/models/agv/model.sdf의 6/24 구현 블록을 직접 입력한다.</a:t>
            </a:r>
          </a:p>
          <a:p>
            <a:r>
              <a:t>[실행] nano ~/ros2_curri/my_agv_ws/src/agv_gazebo/models/agv/model.sdf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~/ros2_curri/my_agv_ws/src/agv_gazebo/models/agv/model.sdf의 7/24 구현 블록을 직접 입력한다.</a:t>
            </a:r>
          </a:p>
          <a:p>
            <a:r>
              <a:t>[실행] nano ~/ros2_curri/my_agv_ws/src/agv_gazebo/models/agv/model.sdf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~/ros2_curri/my_agv_ws/src/agv_gazebo/models/agv/model.sdf의 8/24 구현 블록을 직접 입력한다.</a:t>
            </a:r>
          </a:p>
          <a:p>
            <a:r>
              <a:t>[실행] nano ~/ros2_curri/my_agv_ws/src/agv_gazebo/models/agv/model.sdf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~/ros2_curri/my_agv_ws/src/agv_gazebo/models/agv/model.sdf의 9/24 구현 블록을 직접 입력한다.</a:t>
            </a:r>
          </a:p>
          <a:p>
            <a:r>
              <a:t>[실행] nano ~/ros2_curri/my_agv_ws/src/agv_gazebo/models/agv/model.sdf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~/ros2_curri/my_agv_ws/src/agv_gazebo/models/agv/model.sdf의 10/24 구현 블록을 직접 입력한다.</a:t>
            </a:r>
          </a:p>
          <a:p>
            <a:r>
              <a:t>[실행] nano ~/ros2_curri/my_agv_ws/src/agv_gazebo/models/agv/model.sdf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~/ros2_curri/my_agv_ws/src/agv_gazebo/models/agv/model.sdf의 11/24 구현 블록을 직접 입력한다.</a:t>
            </a:r>
          </a:p>
          <a:p>
            <a:r>
              <a:t>[실행] nano ~/ros2_curri/my_agv_ws/src/agv_gazebo/models/agv/model.sdf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~/ros2_curri/my_agv_ws/src/agv_gazebo/models/agv/model.sdf의 12/24 구현 블록을 직접 입력한다.</a:t>
            </a:r>
          </a:p>
          <a:p>
            <a:r>
              <a:t>[실행] nano ~/ros2_curri/my_agv_ws/src/agv_gazebo/models/agv/model.sdf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~/ros2_curri/my_agv_ws/src/agv_gazebo/models/agv/model.sdf의 13/24 구현 블록을 직접 입력한다.</a:t>
            </a:r>
          </a:p>
          <a:p>
            <a:r>
              <a:t>[실행] nano ~/ros2_curri/my_agv_ws/src/agv_gazebo/models/agv/model.sdf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~/ros2_curri/my_agv_ws/src/agv_gazebo/models/agv/model.sdf의 14/24 구현 블록을 직접 입력한다.</a:t>
            </a:r>
          </a:p>
          <a:p>
            <a:r>
              <a:t>[실행] nano ~/ros2_curri/my_agv_ws/src/agv_gazebo/models/agv/model.sdf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~/ros2_curri/my_agv_ws/src/agv_gazebo/models/agv/model.sdf의 15/24 구현 블록을 직접 입력한다.</a:t>
            </a:r>
          </a:p>
          <a:p>
            <a:r>
              <a:t>[실행] nano ~/ros2_curri/my_agv_ws/src/agv_gazebo/models/agv/model.sdf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~/ros2_curri/my_agv_ws/src/agv_gazebo/models/agv/model.sdf의 16/24 구현 블록을 직접 입력한다.</a:t>
            </a:r>
          </a:p>
          <a:p>
            <a:r>
              <a:t>[실행] nano ~/ros2_curri/my_agv_ws/src/agv_gazebo/models/agv/model.sdf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~/ros2_curri/my_agv_ws/src/agv_gazebo/models/agv/model.sdf의 17/24 구현 블록을 직접 입력한다.</a:t>
            </a:r>
          </a:p>
          <a:p>
            <a:r>
              <a:t>[실행] nano ~/ros2_curri/my_agv_ws/src/agv_gazebo/models/agv/model.sdf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~/ros2_curri/my_agv_ws/src/agv_gazebo/models/agv/model.sdf의 18/24 구현 블록을 직접 입력한다.</a:t>
            </a:r>
          </a:p>
          <a:p>
            <a:r>
              <a:t>[실행] nano ~/ros2_curri/my_agv_ws/src/agv_gazebo/models/agv/model.sdf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~/ros2_curri/my_agv_ws/src/agv_gazebo/models/agv/model.sdf의 19/24 구현 블록을 직접 입력한다.</a:t>
            </a:r>
          </a:p>
          <a:p>
            <a:r>
              <a:t>[실행] nano ~/ros2_curri/my_agv_ws/src/agv_gazebo/models/agv/model.sdf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~/ros2_curri/my_agv_ws/src/agv_gazebo/models/agv/model.sdf의 20/24 구현 블록을 직접 입력한다.</a:t>
            </a:r>
          </a:p>
          <a:p>
            <a:r>
              <a:t>[실행] nano ~/ros2_curri/my_agv_ws/src/agv_gazebo/models/agv/model.sdf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~/ros2_curri/my_agv_ws/src/agv_gazebo/models/agv/model.sdf의 21/24 구현 블록을 직접 입력한다.</a:t>
            </a:r>
          </a:p>
          <a:p>
            <a:r>
              <a:t>[실행] nano ~/ros2_curri/my_agv_ws/src/agv_gazebo/models/agv/model.sdf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~/ros2_curri/my_agv_ws/src/agv_gazebo/models/agv/model.sdf의 22/24 구현 블록을 직접 입력한다.</a:t>
            </a:r>
          </a:p>
          <a:p>
            <a:r>
              <a:t>[실행] nano ~/ros2_curri/my_agv_ws/src/agv_gazebo/models/agv/model.sdf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~/ros2_curri/my_agv_ws/src/agv_gazebo/models/agv/model.sdf의 23/24 구현 블록을 직접 입력한다.</a:t>
            </a:r>
          </a:p>
          <a:p>
            <a:r>
              <a:t>[실행] nano ~/ros2_curri/my_agv_ws/src/agv_gazebo/models/agv/model.sdf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~/ros2_curri/my_agv_ws/src/agv_gazebo/models/agv/model.sdf의 24/24 구현 블록을 직접 입력한다.</a:t>
            </a:r>
          </a:p>
          <a:p>
            <a:r>
              <a:t>[실행] nano ~/ros2_curri/my_agv_ws/src/agv_gazebo/models/agv/model.sdf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Gazebo Transport 메시지와 ROS 2 topic을 방향별로 연결하는 번역표</a:t>
            </a:r>
          </a:p>
          <a:p>
            <a:r>
              <a:t>[실행] mkdir -p ~/ros2_curri/my_agv_ws/src/agv_gazebo/config</a:t>
            </a:r>
          </a:p>
          <a:p>
            <a:r>
              <a:t>nano ~/ros2_curri/my_agv_ws/src/agv_gazebo/config/bridge.yaml</a:t>
            </a:r>
          </a:p>
          <a:p>
            <a:r>
              <a:t>[확인] 빈 파일을 연 뒤 다음 코드 입력 슬라이드로 간다.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코드를 읽어 주는 방식으로 한 줄의 역할과 실행 효과를 연결한다.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각 코드 줄의 뜻과 확인 위치를 한 문장으로 설명한다.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~/ros2_curri/my_agv_ws/src/agv_gazebo/config/bridge.yaml의 1/3 구현 블록을 직접 입력한다.</a:t>
            </a:r>
          </a:p>
          <a:p>
            <a:r>
              <a:t>[실행] nano ~/ros2_curri/my_agv_ws/src/agv_gazebo/config/bridge.yaml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~/ros2_curri/my_agv_ws/src/agv_gazebo/config/bridge.yaml의 2/3 구현 블록을 직접 입력한다.</a:t>
            </a:r>
          </a:p>
          <a:p>
            <a:r>
              <a:t>[실행] nano ~/ros2_curri/my_agv_ws/src/agv_gazebo/config/bridge.yaml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~/ros2_curri/my_agv_ws/src/agv_gazebo/config/bridge.yaml의 3/3 구현 블록을 직접 입력한다.</a:t>
            </a:r>
          </a:p>
          <a:p>
            <a:r>
              <a:t>[실행] nano ~/ros2_curri/my_agv_ws/src/agv_gazebo/config/bridge.yaml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카메라 Image를 받아 검출 결과와 debug Image를 내보내는 인지 노드</a:t>
            </a:r>
          </a:p>
          <a:p>
            <a:r>
              <a:t>[실행] mkdir -p ~/ros2_curri/my_agv_ws/src/agv_vision/agv_vision</a:t>
            </a:r>
          </a:p>
          <a:p>
            <a:r>
              <a:t>nano ~/ros2_curri/my_agv_ws/src/agv_vision/agv_vision/yolo_node.py</a:t>
            </a:r>
          </a:p>
          <a:p>
            <a:r>
              <a:t>[확인] 빈 파일을 연 뒤 다음 코드 입력 슬라이드로 간다.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코드를 읽어 주는 방식으로 한 줄의 역할과 실행 효과를 연결한다.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각 코드 줄의 뜻과 확인 위치를 한 문장으로 설명한다.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코드를 읽어 주는 방식으로 한 줄의 역할과 실행 효과를 연결한다.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각 코드 줄의 뜻과 확인 위치를 한 문장으로 설명한다.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코드를 읽어 주는 방식으로 한 줄의 역할과 실행 효과를 연결한다.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각 코드 줄의 뜻과 확인 위치를 한 문장으로 설명한다.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코드를 읽어 주는 방식으로 한 줄의 역할과 실행 효과를 연결한다.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각 코드 줄의 뜻과 확인 위치를 한 문장으로 설명한다.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코드를 읽어 주는 방식으로 한 줄의 역할과 실행 효과를 연결한다.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각 코드 줄의 뜻과 확인 위치를 한 문장으로 설명한다.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~/ros2_curri/my_agv_ws/src/agv_vision/agv_vision/yolo_node.py의 1/10 구현 블록을 직접 입력한다.</a:t>
            </a:r>
          </a:p>
          <a:p>
            <a:r>
              <a:t>[실행] nano ~/ros2_curri/my_agv_ws/src/agv_vision/agv_vision/yolo_node.py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~/ros2_curri/my_agv_ws/src/agv_vision/agv_vision/yolo_node.py의 2/10 구현 블록을 직접 입력한다.</a:t>
            </a:r>
          </a:p>
          <a:p>
            <a:r>
              <a:t>[실행] nano ~/ros2_curri/my_agv_ws/src/agv_vision/agv_vision/yolo_node.py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~/ros2_curri/my_agv_ws/src/agv_vision/agv_vision/yolo_node.py의 3/10 구현 블록을 직접 입력한다.</a:t>
            </a:r>
          </a:p>
          <a:p>
            <a:r>
              <a:t>[실행] nano ~/ros2_curri/my_agv_ws/src/agv_vision/agv_vision/yolo_node.py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~/ros2_curri/my_agv_ws/src/agv_vision/agv_vision/yolo_node.py의 4/10 구현 블록을 직접 입력한다.</a:t>
            </a:r>
          </a:p>
          <a:p>
            <a:r>
              <a:t>[실행] nano ~/ros2_curri/my_agv_ws/src/agv_vision/agv_vision/yolo_node.py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~/ros2_curri/my_agv_ws/src/agv_vision/agv_vision/yolo_node.py의 5/10 구현 블록을 직접 입력한다.</a:t>
            </a:r>
          </a:p>
          <a:p>
            <a:r>
              <a:t>[실행] nano ~/ros2_curri/my_agv_ws/src/agv_vision/agv_vision/yolo_node.py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~/ros2_curri/my_agv_ws/src/agv_vision/agv_vision/yolo_node.py의 6/10 구현 블록을 직접 입력한다.</a:t>
            </a:r>
          </a:p>
          <a:p>
            <a:r>
              <a:t>[실행] nano ~/ros2_curri/my_agv_ws/src/agv_vision/agv_vision/yolo_node.py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~/ros2_curri/my_agv_ws/src/agv_vision/agv_vision/yolo_node.py의 7/10 구현 블록을 직접 입력한다.</a:t>
            </a:r>
          </a:p>
          <a:p>
            <a:r>
              <a:t>[실행] nano ~/ros2_curri/my_agv_ws/src/agv_vision/agv_vision/yolo_node.py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~/ros2_curri/my_agv_ws/src/agv_vision/agv_vision/yolo_node.py의 8/10 구현 블록을 직접 입력한다.</a:t>
            </a:r>
          </a:p>
          <a:p>
            <a:r>
              <a:t>[실행] nano ~/ros2_curri/my_agv_ws/src/agv_vision/agv_vision/yolo_node.py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~/ros2_curri/my_agv_ws/src/agv_vision/agv_vision/yolo_node.py의 9/10 구현 블록을 직접 입력한다.</a:t>
            </a:r>
          </a:p>
          <a:p>
            <a:r>
              <a:t>[실행] nano ~/ros2_curri/my_agv_ws/src/agv_vision/agv_vision/yolo_node.py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~/ros2_curri/my_agv_ws/src/agv_vision/agv_vision/yolo_node.py의 10/10 구현 블록을 직접 입력한다.</a:t>
            </a:r>
          </a:p>
          <a:p>
            <a:r>
              <a:t>[실행] nano ~/ros2_curri/my_agv_ws/src/agv_vision/agv_vision/yolo_node.py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해상도·FOV·update_rate는 생성되는 영상의 크기와 주기를 정한다.</a:t>
            </a:r>
          </a:p>
          <a:p>
            <a:r>
              <a:t>[실행] rg -n '&lt;sensor name="camera"|&lt;width&gt;|&lt;height&gt;|&lt;horizontal_fov&gt;|&lt;update_rate&gt;' \</a:t>
            </a:r>
          </a:p>
          <a:p>
            <a:r>
              <a:t>  ~/ros2_curri/my_agv_ws/src/agv_gazebo/models/agv/model.sdf</a:t>
            </a:r>
          </a:p>
          <a:p>
            <a:r>
              <a:t>[확인] 명령 출력에서 슬라이드의 확인 항목을 찾는다.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topic 이름은 SDF sensor와 bridge YAML 양쪽에서 일치해야 한다.</a:t>
            </a:r>
          </a:p>
          <a:p>
            <a:r>
              <a:t>[실행] ros2 topic info /camera/image_raw</a:t>
            </a:r>
          </a:p>
          <a:p>
            <a:r>
              <a:t>ros2 topic hz /camera/image_raw</a:t>
            </a:r>
          </a:p>
          <a:p>
            <a:r>
              <a:t>ros2 run rqt_image_view rqt_image_view</a:t>
            </a:r>
          </a:p>
          <a:p>
            <a:r>
              <a:t>[확인] 명령 출력에서 슬라이드의 확인 항목을 찾는다.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build/source/run을 생략 없이 실행한다.</a:t>
            </a:r>
          </a:p>
          <a:p>
            <a:r>
              <a:t>[실행] # 터미널 1</a:t>
            </a:r>
          </a:p>
          <a:p>
            <a:r>
              <a:t>source /opt/ros/jazzy/setup.bash</a:t>
            </a:r>
          </a:p>
          <a:p>
            <a:r>
              <a:t>source ~/ros2_curri/my_agv_ws/install/setup.bash</a:t>
            </a:r>
          </a:p>
          <a:p>
            <a:r>
              <a:t>ros2 launch agv_bringup agv_sim.launch.py rviz:=false autonomy:=false</a:t>
            </a:r>
          </a:p>
          <a:p/>
          <a:p>
            <a:r>
              <a:t># 터미널 2</a:t>
            </a:r>
          </a:p>
          <a:p>
            <a:r>
              <a:t>source /opt/ros/jazzy/setup.bash</a:t>
            </a:r>
          </a:p>
          <a:p>
            <a:r>
              <a:t>source ~/ros2_curri/my_agv_ws/install/setup.bash</a:t>
            </a:r>
          </a:p>
          <a:p>
            <a:r>
              <a:t>rqt_image_view /camera/image_raw</a:t>
            </a:r>
          </a:p>
          <a:p>
            <a:r>
              <a:t>[확인] /camera/image_raw가 bridge를 통과하고 cv_bridge 소비 노드가 받을 준비가 된 상태를 확인한다.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실제 Ubuntu/ROS 2 환경에서 생성한 검증 화면이다.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빨간 target과 노란 장애물의 화면 위치로 camera pose·FOV를 판단합니다.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실제 Ubuntu/ROS 2 환경에서 생성한 검증 화면이다.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Image 타입, publisher 1개 이상, average rate를 함께 찾습니다.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실제 Ubuntu/ROS 2 환경에서 생성한 검증 화면이다.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노란 box와 ‘target … m’ 텍스트가 raw frame 처리 결과인지 확인합니다.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실제 Ubuntu/ROS 2 환경에서 생성한 검증 화면이다.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① 명령/설정  ② 정상 출력 또는 화면  ③ 다음 검증 명령으로 재확인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검증 명령은 GUI 결과와 별도로 실행해 재현 가능한 완료 기준을 만든다.</a:t>
            </a:r>
          </a:p>
          <a:p>
            <a:r>
              <a:t>[실행] ros2 topic info /camera/image_raw</a:t>
            </a:r>
          </a:p>
          <a:p>
            <a:r>
              <a:t>ros2 topic hz /camera/image_raw</a:t>
            </a:r>
          </a:p>
          <a:p>
            <a:r>
              <a:t>[확인] /camera/image_raw가 bridge를 통과하고 cv_bridge 소비 노드가 받을 준비가 된 상태를 확인한다.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오류를 대신 해결하지 말고 증상부터 우선 확인 순서대로 교육생이 실행하게 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수정 뒤 첫 검증 명령을 다시 실행한다.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슬라이드의 두 대표 오류를 먼저 사용한다.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Complete는 정답 복사본이 아니라 막혔을 때 비교·복구하는 안전망이다.</a:t>
            </a:r>
          </a:p>
          <a:p>
            <a:r>
              <a:t>[실행] cd ~/ros2_curri</a:t>
            </a:r>
          </a:p>
          <a:p>
            <a:r>
              <a:t>diff -ru my_agv_ws/src blocks/D_sensors/M12_camera_sensor/complete/agv_ws/src || true</a:t>
            </a:r>
          </a:p>
          <a:p>
            <a:r>
              <a:t>cp -a my_agv_ws/src my_agv_ws/src_before_M12</a:t>
            </a:r>
          </a:p>
          <a:p>
            <a:r>
              <a:t>cp -a blocks/D_sensors/M12_camera_sensor/complete/agv_ws/src/. my_agv_ws/src/</a:t>
            </a:r>
          </a:p>
          <a:p>
            <a:r>
              <a:t>cd my_agv_ws &amp;&amp; colcon build --symlink-install &amp;&amp; source install/setup.bash</a:t>
            </a:r>
          </a:p>
          <a:p>
            <a:r>
              <a:t>[확인] diff에서 내 파일과 Complete의 차이를 설명할 수 있다.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교육생이 직접 한 값만 바꿔 원인과 결과를 연결하게 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원래 값과 변경 값을 모두 기록한다.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교육생이 자신의 workspace·캡처·로그를 저장했는지 확인하고 다음 모듈의 시작 상태를 읽는다.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M13 LiDAR 시작 조건을 말할 수 있다.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공식 문서는 버전 차이와 확장 학습을 확인할 때 사용한다.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학습자는 본문만으로 현재 모듈을 완료한 상태여야 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LaserScan 범위 배열에서 전방 ±15° 유효 거리의 최소값을 계산한다.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/scan frame·RViz point·/obstacle_distance 출력이 장애물 위치에 반응한다.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현재 모듈이 앞뒤 과정과 분리된 예제가 아님을 보여 준다.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이전=M12 Camera pipeline, 다음=M14 IMU을 말할 수 있다.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교육생의 시작 상태를 통일한다.</a:t>
            </a:r>
          </a:p>
          <a:p>
            <a:r>
              <a:t>[실행] pwd; source /opt/ros/jazzy/setup.bash; source ~/ros2_curri/my_agv_ws/install/setup.bash</a:t>
            </a:r>
          </a:p>
          <a:p>
            <a:r>
              <a:t>[확인] 현재 폴더와 source 상태를 모두 확인한다.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LaserScan 범위 배열에서 전방 ±15° 유효 거리의 최소값을 계산한다.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/scan frame·RViz point·/obstacle_distance 출력이 장애물 위치에 반응한다.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이 모듈이 전체 AGV 프로젝트에 추가하는 기능을 먼저 선언한다.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/scan frame·RViz point·/obstacle_distance 출력이 장애물 위치에 반응한다.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코드를 입력하기 전에 완성 결과와 관찰 기준을 보여 준다.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frame_id, ±pi angle, range_min/max, average rate를 순서대로 읽습니다.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코드를 입력하기 전에 완성 결과와 관찰 기준을 보여 준다.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Displays에서 LaserScan이 켜져 있고 scan frame을 TF가 변환하는지 확인합니다.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도식의 각 상자가 무엇을 만들고 화살표가 어떤 방향으로 데이터를 보내는지 설명한다.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교육생이 왼쪽에서 오른쪽(또는 제어 방향)으로 흐름을 말할 수 있다.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실제 파일 경로를 보여 주고 어떤 package의 책임인지 설명한다.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교육생이 파일의 부모 package를 찾을 수 있다.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파일을 코드 문법보다 먼저 역할·사용법·확인 화면으로 설명한다.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교육생이 각 파일의 산출물과 확인 위치를 말할 수 있다.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파일을 코드 문법보다 먼저 역할·사용법·확인 화면으로 설명한다.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교육생이 각 파일의 산출물과 확인 위치를 말할 수 있다.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LiDAR의 ranges는 거리 배열이고, 각 원소의 방향은 angle_min + index × angle_increment입니다.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terminal에서 frame/range/rate를 보고 RViz LaserScan에서 공간 방향을 확인합니다.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구동·카메라·LiDAR·IMU를 포함해 Gazebo가 시뮬레이션할 완성 AGV</a:t>
            </a:r>
          </a:p>
          <a:p>
            <a:r>
              <a:t>[실행] mkdir -p ~/ros2_curri/my_agv_ws/src/agv_gazebo/models/agv</a:t>
            </a:r>
          </a:p>
          <a:p>
            <a:r>
              <a:t>nano ~/ros2_curri/my_agv_ws/src/agv_gazebo/models/agv/model.sdf</a:t>
            </a:r>
          </a:p>
          <a:p>
            <a:r>
              <a:t>[확인] 빈 파일을 연 뒤 다음 코드 입력 슬라이드로 간다.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코드를 읽어 주는 방식으로 한 줄의 역할과 실행 효과를 연결한다.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각 코드 줄의 뜻과 확인 위치를 한 문장으로 설명한다.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코드를 읽어 주는 방식으로 한 줄의 역할과 실행 효과를 연결한다.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각 코드 줄의 뜻과 확인 위치를 한 문장으로 설명한다.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코드를 읽어 주는 방식으로 한 줄의 역할과 실행 효과를 연결한다.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각 코드 줄의 뜻과 확인 위치를 한 문장으로 설명한다.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코드를 읽어 주는 방식으로 한 줄의 역할과 실행 효과를 연결한다.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각 코드 줄의 뜻과 확인 위치를 한 문장으로 설명한다.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코드를 읽어 주는 방식으로 한 줄의 역할과 실행 효과를 연결한다.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각 코드 줄의 뜻과 확인 위치를 한 문장으로 설명한다.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~/ros2_curri/my_agv_ws/src/agv_gazebo/models/agv/model.sdf의 1/24 구현 블록을 직접 입력한다.</a:t>
            </a:r>
          </a:p>
          <a:p>
            <a:r>
              <a:t>[실행] nano ~/ros2_curri/my_agv_ws/src/agv_gazebo/models/agv/model.sdf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~/ros2_curri/my_agv_ws/src/agv_gazebo/models/agv/model.sdf의 2/24 구현 블록을 직접 입력한다.</a:t>
            </a:r>
          </a:p>
          <a:p>
            <a:r>
              <a:t>[실행] nano ~/ros2_curri/my_agv_ws/src/agv_gazebo/models/agv/model.sdf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~/ros2_curri/my_agv_ws/src/agv_gazebo/models/agv/model.sdf의 3/24 구현 블록을 직접 입력한다.</a:t>
            </a:r>
          </a:p>
          <a:p>
            <a:r>
              <a:t>[실행] nano ~/ros2_curri/my_agv_ws/src/agv_gazebo/models/agv/model.sdf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~/ros2_curri/my_agv_ws/src/agv_gazebo/models/agv/model.sdf의 4/24 구현 블록을 직접 입력한다.</a:t>
            </a:r>
          </a:p>
          <a:p>
            <a:r>
              <a:t>[실행] nano ~/ros2_curri/my_agv_ws/src/agv_gazebo/models/agv/model.sdf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~/ros2_curri/my_agv_ws/src/agv_gazebo/models/agv/model.sdf의 5/24 구현 블록을 직접 입력한다.</a:t>
            </a:r>
          </a:p>
          <a:p>
            <a:r>
              <a:t>[실행] nano ~/ros2_curri/my_agv_ws/src/agv_gazebo/models/agv/model.sdf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~/ros2_curri/my_agv_ws/src/agv_gazebo/models/agv/model.sdf의 6/24 구현 블록을 직접 입력한다.</a:t>
            </a:r>
          </a:p>
          <a:p>
            <a:r>
              <a:t>[실행] nano ~/ros2_curri/my_agv_ws/src/agv_gazebo/models/agv/model.sdf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~/ros2_curri/my_agv_ws/src/agv_gazebo/models/agv/model.sdf의 7/24 구현 블록을 직접 입력한다.</a:t>
            </a:r>
          </a:p>
          <a:p>
            <a:r>
              <a:t>[실행] nano ~/ros2_curri/my_agv_ws/src/agv_gazebo/models/agv/model.sdf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~/ros2_curri/my_agv_ws/src/agv_gazebo/models/agv/model.sdf의 8/24 구현 블록을 직접 입력한다.</a:t>
            </a:r>
          </a:p>
          <a:p>
            <a:r>
              <a:t>[실행] nano ~/ros2_curri/my_agv_ws/src/agv_gazebo/models/agv/model.sdf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~/ros2_curri/my_agv_ws/src/agv_gazebo/models/agv/model.sdf의 9/24 구현 블록을 직접 입력한다.</a:t>
            </a:r>
          </a:p>
          <a:p>
            <a:r>
              <a:t>[실행] nano ~/ros2_curri/my_agv_ws/src/agv_gazebo/models/agv/model.sdf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~/ros2_curri/my_agv_ws/src/agv_gazebo/models/agv/model.sdf의 10/24 구현 블록을 직접 입력한다.</a:t>
            </a:r>
          </a:p>
          <a:p>
            <a:r>
              <a:t>[실행] nano ~/ros2_curri/my_agv_ws/src/agv_gazebo/models/agv/model.sdf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~/ros2_curri/my_agv_ws/src/agv_gazebo/models/agv/model.sdf의 11/24 구현 블록을 직접 입력한다.</a:t>
            </a:r>
          </a:p>
          <a:p>
            <a:r>
              <a:t>[실행] nano ~/ros2_curri/my_agv_ws/src/agv_gazebo/models/agv/model.sdf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~/ros2_curri/my_agv_ws/src/agv_gazebo/models/agv/model.sdf의 12/24 구현 블록을 직접 입력한다.</a:t>
            </a:r>
          </a:p>
          <a:p>
            <a:r>
              <a:t>[실행] nano ~/ros2_curri/my_agv_ws/src/agv_gazebo/models/agv/model.sdf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~/ros2_curri/my_agv_ws/src/agv_gazebo/models/agv/model.sdf의 13/24 구현 블록을 직접 입력한다.</a:t>
            </a:r>
          </a:p>
          <a:p>
            <a:r>
              <a:t>[실행] nano ~/ros2_curri/my_agv_ws/src/agv_gazebo/models/agv/model.sdf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~/ros2_curri/my_agv_ws/src/agv_gazebo/models/agv/model.sdf의 14/24 구현 블록을 직접 입력한다.</a:t>
            </a:r>
          </a:p>
          <a:p>
            <a:r>
              <a:t>[실행] nano ~/ros2_curri/my_agv_ws/src/agv_gazebo/models/agv/model.sdf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~/ros2_curri/my_agv_ws/src/agv_gazebo/models/agv/model.sdf의 15/24 구현 블록을 직접 입력한다.</a:t>
            </a:r>
          </a:p>
          <a:p>
            <a:r>
              <a:t>[실행] nano ~/ros2_curri/my_agv_ws/src/agv_gazebo/models/agv/model.sdf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~/ros2_curri/my_agv_ws/src/agv_gazebo/models/agv/model.sdf의 16/24 구현 블록을 직접 입력한다.</a:t>
            </a:r>
          </a:p>
          <a:p>
            <a:r>
              <a:t>[실행] nano ~/ros2_curri/my_agv_ws/src/agv_gazebo/models/agv/model.sdf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~/ros2_curri/my_agv_ws/src/agv_gazebo/models/agv/model.sdf의 17/24 구현 블록을 직접 입력한다.</a:t>
            </a:r>
          </a:p>
          <a:p>
            <a:r>
              <a:t>[실행] nano ~/ros2_curri/my_agv_ws/src/agv_gazebo/models/agv/model.sdf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~/ros2_curri/my_agv_ws/src/agv_gazebo/models/agv/model.sdf의 18/24 구현 블록을 직접 입력한다.</a:t>
            </a:r>
          </a:p>
          <a:p>
            <a:r>
              <a:t>[실행] nano ~/ros2_curri/my_agv_ws/src/agv_gazebo/models/agv/model.sdf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~/ros2_curri/my_agv_ws/src/agv_gazebo/models/agv/model.sdf의 19/24 구현 블록을 직접 입력한다.</a:t>
            </a:r>
          </a:p>
          <a:p>
            <a:r>
              <a:t>[실행] nano ~/ros2_curri/my_agv_ws/src/agv_gazebo/models/agv/model.sdf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~/ros2_curri/my_agv_ws/src/agv_gazebo/models/agv/model.sdf의 20/24 구현 블록을 직접 입력한다.</a:t>
            </a:r>
          </a:p>
          <a:p>
            <a:r>
              <a:t>[실행] nano ~/ros2_curri/my_agv_ws/src/agv_gazebo/models/agv/model.sdf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~/ros2_curri/my_agv_ws/src/agv_gazebo/models/agv/model.sdf의 21/24 구현 블록을 직접 입력한다.</a:t>
            </a:r>
          </a:p>
          <a:p>
            <a:r>
              <a:t>[실행] nano ~/ros2_curri/my_agv_ws/src/agv_gazebo/models/agv/model.sdf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~/ros2_curri/my_agv_ws/src/agv_gazebo/models/agv/model.sdf의 22/24 구현 블록을 직접 입력한다.</a:t>
            </a:r>
          </a:p>
          <a:p>
            <a:r>
              <a:t>[실행] nano ~/ros2_curri/my_agv_ws/src/agv_gazebo/models/agv/model.sdf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~/ros2_curri/my_agv_ws/src/agv_gazebo/models/agv/model.sdf의 23/24 구현 블록을 직접 입력한다.</a:t>
            </a:r>
          </a:p>
          <a:p>
            <a:r>
              <a:t>[실행] nano ~/ros2_curri/my_agv_ws/src/agv_gazebo/models/agv/model.sdf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~/ros2_curri/my_agv_ws/src/agv_gazebo/models/agv/model.sdf의 24/24 구현 블록을 직접 입력한다.</a:t>
            </a:r>
          </a:p>
          <a:p>
            <a:r>
              <a:t>[실행] nano ~/ros2_curri/my_agv_ws/src/agv_gazebo/models/agv/model.sdf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Gazebo Transport 메시지와 ROS 2 topic을 방향별로 연결하는 번역표</a:t>
            </a:r>
          </a:p>
          <a:p>
            <a:r>
              <a:t>[실행] mkdir -p ~/ros2_curri/my_agv_ws/src/agv_gazebo/config</a:t>
            </a:r>
          </a:p>
          <a:p>
            <a:r>
              <a:t>nano ~/ros2_curri/my_agv_ws/src/agv_gazebo/config/bridge.yaml</a:t>
            </a:r>
          </a:p>
          <a:p>
            <a:r>
              <a:t>[확인] 빈 파일을 연 뒤 다음 코드 입력 슬라이드로 간다.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코드를 읽어 주는 방식으로 한 줄의 역할과 실행 효과를 연결한다.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각 코드 줄의 뜻과 확인 위치를 한 문장으로 설명한다.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~/ros2_curri/my_agv_ws/src/agv_gazebo/config/bridge.yaml의 1/3 구현 블록을 직접 입력한다.</a:t>
            </a:r>
          </a:p>
          <a:p>
            <a:r>
              <a:t>[실행] nano ~/ros2_curri/my_agv_ws/src/agv_gazebo/config/bridge.yaml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~/ros2_curri/my_agv_ws/src/agv_gazebo/config/bridge.yaml의 2/3 구현 블록을 직접 입력한다.</a:t>
            </a:r>
          </a:p>
          <a:p>
            <a:r>
              <a:t>[실행] nano ~/ros2_curri/my_agv_ws/src/agv_gazebo/config/bridge.yaml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~/ros2_curri/my_agv_ws/src/agv_gazebo/config/bridge.yaml의 3/3 구현 블록을 직접 입력한다.</a:t>
            </a:r>
          </a:p>
          <a:p>
            <a:r>
              <a:t>[실행] nano ~/ros2_curri/my_agv_ws/src/agv_gazebo/config/bridge.yaml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LaserScan의 전방 sector에서 유효 거리 최소값을 계산하는 안전 입력 노드</a:t>
            </a:r>
          </a:p>
          <a:p>
            <a:r>
              <a:t>[실행] mkdir -p ~/ros2_curri/my_agv_ws/src/agv_sensors/agv_sensors</a:t>
            </a:r>
          </a:p>
          <a:p>
            <a:r>
              <a:t>nano ~/ros2_curri/my_agv_ws/src/agv_sensors/agv_sensors/lidar_processor.py</a:t>
            </a:r>
          </a:p>
          <a:p>
            <a:r>
              <a:t>[확인] 빈 파일을 연 뒤 다음 코드 입력 슬라이드로 간다.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코드를 읽어 주는 방식으로 한 줄의 역할과 실행 효과를 연결한다.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각 코드 줄의 뜻과 확인 위치를 한 문장으로 설명한다.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코드를 읽어 주는 방식으로 한 줄의 역할과 실행 효과를 연결한다.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각 코드 줄의 뜻과 확인 위치를 한 문장으로 설명한다.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코드를 읽어 주는 방식으로 한 줄의 역할과 실행 효과를 연결한다.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각 코드 줄의 뜻과 확인 위치를 한 문장으로 설명한다.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코드를 읽어 주는 방식으로 한 줄의 역할과 실행 효과를 연결한다.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각 코드 줄의 뜻과 확인 위치를 한 문장으로 설명한다.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코드를 읽어 주는 방식으로 한 줄의 역할과 실행 효과를 연결한다.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각 코드 줄의 뜻과 확인 위치를 한 문장으로 설명한다.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~/ros2_curri/my_agv_ws/src/agv_sensors/agv_sensors/lidar_processor.py의 1/3 구현 블록을 직접 입력한다.</a:t>
            </a:r>
          </a:p>
          <a:p>
            <a:r>
              <a:t>[실행] nano ~/ros2_curri/my_agv_ws/src/agv_sensors/agv_sensors/lidar_processor.py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~/ros2_curri/my_agv_ws/src/agv_sensors/agv_sensors/lidar_processor.py의 2/3 구현 블록을 직접 입력한다.</a:t>
            </a:r>
          </a:p>
          <a:p>
            <a:r>
              <a:t>[실행] nano ~/ros2_curri/my_agv_ws/src/agv_sensors/agv_sensors/lidar_processor.py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~/ros2_curri/my_agv_ws/src/agv_sensors/agv_sensors/lidar_processor.py의 3/3 구현 블록을 직접 입력한다.</a:t>
            </a:r>
          </a:p>
          <a:p>
            <a:r>
              <a:t>[실행] nano ~/ros2_curri/my_agv_ws/src/agv_sensors/agv_sensors/lidar_processor.py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ranges의 index는 angle_min + index×angle_increment로 실제 각도가 된다.</a:t>
            </a:r>
          </a:p>
          <a:p>
            <a:r>
              <a:t>[실행] ros2 interface show sensor_msgs/msg/LaserScan</a:t>
            </a:r>
          </a:p>
          <a:p>
            <a:r>
              <a:t>ros2 topic echo /scan --once</a:t>
            </a:r>
          </a:p>
          <a:p>
            <a:r>
              <a:t>[확인] 명령 출력에서 슬라이드의 확인 항목을 찾는다.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inf·NaN은 충돌 판단에서 제외해야 안전한 최소값을 얻는다.</a:t>
            </a:r>
          </a:p>
          <a:p>
            <a:r>
              <a:t>[실행] source ~/ros2_curri/my_agv_ws/install/setup.bash</a:t>
            </a:r>
          </a:p>
          <a:p>
            <a:r>
              <a:t>ros2 run agv_sensors lidar_processor</a:t>
            </a:r>
          </a:p>
          <a:p>
            <a:r>
              <a:t>ros2 topic echo /obstacle_distance</a:t>
            </a:r>
          </a:p>
          <a:p>
            <a:r>
              <a:t>[확인] 명령 출력에서 슬라이드의 확인 항목을 찾는다.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build/source/run을 생략 없이 실행한다.</a:t>
            </a:r>
          </a:p>
          <a:p>
            <a:r>
              <a:t>[실행] # 터미널 1</a:t>
            </a:r>
          </a:p>
          <a:p>
            <a:r>
              <a:t>source /opt/ros/jazzy/setup.bash</a:t>
            </a:r>
          </a:p>
          <a:p>
            <a:r>
              <a:t>source ~/ros2_curri/my_agv_ws/install/setup.bash</a:t>
            </a:r>
          </a:p>
          <a:p>
            <a:r>
              <a:t>ros2 launch agv_bringup agv_sim.launch.py rviz:=false</a:t>
            </a:r>
          </a:p>
          <a:p/>
          <a:p>
            <a:r>
              <a:t># 터미널 2</a:t>
            </a:r>
          </a:p>
          <a:p>
            <a:r>
              <a:t>source /opt/ros/jazzy/setup.bash</a:t>
            </a:r>
          </a:p>
          <a:p>
            <a:r>
              <a:t>source ~/ros2_curri/my_agv_ws/install/setup.bash</a:t>
            </a:r>
          </a:p>
          <a:p>
            <a:r>
              <a:t>ros2 run agv_sensors lidar_processor</a:t>
            </a:r>
          </a:p>
          <a:p>
            <a:r>
              <a:t>[확인] /scan frame·RViz point·/obstacle_distance 출력이 장애물 위치에 반응한다.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실제 Ubuntu/ROS 2 환경에서 생성한 검증 화면이다.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frame_id, ±pi angle, range_min/max, average rate를 순서대로 읽습니다.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실제 Ubuntu/ROS 2 환경에서 생성한 검증 화면이다.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Displays에서 LaserScan이 켜져 있고 scan frame을 TF가 변환하는지 확인합니다.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실제 Ubuntu/ROS 2 환경에서 생성한 검증 화면이다.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① 명령/설정  ② 정상 출력 또는 화면  ③ 다음 검증 명령으로 재확인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검증 명령은 GUI 결과와 별도로 실행해 재현 가능한 완료 기준을 만든다.</a:t>
            </a:r>
          </a:p>
          <a:p>
            <a:r>
              <a:t>[실행] ros2 topic info /scan</a:t>
            </a:r>
          </a:p>
          <a:p>
            <a:r>
              <a:t>ros2 topic hz /scan</a:t>
            </a:r>
          </a:p>
          <a:p>
            <a:r>
              <a:t>ros2 topic echo /obstacle_distance --once</a:t>
            </a:r>
          </a:p>
          <a:p>
            <a:r>
              <a:t>[확인] /scan frame·RViz point·/obstacle_distance 출력이 장애물 위치에 반응한다.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오류를 대신 해결하지 말고 증상부터 우선 확인 순서대로 교육생이 실행하게 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수정 뒤 첫 검증 명령을 다시 실행한다.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슬라이드의 두 대표 오류를 먼저 사용한다.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Complete는 정답 복사본이 아니라 막혔을 때 비교·복구하는 안전망이다.</a:t>
            </a:r>
          </a:p>
          <a:p>
            <a:r>
              <a:t>[실행] cd ~/ros2_curri</a:t>
            </a:r>
          </a:p>
          <a:p>
            <a:r>
              <a:t>diff -ru my_agv_ws/src blocks/D_sensors/M13_lidar_sensor/complete/agv_ws/src || true</a:t>
            </a:r>
          </a:p>
          <a:p>
            <a:r>
              <a:t>cp -a my_agv_ws/src my_agv_ws/src_before_M13</a:t>
            </a:r>
          </a:p>
          <a:p>
            <a:r>
              <a:t>cp -a blocks/D_sensors/M13_lidar_sensor/complete/agv_ws/src/. my_agv_ws/src/</a:t>
            </a:r>
          </a:p>
          <a:p>
            <a:r>
              <a:t>cd my_agv_ws &amp;&amp; colcon build --symlink-install &amp;&amp; source install/setup.bash</a:t>
            </a:r>
          </a:p>
          <a:p>
            <a:r>
              <a:t>[확인] diff에서 내 파일과 Complete의 차이를 설명할 수 있다.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교육생이 직접 한 값만 바꿔 원인과 결과를 연결하게 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원래 값과 변경 값을 모두 기록한다.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교육생이 자신의 workspace·캡처·로그를 저장했는지 확인하고 다음 모듈의 시작 상태를 읽는다.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M14 IMU 시작 조건을 말할 수 있다.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공식 문서는 버전 차이와 확장 학습을 확인할 때 사용한다.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학습자는 본문만으로 현재 모듈을 완료한 상태여야 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angular_velocity·linear_acceleration·frame_id를 AGV 회전과 가속의 좌표축으로 해석한다.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/imu/data의 z축 gyro 값과 noise 설정을 terminal에서 확인한다.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현재 모듈이 앞뒤 과정과 분리된 예제가 아님을 보여 준다.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이전=M13 /scan, 다음=M15 운영/QoS을 말할 수 있다.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교육생의 시작 상태를 통일한다.</a:t>
            </a:r>
          </a:p>
          <a:p>
            <a:r>
              <a:t>[실행] pwd; source /opt/ros/jazzy/setup.bash; source ~/ros2_curri/my_agv_ws/install/setup.bash</a:t>
            </a:r>
          </a:p>
          <a:p>
            <a:r>
              <a:t>[확인] 현재 폴더와 source 상태를 모두 확인한다.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angular_velocity·linear_acceleration·frame_id를 AGV 회전과 가속의 좌표축으로 해석한다.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/imu/data의 z축 gyro 값과 noise 설정을 terminal에서 확인한다.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이 모듈이 전체 AGV 프로젝트에 추가하는 기능을 먼저 선언한다.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/imu/data의 z축 gyro 값과 noise 설정을 terminal에서 확인한다.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코드를 입력하기 전에 완성 결과와 관찰 기준을 보여 준다.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agv/base_link/imu frame과 angular_velocity·linear_acceleration 필드, average rate를 찾습니다.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도식의 각 상자가 무엇을 만들고 화살표가 어떤 방향으로 데이터를 보내는지 설명한다.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교육생이 왼쪽에서 오른쪽(또는 제어 방향)으로 흐름을 말할 수 있다.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실제 파일 경로를 보여 주고 어떤 package의 책임인지 설명한다.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교육생이 파일의 부모 package를 찾을 수 있다.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파일을 코드 문법보다 먼저 역할·사용법·확인 화면으로 설명한다.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교육생이 각 파일의 산출물과 확인 위치를 말할 수 있다.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파일을 코드 문법보다 먼저 역할·사용법·확인 화면으로 설명한다.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교육생이 각 파일의 산출물과 확인 위치를 말할 수 있다.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IMU는 로봇 base에 붙은 좌표계에서 회전과 가속을 계속 발행하는 센서입니다.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terminal의 agv/base_link/imu frame과 publish rate를 보고 제자리 회전 시 z축을 비교합니다.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구동·카메라·LiDAR·IMU를 포함해 Gazebo가 시뮬레이션할 완성 AGV</a:t>
            </a:r>
          </a:p>
          <a:p>
            <a:r>
              <a:t>[실행] mkdir -p ~/ros2_curri/my_agv_ws/src/agv_gazebo/models/agv</a:t>
            </a:r>
          </a:p>
          <a:p>
            <a:r>
              <a:t>nano ~/ros2_curri/my_agv_ws/src/agv_gazebo/models/agv/model.sdf</a:t>
            </a:r>
          </a:p>
          <a:p>
            <a:r>
              <a:t>[확인] 빈 파일을 연 뒤 다음 코드 입력 슬라이드로 간다.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코드를 읽어 주는 방식으로 한 줄의 역할과 실행 효과를 연결한다.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각 코드 줄의 뜻과 확인 위치를 한 문장으로 설명한다.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코드를 읽어 주는 방식으로 한 줄의 역할과 실행 효과를 연결한다.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각 코드 줄의 뜻과 확인 위치를 한 문장으로 설명한다.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코드를 읽어 주는 방식으로 한 줄의 역할과 실행 효과를 연결한다.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각 코드 줄의 뜻과 확인 위치를 한 문장으로 설명한다.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코드를 읽어 주는 방식으로 한 줄의 역할과 실행 효과를 연결한다.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각 코드 줄의 뜻과 확인 위치를 한 문장으로 설명한다.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코드를 읽어 주는 방식으로 한 줄의 역할과 실행 효과를 연결한다.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각 코드 줄의 뜻과 확인 위치를 한 문장으로 설명한다.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~/ros2_curri/my_agv_ws/src/agv_gazebo/models/agv/model.sdf의 1/24 구현 블록을 직접 입력한다.</a:t>
            </a:r>
          </a:p>
          <a:p>
            <a:r>
              <a:t>[실행] nano ~/ros2_curri/my_agv_ws/src/agv_gazebo/models/agv/model.sdf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~/ros2_curri/my_agv_ws/src/agv_gazebo/models/agv/model.sdf의 2/24 구현 블록을 직접 입력한다.</a:t>
            </a:r>
          </a:p>
          <a:p>
            <a:r>
              <a:t>[실행] nano ~/ros2_curri/my_agv_ws/src/agv_gazebo/models/agv/model.sdf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~/ros2_curri/my_agv_ws/src/agv_gazebo/models/agv/model.sdf의 3/24 구현 블록을 직접 입력한다.</a:t>
            </a:r>
          </a:p>
          <a:p>
            <a:r>
              <a:t>[실행] nano ~/ros2_curri/my_agv_ws/src/agv_gazebo/models/agv/model.sdf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~/ros2_curri/my_agv_ws/src/agv_gazebo/models/agv/model.sdf의 4/24 구현 블록을 직접 입력한다.</a:t>
            </a:r>
          </a:p>
          <a:p>
            <a:r>
              <a:t>[실행] nano ~/ros2_curri/my_agv_ws/src/agv_gazebo/models/agv/model.sdf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~/ros2_curri/my_agv_ws/src/agv_gazebo/models/agv/model.sdf의 5/24 구현 블록을 직접 입력한다.</a:t>
            </a:r>
          </a:p>
          <a:p>
            <a:r>
              <a:t>[실행] nano ~/ros2_curri/my_agv_ws/src/agv_gazebo/models/agv/model.sdf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~/ros2_curri/my_agv_ws/src/agv_gazebo/models/agv/model.sdf의 6/24 구현 블록을 직접 입력한다.</a:t>
            </a:r>
          </a:p>
          <a:p>
            <a:r>
              <a:t>[실행] nano ~/ros2_curri/my_agv_ws/src/agv_gazebo/models/agv/model.sdf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~/ros2_curri/my_agv_ws/src/agv_gazebo/models/agv/model.sdf의 7/24 구현 블록을 직접 입력한다.</a:t>
            </a:r>
          </a:p>
          <a:p>
            <a:r>
              <a:t>[실행] nano ~/ros2_curri/my_agv_ws/src/agv_gazebo/models/agv/model.sdf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~/ros2_curri/my_agv_ws/src/agv_gazebo/models/agv/model.sdf의 8/24 구현 블록을 직접 입력한다.</a:t>
            </a:r>
          </a:p>
          <a:p>
            <a:r>
              <a:t>[실행] nano ~/ros2_curri/my_agv_ws/src/agv_gazebo/models/agv/model.sdf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~/ros2_curri/my_agv_ws/src/agv_gazebo/models/agv/model.sdf의 9/24 구현 블록을 직접 입력한다.</a:t>
            </a:r>
          </a:p>
          <a:p>
            <a:r>
              <a:t>[실행] nano ~/ros2_curri/my_agv_ws/src/agv_gazebo/models/agv/model.sdf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~/ros2_curri/my_agv_ws/src/agv_gazebo/models/agv/model.sdf의 10/24 구현 블록을 직접 입력한다.</a:t>
            </a:r>
          </a:p>
          <a:p>
            <a:r>
              <a:t>[실행] nano ~/ros2_curri/my_agv_ws/src/agv_gazebo/models/agv/model.sdf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~/ros2_curri/my_agv_ws/src/agv_gazebo/models/agv/model.sdf의 11/24 구현 블록을 직접 입력한다.</a:t>
            </a:r>
          </a:p>
          <a:p>
            <a:r>
              <a:t>[실행] nano ~/ros2_curri/my_agv_ws/src/agv_gazebo/models/agv/model.sdf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~/ros2_curri/my_agv_ws/src/agv_gazebo/models/agv/model.sdf의 12/24 구현 블록을 직접 입력한다.</a:t>
            </a:r>
          </a:p>
          <a:p>
            <a:r>
              <a:t>[실행] nano ~/ros2_curri/my_agv_ws/src/agv_gazebo/models/agv/model.sdf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~/ros2_curri/my_agv_ws/src/agv_gazebo/models/agv/model.sdf의 13/24 구현 블록을 직접 입력한다.</a:t>
            </a:r>
          </a:p>
          <a:p>
            <a:r>
              <a:t>[실행] nano ~/ros2_curri/my_agv_ws/src/agv_gazebo/models/agv/model.sdf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~/ros2_curri/my_agv_ws/src/agv_gazebo/models/agv/model.sdf의 14/24 구현 블록을 직접 입력한다.</a:t>
            </a:r>
          </a:p>
          <a:p>
            <a:r>
              <a:t>[실행] nano ~/ros2_curri/my_agv_ws/src/agv_gazebo/models/agv/model.sdf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~/ros2_curri/my_agv_ws/src/agv_gazebo/models/agv/model.sdf의 15/24 구현 블록을 직접 입력한다.</a:t>
            </a:r>
          </a:p>
          <a:p>
            <a:r>
              <a:t>[실행] nano ~/ros2_curri/my_agv_ws/src/agv_gazebo/models/agv/model.sdf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~/ros2_curri/my_agv_ws/src/agv_gazebo/models/agv/model.sdf의 16/24 구현 블록을 직접 입력한다.</a:t>
            </a:r>
          </a:p>
          <a:p>
            <a:r>
              <a:t>[실행] nano ~/ros2_curri/my_agv_ws/src/agv_gazebo/models/agv/model.sdf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~/ros2_curri/my_agv_ws/src/agv_gazebo/models/agv/model.sdf의 17/24 구현 블록을 직접 입력한다.</a:t>
            </a:r>
          </a:p>
          <a:p>
            <a:r>
              <a:t>[실행] nano ~/ros2_curri/my_agv_ws/src/agv_gazebo/models/agv/model.sdf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~/ros2_curri/my_agv_ws/src/agv_gazebo/models/agv/model.sdf의 18/24 구현 블록을 직접 입력한다.</a:t>
            </a:r>
          </a:p>
          <a:p>
            <a:r>
              <a:t>[실행] nano ~/ros2_curri/my_agv_ws/src/agv_gazebo/models/agv/model.sdf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~/ros2_curri/my_agv_ws/src/agv_gazebo/models/agv/model.sdf의 19/24 구현 블록을 직접 입력한다.</a:t>
            </a:r>
          </a:p>
          <a:p>
            <a:r>
              <a:t>[실행] nano ~/ros2_curri/my_agv_ws/src/agv_gazebo/models/agv/model.sdf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~/ros2_curri/my_agv_ws/src/agv_gazebo/models/agv/model.sdf의 20/24 구현 블록을 직접 입력한다.</a:t>
            </a:r>
          </a:p>
          <a:p>
            <a:r>
              <a:t>[실행] nano ~/ros2_curri/my_agv_ws/src/agv_gazebo/models/agv/model.sdf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~/ros2_curri/my_agv_ws/src/agv_gazebo/models/agv/model.sdf의 21/24 구현 블록을 직접 입력한다.</a:t>
            </a:r>
          </a:p>
          <a:p>
            <a:r>
              <a:t>[실행] nano ~/ros2_curri/my_agv_ws/src/agv_gazebo/models/agv/model.sdf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~/ros2_curri/my_agv_ws/src/agv_gazebo/models/agv/model.sdf의 22/24 구현 블록을 직접 입력한다.</a:t>
            </a:r>
          </a:p>
          <a:p>
            <a:r>
              <a:t>[실행] nano ~/ros2_curri/my_agv_ws/src/agv_gazebo/models/agv/model.sdf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~/ros2_curri/my_agv_ws/src/agv_gazebo/models/agv/model.sdf의 23/24 구현 블록을 직접 입력한다.</a:t>
            </a:r>
          </a:p>
          <a:p>
            <a:r>
              <a:t>[실행] nano ~/ros2_curri/my_agv_ws/src/agv_gazebo/models/agv/model.sdf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~/ros2_curri/my_agv_ws/src/agv_gazebo/models/agv/model.sdf의 24/24 구현 블록을 직접 입력한다.</a:t>
            </a:r>
          </a:p>
          <a:p>
            <a:r>
              <a:t>[실행] nano ~/ros2_curri/my_agv_ws/src/agv_gazebo/models/agv/model.sdf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센서·물리 system plugin과 warehouse 환경을 함께 여는 Gazebo World</a:t>
            </a:r>
          </a:p>
          <a:p>
            <a:r>
              <a:t>[실행] mkdir -p ~/ros2_curri/my_agv_ws/src/agv_gazebo/worlds</a:t>
            </a:r>
          </a:p>
          <a:p>
            <a:r>
              <a:t>nano ~/ros2_curri/my_agv_ws/src/agv_gazebo/worlds/warehouse.sdf</a:t>
            </a:r>
          </a:p>
          <a:p>
            <a:r>
              <a:t>[확인] 빈 파일을 연 뒤 다음 코드 입력 슬라이드로 간다.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코드를 읽어 주는 방식으로 한 줄의 역할과 실행 효과를 연결한다.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각 코드 줄의 뜻과 확인 위치를 한 문장으로 설명한다.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코드를 읽어 주는 방식으로 한 줄의 역할과 실행 효과를 연결한다.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각 코드 줄의 뜻과 확인 위치를 한 문장으로 설명한다.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코드를 읽어 주는 방식으로 한 줄의 역할과 실행 효과를 연결한다.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각 코드 줄의 뜻과 확인 위치를 한 문장으로 설명한다.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~/ros2_curri/my_agv_ws/src/agv_gazebo/worlds/warehouse.sdf의 1/11 구현 블록을 직접 입력한다.</a:t>
            </a:r>
          </a:p>
          <a:p>
            <a:r>
              <a:t>[실행] nano ~/ros2_curri/my_agv_ws/src/agv_gazebo/worlds/warehouse.sdf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~/ros2_curri/my_agv_ws/src/agv_gazebo/worlds/warehouse.sdf의 2/11 구현 블록을 직접 입력한다.</a:t>
            </a:r>
          </a:p>
          <a:p>
            <a:r>
              <a:t>[실행] nano ~/ros2_curri/my_agv_ws/src/agv_gazebo/worlds/warehouse.sdf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~/ros2_curri/my_agv_ws/src/agv_gazebo/worlds/warehouse.sdf의 3/11 구현 블록을 직접 입력한다.</a:t>
            </a:r>
          </a:p>
          <a:p>
            <a:r>
              <a:t>[실행] nano ~/ros2_curri/my_agv_ws/src/agv_gazebo/worlds/warehouse.sdf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~/ros2_curri/my_agv_ws/src/agv_gazebo/worlds/warehouse.sdf의 4/11 구현 블록을 직접 입력한다.</a:t>
            </a:r>
          </a:p>
          <a:p>
            <a:r>
              <a:t>[실행] nano ~/ros2_curri/my_agv_ws/src/agv_gazebo/worlds/warehouse.sdf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~/ros2_curri/my_agv_ws/src/agv_gazebo/worlds/warehouse.sdf의 5/11 구현 블록을 직접 입력한다.</a:t>
            </a:r>
          </a:p>
          <a:p>
            <a:r>
              <a:t>[실행] nano ~/ros2_curri/my_agv_ws/src/agv_gazebo/worlds/warehouse.sdf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~/ros2_curri/my_agv_ws/src/agv_gazebo/worlds/warehouse.sdf의 6/11 구현 블록을 직접 입력한다.</a:t>
            </a:r>
          </a:p>
          <a:p>
            <a:r>
              <a:t>[실행] nano ~/ros2_curri/my_agv_ws/src/agv_gazebo/worlds/warehouse.sdf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~/ros2_curri/my_agv_ws/src/agv_gazebo/worlds/warehouse.sdf의 7/11 구현 블록을 직접 입력한다.</a:t>
            </a:r>
          </a:p>
          <a:p>
            <a:r>
              <a:t>[실행] nano ~/ros2_curri/my_agv_ws/src/agv_gazebo/worlds/warehouse.sdf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~/ros2_curri/my_agv_ws/src/agv_gazebo/worlds/warehouse.sdf의 8/11 구현 블록을 직접 입력한다.</a:t>
            </a:r>
          </a:p>
          <a:p>
            <a:r>
              <a:t>[실행] nano ~/ros2_curri/my_agv_ws/src/agv_gazebo/worlds/warehouse.sdf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~/ros2_curri/my_agv_ws/src/agv_gazebo/worlds/warehouse.sdf의 9/11 구현 블록을 직접 입력한다.</a:t>
            </a:r>
          </a:p>
          <a:p>
            <a:r>
              <a:t>[실행] nano ~/ros2_curri/my_agv_ws/src/agv_gazebo/worlds/warehouse.sdf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~/ros2_curri/my_agv_ws/src/agv_gazebo/worlds/warehouse.sdf의 10/11 구현 블록을 직접 입력한다.</a:t>
            </a:r>
          </a:p>
          <a:p>
            <a:r>
              <a:t>[실행] nano ~/ros2_curri/my_agv_ws/src/agv_gazebo/worlds/warehouse.sdf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~/ros2_curri/my_agv_ws/src/agv_gazebo/worlds/warehouse.sdf의 11/11 구현 블록을 직접 입력한다.</a:t>
            </a:r>
          </a:p>
          <a:p>
            <a:r>
              <a:t>[실행] nano ~/ros2_curri/my_agv_ws/src/agv_gazebo/worlds/warehouse.sdf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Gazebo Transport 메시지와 ROS 2 topic을 방향별로 연결하는 번역표</a:t>
            </a:r>
          </a:p>
          <a:p>
            <a:r>
              <a:t>[실행] mkdir -p ~/ros2_curri/my_agv_ws/src/agv_gazebo/config</a:t>
            </a:r>
          </a:p>
          <a:p>
            <a:r>
              <a:t>nano ~/ros2_curri/my_agv_ws/src/agv_gazebo/config/bridge.yaml</a:t>
            </a:r>
          </a:p>
          <a:p>
            <a:r>
              <a:t>[확인] 빈 파일을 연 뒤 다음 코드 입력 슬라이드로 간다.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코드를 읽어 주는 방식으로 한 줄의 역할과 실행 효과를 연결한다.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각 코드 줄의 뜻과 확인 위치를 한 문장으로 설명한다.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~/ros2_curri/my_agv_ws/src/agv_gazebo/config/bridge.yaml의 1/3 구현 블록을 직접 입력한다.</a:t>
            </a:r>
          </a:p>
          <a:p>
            <a:r>
              <a:t>[실행] nano ~/ros2_curri/my_agv_ws/src/agv_gazebo/config/bridge.yaml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~/ros2_curri/my_agv_ws/src/agv_gazebo/config/bridge.yaml의 2/3 구현 블록을 직접 입력한다.</a:t>
            </a:r>
          </a:p>
          <a:p>
            <a:r>
              <a:t>[실행] nano ~/ros2_curri/my_agv_ws/src/agv_gazebo/config/bridge.yaml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~/ros2_curri/my_agv_ws/src/agv_gazebo/config/bridge.yaml의 3/3 구현 블록을 직접 입력한다.</a:t>
            </a:r>
          </a:p>
          <a:p>
            <a:r>
              <a:t>[실행] nano ~/ros2_curri/my_agv_ws/src/agv_gazebo/config/bridge.yaml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IMU frame·각속도·가속도를 단위와 함께 출력하는 진단 노드</a:t>
            </a:r>
          </a:p>
          <a:p>
            <a:r>
              <a:t>[실행] mkdir -p ~/ros2_curri/my_agv_ws/src/agv_sensors/agv_sensors</a:t>
            </a:r>
          </a:p>
          <a:p>
            <a:r>
              <a:t>nano ~/ros2_curri/my_agv_ws/src/agv_sensors/agv_sensors/imu_monitor.py</a:t>
            </a:r>
          </a:p>
          <a:p>
            <a:r>
              <a:t>[확인] 빈 파일을 연 뒤 다음 코드 입력 슬라이드로 간다.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코드를 읽어 주는 방식으로 한 줄의 역할과 실행 효과를 연결한다.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각 코드 줄의 뜻과 확인 위치를 한 문장으로 설명한다.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코드를 읽어 주는 방식으로 한 줄의 역할과 실행 효과를 연결한다.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각 코드 줄의 뜻과 확인 위치를 한 문장으로 설명한다.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코드를 읽어 주는 방식으로 한 줄의 역할과 실행 효과를 연결한다.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각 코드 줄의 뜻과 확인 위치를 한 문장으로 설명한다.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코드를 읽어 주는 방식으로 한 줄의 역할과 실행 효과를 연결한다.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각 코드 줄의 뜻과 확인 위치를 한 문장으로 설명한다.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코드를 읽어 주는 방식으로 한 줄의 역할과 실행 효과를 연결한다.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각 코드 줄의 뜻과 확인 위치를 한 문장으로 설명한다.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~/ros2_curri/my_agv_ws/src/agv_sensors/agv_sensors/imu_monitor.py의 1/3 구현 블록을 직접 입력한다.</a:t>
            </a:r>
          </a:p>
          <a:p>
            <a:r>
              <a:t>[실행] nano ~/ros2_curri/my_agv_ws/src/agv_sensors/agv_sensors/imu_monitor.py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~/ros2_curri/my_agv_ws/src/agv_sensors/agv_sensors/imu_monitor.py의 2/3 구현 블록을 직접 입력한다.</a:t>
            </a:r>
          </a:p>
          <a:p>
            <a:r>
              <a:t>[실행] nano ~/ros2_curri/my_agv_ws/src/agv_sensors/agv_sensors/imu_monitor.py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~/ros2_curri/my_agv_ws/src/agv_sensors/agv_sensors/imu_monitor.py의 3/3 구현 블록을 직접 입력한다.</a:t>
            </a:r>
          </a:p>
          <a:p>
            <a:r>
              <a:t>[실행] nano ~/ros2_curri/my_agv_ws/src/agv_sensors/agv_sensors/imu_monitor.py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z축 angular velocity는 제자리 회전에서 가장 먼저 변화를 보인다.</a:t>
            </a:r>
          </a:p>
          <a:p>
            <a:r>
              <a:t>[실행] ros2 interface show sensor_msgs/msg/Imu</a:t>
            </a:r>
          </a:p>
          <a:p>
            <a:r>
              <a:t>ros2 topic echo /imu/data --once</a:t>
            </a:r>
          </a:p>
          <a:p>
            <a:r>
              <a:t>[확인] 명령 출력에서 슬라이드의 확인 항목을 찾는다.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출력에 단위와 frame을 함께 남기면 축 오류를 찾기 쉽다.</a:t>
            </a:r>
          </a:p>
          <a:p>
            <a:r>
              <a:t>[실행] source ~/ros2_curri/my_agv_ws/install/setup.bash</a:t>
            </a:r>
          </a:p>
          <a:p>
            <a:r>
              <a:t>ros2 run agv_sensors imu_monitor</a:t>
            </a:r>
          </a:p>
          <a:p>
            <a:r>
              <a:t>[확인] 명령 출력에서 슬라이드의 확인 항목을 찾는다.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build/source/run을 생략 없이 실행한다.</a:t>
            </a:r>
          </a:p>
          <a:p>
            <a:r>
              <a:t>[실행] # 터미널 1</a:t>
            </a:r>
          </a:p>
          <a:p>
            <a:r>
              <a:t>source /opt/ros/jazzy/setup.bash</a:t>
            </a:r>
          </a:p>
          <a:p>
            <a:r>
              <a:t>source ~/ros2_curri/my_agv_ws/install/setup.bash</a:t>
            </a:r>
          </a:p>
          <a:p>
            <a:r>
              <a:t>ros2 launch agv_bringup agv_sim.launch.py rviz:=false</a:t>
            </a:r>
          </a:p>
          <a:p/>
          <a:p>
            <a:r>
              <a:t># 터미널 2</a:t>
            </a:r>
          </a:p>
          <a:p>
            <a:r>
              <a:t>source /opt/ros/jazzy/setup.bash</a:t>
            </a:r>
          </a:p>
          <a:p>
            <a:r>
              <a:t>source ~/ros2_curri/my_agv_ws/install/setup.bash</a:t>
            </a:r>
          </a:p>
          <a:p>
            <a:r>
              <a:t>ros2 run agv_sensors imu_monitor</a:t>
            </a:r>
          </a:p>
          <a:p>
            <a:r>
              <a:t>[확인] /imu/data의 z축 gyro 값과 noise 설정을 terminal에서 확인한다.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실제 Ubuntu/ROS 2 환경에서 생성한 검증 화면이다.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agv/base_link/imu frame과 angular_velocity·linear_acceleration 필드, average rate를 찾습니다.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실제 Ubuntu/ROS 2 환경에서 생성한 검증 화면이다.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① 명령/설정  ② 정상 출력 또는 화면  ③ 다음 검증 명령으로 재확인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검증 명령은 GUI 결과와 별도로 실행해 재현 가능한 완료 기준을 만든다.</a:t>
            </a:r>
          </a:p>
          <a:p>
            <a:r>
              <a:t>[실행] ros2 topic info /imu/data</a:t>
            </a:r>
          </a:p>
          <a:p>
            <a:r>
              <a:t>ros2 topic hz /imu/data</a:t>
            </a:r>
          </a:p>
          <a:p>
            <a:r>
              <a:t>ros2 topic echo /imu/data --once</a:t>
            </a:r>
          </a:p>
          <a:p>
            <a:r>
              <a:t>[확인] /imu/data의 z축 gyro 값과 noise 설정을 terminal에서 확인한다.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오류를 대신 해결하지 말고 증상부터 우선 확인 순서대로 교육생이 실행하게 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수정 뒤 첫 검증 명령을 다시 실행한다.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슬라이드의 두 대표 오류를 먼저 사용한다.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Complete는 정답 복사본이 아니라 막혔을 때 비교·복구하는 안전망이다.</a:t>
            </a:r>
          </a:p>
          <a:p>
            <a:r>
              <a:t>[실행] cd ~/ros2_curri</a:t>
            </a:r>
          </a:p>
          <a:p>
            <a:r>
              <a:t>diff -ru my_agv_ws/src blocks/D_sensors/M14_imu_sensor/complete/agv_ws/src || true</a:t>
            </a:r>
          </a:p>
          <a:p>
            <a:r>
              <a:t>cp -a my_agv_ws/src my_agv_ws/src_before_M14</a:t>
            </a:r>
          </a:p>
          <a:p>
            <a:r>
              <a:t>cp -a blocks/D_sensors/M14_imu_sensor/complete/agv_ws/src/. my_agv_ws/src/</a:t>
            </a:r>
          </a:p>
          <a:p>
            <a:r>
              <a:t>cd my_agv_ws &amp;&amp; colcon build --symlink-install &amp;&amp; source install/setup.bash</a:t>
            </a:r>
          </a:p>
          <a:p>
            <a:r>
              <a:t>[확인] diff에서 내 파일과 Complete의 차이를 설명할 수 있다.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교육생이 직접 한 값만 바꿔 원인과 결과를 연결하게 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원래 값과 변경 값을 모두 기록한다.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교육생이 자신의 workspace·캡처·로그를 저장했는지 확인하고 다음 모듈의 시작 상태를 읽는다.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M15 운영/QoS 시작 조건을 말할 수 있다.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공식 문서는 버전 차이와 확장 학습을 확인할 때 사용한다.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학습자는 본문만으로 현재 모듈을 완료한 상태여야 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use_sim_time·/clock·QoS·rate·frame_id로 camera/LiDAR/IMU를 공통 점검한다.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모든 sensor 노드가 같은 시뮬레이션 시간과 기대 publish rate를 사용한다.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현재 모듈이 앞뒤 과정과 분리된 예제가 아님을 보여 준다.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이전=M12~M14 센서 topic, 다음=M16 제어 interface을 말할 수 있다.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교육생의 시작 상태를 통일한다.</a:t>
            </a:r>
          </a:p>
          <a:p>
            <a:r>
              <a:t>[실행] pwd; source /opt/ros/jazzy/setup.bash; source ~/ros2_curri/my_agv_ws/install/setup.bash</a:t>
            </a:r>
          </a:p>
          <a:p>
            <a:r>
              <a:t>[확인] 현재 폴더와 source 상태를 모두 확인한다.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use_sim_time·/clock·QoS·rate·frame_id로 camera/LiDAR/IMU를 공통 점검한다.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모든 sensor 노드가 같은 시뮬레이션 시간과 기대 publish rate를 사용한다.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이 모듈이 전체 AGV 프로젝트에 추가하는 기능을 먼저 선언한다.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모든 sensor 노드가 같은 시뮬레이션 시간과 기대 publish rate를 사용한다.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코드를 입력하기 전에 완성 결과와 관찰 기준을 보여 준다.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camera가 message를 내보내고 있는지 type·publisher·rate로 확인합니다.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코드를 입력하기 전에 완성 결과와 관찰 기준을 보여 준다.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SDF 설정값과 실제 range/angle/rate가 논리적으로 맞는지 대조합니다.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코드를 입력하기 전에 완성 결과와 관찰 기준을 보여 준다.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IMU도 같은 simulation 시간에 갱신되는지 average rate를 확인합니다.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코드를 입력하기 전에 완성 결과와 관찰 기준을 보여 준다.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camera·LiDAR·IMU 각각을 화면·terminal·frame 기준으로 교차 확인합니다.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도식의 각 상자가 무엇을 만들고 화살표가 어떤 방향으로 데이터를 보내는지 설명한다.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교육생이 왼쪽에서 오른쪽(또는 제어 방향)으로 흐름을 말할 수 있다.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실제 파일 경로를 보여 주고 어떤 package의 책임인지 설명한다.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교육생이 파일의 부모 package를 찾을 수 있다.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파일을 코드 문법보다 먼저 역할·사용법·확인 화면으로 설명한다.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교육생이 각 파일의 산출물과 확인 위치를 말할 수 있다.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파일을 코드 문법보다 먼저 역할·사용법·확인 화면으로 설명한다.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교육생이 각 파일의 산출물과 확인 위치를 말할 수 있다.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센서를 동시에 운영할 때는 ‘topic이 있다’보다 시간·QoS·frame·rate가 서로 맞는지가 중요합니다.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camera/LiDAR/IMU terminal과 RViz를 함께 열어 이름·rate·Fixed Frame을 대조합니다.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센서 처리 노드가 공통으로 사용할 use_sim_time 등 실행 파라미터</a:t>
            </a:r>
          </a:p>
          <a:p>
            <a:r>
              <a:t>[실행] mkdir -p ~/ros2_curri/my_agv_ws/src/agv_bringup/config</a:t>
            </a:r>
          </a:p>
          <a:p>
            <a:r>
              <a:t>nano ~/ros2_curri/my_agv_ws/src/agv_bringup/config/sensors.yaml</a:t>
            </a:r>
          </a:p>
          <a:p>
            <a:r>
              <a:t>[확인] 빈 파일을 연 뒤 다음 코드 입력 슬라이드로 간다.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코드를 읽어 주는 방식으로 한 줄의 역할과 실행 효과를 연결한다.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각 코드 줄의 뜻과 확인 위치를 한 문장으로 설명한다.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코드를 읽어 주는 방식으로 한 줄의 역할과 실행 효과를 연결한다.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각 코드 줄의 뜻과 확인 위치를 한 문장으로 설명한다.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~/ros2_curri/my_agv_ws/src/agv_bringup/config/sensors.yaml의 1/1 구현 블록을 직접 입력한다.</a:t>
            </a:r>
          </a:p>
          <a:p>
            <a:r>
              <a:t>[실행] nano ~/ros2_curri/my_agv_ws/src/agv_bringup/config/sensors.yaml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Gazebo Transport 메시지와 ROS 2 topic을 방향별로 연결하는 번역표</a:t>
            </a:r>
          </a:p>
          <a:p>
            <a:r>
              <a:t>[실행] mkdir -p ~/ros2_curri/my_agv_ws/src/agv_gazebo/config</a:t>
            </a:r>
          </a:p>
          <a:p>
            <a:r>
              <a:t>nano ~/ros2_curri/my_agv_ws/src/agv_gazebo/config/bridge.yaml</a:t>
            </a:r>
          </a:p>
          <a:p>
            <a:r>
              <a:t>[확인] 빈 파일을 연 뒤 다음 코드 입력 슬라이드로 간다.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코드를 읽어 주는 방식으로 한 줄의 역할과 실행 효과를 연결한다.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각 코드 줄의 뜻과 확인 위치를 한 문장으로 설명한다.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~/ros2_curri/my_agv_ws/src/agv_gazebo/config/bridge.yaml의 1/3 구현 블록을 직접 입력한다.</a:t>
            </a:r>
          </a:p>
          <a:p>
            <a:r>
              <a:t>[실행] nano ~/ros2_curri/my_agv_ws/src/agv_gazebo/config/bridge.yaml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~/ros2_curri/my_agv_ws/src/agv_gazebo/config/bridge.yaml의 2/3 구현 블록을 직접 입력한다.</a:t>
            </a:r>
          </a:p>
          <a:p>
            <a:r>
              <a:t>[실행] nano ~/ros2_curri/my_agv_ws/src/agv_gazebo/config/bridge.yaml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~/ros2_curri/my_agv_ws/src/agv_gazebo/config/bridge.yaml의 3/3 구현 블록을 직접 입력한다.</a:t>
            </a:r>
          </a:p>
          <a:p>
            <a:r>
              <a:t>[실행] nano ~/ros2_curri/my_agv_ws/src/agv_gazebo/config/bridge.yaml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LaserScan의 전방 sector에서 유효 거리 최소값을 계산하는 안전 입력 노드</a:t>
            </a:r>
          </a:p>
          <a:p>
            <a:r>
              <a:t>[실행] mkdir -p ~/ros2_curri/my_agv_ws/src/agv_sensors/agv_sensors</a:t>
            </a:r>
          </a:p>
          <a:p>
            <a:r>
              <a:t>nano ~/ros2_curri/my_agv_ws/src/agv_sensors/agv_sensors/lidar_processor.py</a:t>
            </a:r>
          </a:p>
          <a:p>
            <a:r>
              <a:t>[확인] 빈 파일을 연 뒤 다음 코드 입력 슬라이드로 간다.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코드를 읽어 주는 방식으로 한 줄의 역할과 실행 효과를 연결한다.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각 코드 줄의 뜻과 확인 위치를 한 문장으로 설명한다.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코드를 읽어 주는 방식으로 한 줄의 역할과 실행 효과를 연결한다.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각 코드 줄의 뜻과 확인 위치를 한 문장으로 설명한다.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코드를 읽어 주는 방식으로 한 줄의 역할과 실행 효과를 연결한다.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각 코드 줄의 뜻과 확인 위치를 한 문장으로 설명한다.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코드를 읽어 주는 방식으로 한 줄의 역할과 실행 효과를 연결한다.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각 코드 줄의 뜻과 확인 위치를 한 문장으로 설명한다.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코드를 읽어 주는 방식으로 한 줄의 역할과 실행 효과를 연결한다.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각 코드 줄의 뜻과 확인 위치를 한 문장으로 설명한다.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~/ros2_curri/my_agv_ws/src/agv_sensors/agv_sensors/lidar_processor.py의 1/3 구현 블록을 직접 입력한다.</a:t>
            </a:r>
          </a:p>
          <a:p>
            <a:r>
              <a:t>[실행] nano ~/ros2_curri/my_agv_ws/src/agv_sensors/agv_sensors/lidar_processor.py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~/ros2_curri/my_agv_ws/src/agv_sensors/agv_sensors/lidar_processor.py의 2/3 구현 블록을 직접 입력한다.</a:t>
            </a:r>
          </a:p>
          <a:p>
            <a:r>
              <a:t>[실행] nano ~/ros2_curri/my_agv_ws/src/agv_sensors/agv_sensors/lidar_processor.py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~/ros2_curri/my_agv_ws/src/agv_sensors/agv_sensors/lidar_processor.py의 3/3 구현 블록을 직접 입력한다.</a:t>
            </a:r>
          </a:p>
          <a:p>
            <a:r>
              <a:t>[실행] nano ~/ros2_curri/my_agv_ws/src/agv_sensors/agv_sensors/lidar_processor.py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IMU frame·각속도·가속도를 단위와 함께 출력하는 진단 노드</a:t>
            </a:r>
          </a:p>
          <a:p>
            <a:r>
              <a:t>[실행] mkdir -p ~/ros2_curri/my_agv_ws/src/agv_sensors/agv_sensors</a:t>
            </a:r>
          </a:p>
          <a:p>
            <a:r>
              <a:t>nano ~/ros2_curri/my_agv_ws/src/agv_sensors/agv_sensors/imu_monitor.py</a:t>
            </a:r>
          </a:p>
          <a:p>
            <a:r>
              <a:t>[확인] 빈 파일을 연 뒤 다음 코드 입력 슬라이드로 간다.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코드를 읽어 주는 방식으로 한 줄의 역할과 실행 효과를 연결한다.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각 코드 줄의 뜻과 확인 위치를 한 문장으로 설명한다.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코드를 읽어 주는 방식으로 한 줄의 역할과 실행 효과를 연결한다.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각 코드 줄의 뜻과 확인 위치를 한 문장으로 설명한다.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코드를 읽어 주는 방식으로 한 줄의 역할과 실행 효과를 연결한다.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각 코드 줄의 뜻과 확인 위치를 한 문장으로 설명한다.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코드를 읽어 주는 방식으로 한 줄의 역할과 실행 효과를 연결한다.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각 코드 줄의 뜻과 확인 위치를 한 문장으로 설명한다.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코드를 읽어 주는 방식으로 한 줄의 역할과 실행 효과를 연결한다.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각 코드 줄의 뜻과 확인 위치를 한 문장으로 설명한다.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~/ros2_curri/my_agv_ws/src/agv_sensors/agv_sensors/imu_monitor.py의 1/3 구현 블록을 직접 입력한다.</a:t>
            </a:r>
          </a:p>
          <a:p>
            <a:r>
              <a:t>[실행] nano ~/ros2_curri/my_agv_ws/src/agv_sensors/agv_sensors/imu_monitor.py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~/ros2_curri/my_agv_ws/src/agv_sensors/agv_sensors/imu_monitor.py의 2/3 구현 블록을 직접 입력한다.</a:t>
            </a:r>
          </a:p>
          <a:p>
            <a:r>
              <a:t>[실행] nano ~/ros2_curri/my_agv_ws/src/agv_sensors/agv_sensors/imu_monitor.py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~/ros2_curri/my_agv_ws/src/agv_sensors/agv_sensors/imu_monitor.py의 3/3 구현 블록을 직접 입력한다.</a:t>
            </a:r>
          </a:p>
          <a:p>
            <a:r>
              <a:t>[실행] nano ~/ros2_curri/my_agv_ws/src/agv_sensors/agv_sensors/imu_monitor.py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Gazebo /clock을 안 쓰면 sensor timestamp와 node 시간이 어긋날 수 있다.</a:t>
            </a:r>
          </a:p>
          <a:p>
            <a:r>
              <a:t>[실행] ros2 param get /lidar_processor use_sim_time</a:t>
            </a:r>
          </a:p>
          <a:p>
            <a:r>
              <a:t>ros2 topic echo /clock --once</a:t>
            </a:r>
          </a:p>
          <a:p>
            <a:r>
              <a:t>[확인] 명령 출력에서 슬라이드의 확인 항목을 찾는다.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topic이 있어도 QoS가 호환되지 않으면 callback이 받지 못할 수 있다.</a:t>
            </a:r>
          </a:p>
          <a:p>
            <a:r>
              <a:t>[실행] ros2 topic hz /scan</a:t>
            </a:r>
          </a:p>
          <a:p>
            <a:r>
              <a:t>ros2 topic hz /imu/data</a:t>
            </a:r>
          </a:p>
          <a:p>
            <a:r>
              <a:t>ros2 topic info --verbose /scan</a:t>
            </a:r>
          </a:p>
          <a:p>
            <a:r>
              <a:t>[확인] 명령 출력에서 슬라이드의 확인 항목을 찾는다.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build/source/run을 생략 없이 실행한다.</a:t>
            </a:r>
          </a:p>
          <a:p>
            <a:r>
              <a:t>[실행] ros2 launch agv_bringup agv_sim.launch.py rviz:=false</a:t>
            </a:r>
          </a:p>
          <a:p>
            <a:r>
              <a:t>[확인] 모든 sensor 노드가 같은 시뮬레이션 시간과 기대 publish rate를 사용한다.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실제 Ubuntu/ROS 2 환경에서 생성한 검증 화면이다.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camera가 message를 내보내고 있는지 type·publisher·rate로 확인합니다.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실제 Ubuntu/ROS 2 환경에서 생성한 검증 화면이다.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SDF 설정값과 실제 range/angle/rate가 논리적으로 맞는지 대조합니다.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실제 Ubuntu/ROS 2 환경에서 생성한 검증 화면이다.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IMU도 같은 simulation 시간에 갱신되는지 average rate를 확인합니다.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실제 Ubuntu/ROS 2 환경에서 생성한 검증 화면이다.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camera·LiDAR·IMU 각각을 화면·terminal·frame 기준으로 교차 확인합니다.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실제 Ubuntu/ROS 2 환경에서 생성한 검증 화면이다.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① 명령/설정  ② 정상 출력 또는 화면  ③ 다음 검증 명령으로 재확인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검증 명령은 GUI 결과와 별도로 실행해 재현 가능한 완료 기준을 만든다.</a:t>
            </a:r>
          </a:p>
          <a:p>
            <a:r>
              <a:t>[실행] ros2 topic echo /clock --once</a:t>
            </a:r>
          </a:p>
          <a:p>
            <a:r>
              <a:t>ros2 topic hz /scan</a:t>
            </a:r>
          </a:p>
          <a:p>
            <a:r>
              <a:t>ros2 topic hz /imu/data</a:t>
            </a:r>
          </a:p>
          <a:p>
            <a:r>
              <a:t>ros2 param get /lidar_processor use_sim_time</a:t>
            </a:r>
          </a:p>
          <a:p>
            <a:r>
              <a:t>[확인] 모든 sensor 노드가 같은 시뮬레이션 시간과 기대 publish rate를 사용한다.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오류를 대신 해결하지 말고 증상부터 우선 확인 순서대로 교육생이 실행하게 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수정 뒤 첫 검증 명령을 다시 실행한다.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슬라이드의 두 대표 오류를 먼저 사용한다.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Complete는 정답 복사본이 아니라 막혔을 때 비교·복구하는 안전망이다.</a:t>
            </a:r>
          </a:p>
          <a:p>
            <a:r>
              <a:t>[실행] cd ~/ros2_curri</a:t>
            </a:r>
          </a:p>
          <a:p>
            <a:r>
              <a:t>diff -ru my_agv_ws/src blocks/D_sensors/M15_sensor_operations/complete/agv_ws/src || true</a:t>
            </a:r>
          </a:p>
          <a:p>
            <a:r>
              <a:t>cp -a my_agv_ws/src my_agv_ws/src_before_M15</a:t>
            </a:r>
          </a:p>
          <a:p>
            <a:r>
              <a:t>cp -a blocks/D_sensors/M15_sensor_operations/complete/agv_ws/src/. my_agv_ws/src/</a:t>
            </a:r>
          </a:p>
          <a:p>
            <a:r>
              <a:t>cd my_agv_ws &amp;&amp; colcon build --symlink-install &amp;&amp; source install/setup.bash</a:t>
            </a:r>
          </a:p>
          <a:p>
            <a:r>
              <a:t>[확인] diff에서 내 파일과 Complete의 차이를 설명할 수 있다.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교육생이 직접 한 값만 바꿔 원인과 결과를 연결하게 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원래 값과 변경 값을 모두 기록한다.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교육생이 자신의 workspace·캡처·로그를 저장했는지 확인하고 다음 모듈의 시작 상태를 읽는다.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M16 제어 interface 시작 조건을 말할 수 있다.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공식 문서는 버전 차이와 확장 학습을 확인할 때 사용한다.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학습자는 본문만으로 현재 모듈을 완료한 상태여야 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0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1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2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3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4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5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6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8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9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0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1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2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3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4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5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6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8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9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0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1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2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3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4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5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6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8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9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90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91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92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93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4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5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6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8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9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0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1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2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3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4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05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06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8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9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0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1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2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3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4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5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6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8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9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0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1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2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3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4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5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6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8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9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0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1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2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3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4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5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6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7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8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9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0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1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2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3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4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5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6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7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8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9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0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1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2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3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4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5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6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7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8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59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60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61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2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3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4.xml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5.xml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6.xml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7.xml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8.xml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9.xml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0.xml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1.xml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2.xml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73.xml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4.xml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5.xml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6.xml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7.xml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8.xml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9.xml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0.xml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1.xml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2.xml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3.xml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4.xml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5.xml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6.xml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7.xml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8.xml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9.xml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0.xml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1.xml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2.xml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3.xml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4.xml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5.xml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6.xml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7.xml"/></Relationships>
</file>

<file path=ppt/slides/_rels/slide2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8.xml"/></Relationships>
</file>

<file path=ppt/slides/_rels/slide2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9.xml"/></Relationships>
</file>

<file path=ppt/slides/_rels/slide2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0.xml"/></Relationships>
</file>

<file path=ppt/slides/_rels/slide2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1.xml"/></Relationships>
</file>

<file path=ppt/slides/_rels/slide2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2.xml"/></Relationships>
</file>

<file path=ppt/slides/_rels/slide2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3.xml"/></Relationships>
</file>

<file path=ppt/slides/_rels/slide2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4.xml"/></Relationships>
</file>

<file path=ppt/slides/_rels/slide2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5.xml"/></Relationships>
</file>

<file path=ppt/slides/_rels/slide2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6.xml"/></Relationships>
</file>

<file path=ppt/slides/_rels/slide2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7.xml"/></Relationships>
</file>

<file path=ppt/slides/_rels/slide2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8.xml"/></Relationships>
</file>

<file path=ppt/slides/_rels/slide2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9.xml"/></Relationships>
</file>

<file path=ppt/slides/_rels/slide2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0.xml"/></Relationships>
</file>

<file path=ppt/slides/_rels/slide2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1.xml"/></Relationships>
</file>

<file path=ppt/slides/_rels/slide2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2.xml"/></Relationships>
</file>

<file path=ppt/slides/_rels/slide2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3.xml"/></Relationships>
</file>

<file path=ppt/slides/_rels/slide2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4.xml"/></Relationships>
</file>

<file path=ppt/slides/_rels/slide2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5.xml"/></Relationships>
</file>

<file path=ppt/slides/_rels/slide2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6.xml"/></Relationships>
</file>

<file path=ppt/slides/_rels/slide2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7.xml"/></Relationships>
</file>

<file path=ppt/slides/_rels/slide2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8.xml"/></Relationships>
</file>

<file path=ppt/slides/_rels/slide2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9.xml"/></Relationships>
</file>

<file path=ppt/slides/_rels/slide2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0.xml"/></Relationships>
</file>

<file path=ppt/slides/_rels/slide2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1.xml"/></Relationships>
</file>

<file path=ppt/slides/_rels/slide2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2.xml"/></Relationships>
</file>

<file path=ppt/slides/_rels/slide2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3.xml"/></Relationships>
</file>

<file path=ppt/slides/_rels/slide2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4.xml"/></Relationships>
</file>

<file path=ppt/slides/_rels/slide2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5.xml"/></Relationships>
</file>

<file path=ppt/slides/_rels/slide2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6.xml"/></Relationships>
</file>

<file path=ppt/slides/_rels/slide2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7.xml"/></Relationships>
</file>

<file path=ppt/slides/_rels/slide2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8.xml"/></Relationships>
</file>

<file path=ppt/slides/_rels/slide2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9.xml"/></Relationships>
</file>

<file path=ppt/slides/_rels/slide2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0.xml"/></Relationships>
</file>

<file path=ppt/slides/_rels/slide2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1.xml"/></Relationships>
</file>

<file path=ppt/slides/_rels/slide2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2.xml"/></Relationships>
</file>

<file path=ppt/slides/_rels/slide2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3.xml"/></Relationships>
</file>

<file path=ppt/slides/_rels/slide2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4.xml"/></Relationships>
</file>

<file path=ppt/slides/_rels/slide2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5.xml"/></Relationships>
</file>

<file path=ppt/slides/_rels/slide2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6.xml"/></Relationships>
</file>

<file path=ppt/slides/_rels/slide2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7.xml"/></Relationships>
</file>

<file path=ppt/slides/_rels/slide2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8.xml"/></Relationships>
</file>

<file path=ppt/slides/_rels/slide2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9.xml"/></Relationships>
</file>

<file path=ppt/slides/_rels/slide2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0.xml"/></Relationships>
</file>

<file path=ppt/slides/_rels/slide2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241.xml"/></Relationships>
</file>

<file path=ppt/slides/_rels/slide2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242.xml"/></Relationships>
</file>

<file path=ppt/slides/_rels/slide2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3.xml"/></Relationships>
</file>

<file path=ppt/slides/_rels/slide2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4.xml"/></Relationships>
</file>

<file path=ppt/slides/_rels/slide2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5.xml"/></Relationships>
</file>

<file path=ppt/slides/_rels/slide2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6.xml"/></Relationships>
</file>

<file path=ppt/slides/_rels/slide2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7.xml"/></Relationships>
</file>

<file path=ppt/slides/_rels/slide2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8.xml"/></Relationships>
</file>

<file path=ppt/slides/_rels/slide2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9.xml"/></Relationships>
</file>

<file path=ppt/slides/_rels/slide2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0.xml"/></Relationships>
</file>

<file path=ppt/slides/_rels/slide2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1.xml"/></Relationships>
</file>

<file path=ppt/slides/_rels/slide2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2.xml"/></Relationships>
</file>

<file path=ppt/slides/_rels/slide2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3.xml"/></Relationships>
</file>

<file path=ppt/slides/_rels/slide2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54.xml"/></Relationships>
</file>

<file path=ppt/slides/_rels/slide2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255.xml"/></Relationships>
</file>

<file path=ppt/slides/_rels/slide2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256.xml"/></Relationships>
</file>

<file path=ppt/slides/_rels/slide2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257.xml"/></Relationships>
</file>

<file path=ppt/slides/_rels/slide2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8.xml"/></Relationships>
</file>

<file path=ppt/slides/_rels/slide2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9.xml"/></Relationships>
</file>

<file path=ppt/slides/_rels/slide2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0.xml"/></Relationships>
</file>

<file path=ppt/slides/_rels/slide2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1.xml"/></Relationships>
</file>

<file path=ppt/slides/_rels/slide2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2.xml"/></Relationships>
</file>

<file path=ppt/slides/_rels/slide2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3.xml"/></Relationships>
</file>

<file path=ppt/slides/_rels/slide2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4.xml"/></Relationships>
</file>

<file path=ppt/slides/_rels/slide2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5.xml"/></Relationships>
</file>

<file path=ppt/slides/_rels/slide2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6.xml"/></Relationships>
</file>

<file path=ppt/slides/_rels/slide2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7.xml"/></Relationships>
</file>

<file path=ppt/slides/_rels/slide2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8.xml"/></Relationships>
</file>

<file path=ppt/slides/_rels/slide2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9.xml"/></Relationships>
</file>

<file path=ppt/slides/_rels/slide2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0.xml"/></Relationships>
</file>

<file path=ppt/slides/_rels/slide2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1.xml"/></Relationships>
</file>

<file path=ppt/slides/_rels/slide2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2.xml"/></Relationships>
</file>

<file path=ppt/slides/_rels/slide2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3.xml"/></Relationships>
</file>

<file path=ppt/slides/_rels/slide2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4.xml"/></Relationships>
</file>

<file path=ppt/slides/_rels/slide2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5.xml"/></Relationships>
</file>

<file path=ppt/slides/_rels/slide2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6.xml"/></Relationships>
</file>

<file path=ppt/slides/_rels/slide2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7.xml"/></Relationships>
</file>

<file path=ppt/slides/_rels/slide2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8.xml"/></Relationships>
</file>

<file path=ppt/slides/_rels/slide2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9.xml"/></Relationships>
</file>

<file path=ppt/slides/_rels/slide2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0.xml"/></Relationships>
</file>

<file path=ppt/slides/_rels/slide2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1.xml"/></Relationships>
</file>

<file path=ppt/slides/_rels/slide2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2.xml"/></Relationships>
</file>

<file path=ppt/slides/_rels/slide2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3.xml"/></Relationships>
</file>

<file path=ppt/slides/_rels/slide2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4.xml"/></Relationships>
</file>

<file path=ppt/slides/_rels/slide2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5.xml"/></Relationships>
</file>

<file path=ppt/slides/_rels/slide2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6.xml"/></Relationships>
</file>

<file path=ppt/slides/_rels/slide2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7.xml"/></Relationships>
</file>

<file path=ppt/slides/_rels/slide2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8.xml"/></Relationships>
</file>

<file path=ppt/slides/_rels/slide2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9.xml"/></Relationships>
</file>

<file path=ppt/slides/_rels/slide2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0.xml"/></Relationships>
</file>

<file path=ppt/slides/_rels/slide2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1.xml"/></Relationships>
</file>

<file path=ppt/slides/_rels/slide2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2.xml"/></Relationships>
</file>

<file path=ppt/slides/_rels/slide2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93.xml"/></Relationships>
</file>

<file path=ppt/slides/_rels/slide3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294.xml"/></Relationships>
</file>

<file path=ppt/slides/_rels/slide3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295.xml"/></Relationships>
</file>

<file path=ppt/slides/_rels/slide3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296.xml"/></Relationships>
</file>

<file path=ppt/slides/_rels/slide3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297.xml"/></Relationships>
</file>

<file path=ppt/slides/_rels/slide3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8.xml"/></Relationships>
</file>

<file path=ppt/slides/_rels/slide3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9.xml"/></Relationships>
</file>

<file path=ppt/slides/_rels/slide3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0.xml"/></Relationships>
</file>

<file path=ppt/slides/_rels/slide3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1.xml"/></Relationships>
</file>

<file path=ppt/slides/_rels/slide3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2.xml"/></Relationships>
</file>

<file path=ppt/slides/_rels/slide3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2C4E"/>
          </a:solidFill>
          <a:ln>
            <a:solidFill>
              <a:srgbClr val="122C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01168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Noto Sans CJK KR"/>
              </a:defRPr>
            </a:pPr>
            <a:r>
              <a:t>ROS 2 기반 AGV End-to-End 개발 커리큘럼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30352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defRPr sz="1900" b="1">
                <a:solidFill>
                  <a:srgbClr val="FFFFFF"/>
                </a:solidFill>
                <a:latin typeface="Noto Sans CJK KR"/>
              </a:defRPr>
            </a:pPr>
            <a:r>
              <a:t>Block D · M 시리즈 통합 따라 하기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972800" cy="69494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defRPr sz="3600" b="1">
                <a:solidFill>
                  <a:srgbClr val="122C4E"/>
                </a:solidFill>
                <a:latin typeface="Noto Sans CJK KR"/>
              </a:defRPr>
            </a:pPr>
            <a:r>
              <a:t>센서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43000" y="2971800"/>
            <a:ext cx="9921240" cy="1371600"/>
          </a:xfrm>
          <a:prstGeom prst="round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900" b="1">
                <a:solidFill>
                  <a:srgbClr val="122C4E"/>
                </a:solidFill>
                <a:latin typeface="Noto Sans CJK KR"/>
              </a:defRPr>
            </a:pPr>
            <a:r>
              <a:t>이 파일은 Block 안의 모든 M 시리즈 PPT를 순서와 발표자 노트까지 유지해 한 번에 볼 수 있도록 합친 자료입니다.</a:t>
            </a:r>
            <a:br/>
            <a:r>
              <a:t>개별 M PPT는 실습 때, 이 통합본은 Block 전체 흐름을 복습·강의할 때 사용합니다.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943600"/>
            <a:ext cx="1069848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defRPr sz="1600" b="1">
                <a:solidFill>
                  <a:srgbClr val="2A8B5A"/>
                </a:solidFill>
                <a:latin typeface="Noto Sans CJK KR"/>
              </a:defRPr>
            </a:pPr>
            <a:r>
              <a:t>포함 모듈: M12 → M13 → M14 → M15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972800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defRPr sz="3000" b="1">
                <a:solidFill>
                  <a:srgbClr val="122C4E"/>
                </a:solidFill>
                <a:latin typeface="Noto Sans CJK KR"/>
              </a:defRPr>
            </a:pPr>
            <a:r>
              <a:t>Block D 커리큘럼 요약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77240" y="1234440"/>
            <a:ext cx="1065276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8" y="1344168"/>
            <a:ext cx="1143000" cy="24688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defRPr sz="1900" b="1">
                <a:solidFill>
                  <a:srgbClr val="225B9B"/>
                </a:solidFill>
                <a:latin typeface="Noto Sans CJK KR"/>
              </a:defRPr>
            </a:pPr>
            <a:r>
              <a:t>M12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40280" y="1325880"/>
            <a:ext cx="859536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defRPr sz="1800" b="1">
                <a:solidFill>
                  <a:srgbClr val="122C4E"/>
                </a:solidFill>
                <a:latin typeface="Noto Sans CJK KR"/>
              </a:defRPr>
            </a:pPr>
            <a:r>
              <a:t>Camera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320290"/>
            <a:ext cx="1065276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2430018"/>
            <a:ext cx="1143000" cy="24688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defRPr sz="1900" b="1">
                <a:solidFill>
                  <a:srgbClr val="225B9B"/>
                </a:solidFill>
                <a:latin typeface="Noto Sans CJK KR"/>
              </a:defRPr>
            </a:pPr>
            <a:r>
              <a:t>M13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2411730"/>
            <a:ext cx="859536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defRPr sz="1800" b="1">
                <a:solidFill>
                  <a:srgbClr val="122C4E"/>
                </a:solidFill>
                <a:latin typeface="Noto Sans CJK KR"/>
              </a:defRPr>
            </a:pPr>
            <a:r>
              <a:t>2D LiDAR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3406140"/>
            <a:ext cx="1065276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3515868"/>
            <a:ext cx="1143000" cy="24688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defRPr sz="1900" b="1">
                <a:solidFill>
                  <a:srgbClr val="225B9B"/>
                </a:solidFill>
                <a:latin typeface="Noto Sans CJK KR"/>
              </a:defRPr>
            </a:pPr>
            <a:r>
              <a:t>M14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3497580"/>
            <a:ext cx="859536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defRPr sz="1800" b="1">
                <a:solidFill>
                  <a:srgbClr val="122C4E"/>
                </a:solidFill>
                <a:latin typeface="Noto Sans CJK KR"/>
              </a:defRPr>
            </a:pPr>
            <a:r>
              <a:t>IMU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4491990"/>
            <a:ext cx="1065276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4128" y="4601718"/>
            <a:ext cx="1143000" cy="24688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defRPr sz="1900" b="1">
                <a:solidFill>
                  <a:srgbClr val="225B9B"/>
                </a:solidFill>
                <a:latin typeface="Noto Sans CJK KR"/>
              </a:defRPr>
            </a:pPr>
            <a:r>
              <a:t>M15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4583429"/>
            <a:ext cx="859536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defRPr sz="1800" b="1">
                <a:solidFill>
                  <a:srgbClr val="122C4E"/>
                </a:solidFill>
                <a:latin typeface="Noto Sans CJK KR"/>
              </a:defRPr>
            </a:pPr>
            <a:r>
              <a:t>QoS·sim time·운영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6053328"/>
            <a:ext cx="10515600" cy="23774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defRPr sz="1400" b="1">
                <a:solidFill>
                  <a:srgbClr val="2A8B5A"/>
                </a:solidFill>
                <a:latin typeface="Noto Sans CJK KR"/>
              </a:defRPr>
            </a:pPr>
            <a:r>
              <a:t>각 모듈의 완료 조건을 통과한 뒤에만 다음 모듈로 진행합니다.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22C4E"/>
          </a:solidFill>
          <a:ln>
            <a:solidFill>
              <a:srgbClr val="122C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31089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Noto Sans CJK KR"/>
              </a:defRPr>
            </a:pPr>
            <a:r>
              <a:t>Block D · 1/4 · M12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515600" cy="6400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defRPr sz="3400" b="1">
                <a:solidFill>
                  <a:srgbClr val="122C4E"/>
                </a:solidFill>
                <a:latin typeface="Noto Sans CJK KR"/>
              </a:defRPr>
            </a:pPr>
            <a:r>
              <a:t>Camera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0120" y="3108960"/>
            <a:ext cx="10287000" cy="1325880"/>
          </a:xfrm>
          <a:prstGeom prst="round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900" b="1">
                <a:solidFill>
                  <a:srgbClr val="122C4E"/>
                </a:solidFill>
                <a:latin typeface="Noto Sans CJK KR"/>
              </a:defRPr>
            </a:pPr>
            <a:r>
              <a:t>M12의 독립 PPT 전체를 바로 다음 슬라이드부터 순서대로 진행합니다.</a:t>
            </a:r>
            <a:br/>
            <a:r>
              <a:t>이 Block 통합본에서도 Starter → 파일 작성 → 실행 → 검증 → 오류 대응 → Checkpoint 순서는 바뀌지 않습니다.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897880"/>
            <a:ext cx="1042416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defRPr sz="1500" b="1">
                <a:solidFill>
                  <a:srgbClr val="2A8B5A"/>
                </a:solidFill>
                <a:latin typeface="Noto Sans CJK KR"/>
              </a:defRPr>
            </a:pPr>
            <a:r>
              <a:t>모듈을 건너뛰지 말고, 이전 M의 Complete가 준비된 뒤 다음 M으로 이동합니다.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2C4E"/>
          </a:solidFill>
          <a:ln>
            <a:solidFill>
              <a:srgbClr val="122C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1400" b="1">
                <a:solidFill>
                  <a:srgbClr val="FFFFFF"/>
                </a:solidFill>
                <a:latin typeface="Noto Sans CJK KR"/>
              </a:defRPr>
            </a:pPr>
            <a:r>
              <a:rPr/>
              <a:t>ROS 2 기반 AGV End-to-End 개발 커리큘럼 · M12 · Block 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600200"/>
            <a:ext cx="10698480" cy="10058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3400" b="1">
                <a:solidFill>
                  <a:srgbClr val="122C4E"/>
                </a:solidFill>
                <a:latin typeface="Noto Sans CJK KR"/>
              </a:defRPr>
            </a:pPr>
            <a:r>
              <a:rPr/>
              <a:t>Camera Sensor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834640"/>
            <a:ext cx="10149840" cy="5029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2200" b="1">
                <a:solidFill>
                  <a:srgbClr val="2A8B5A"/>
                </a:solidFill>
                <a:latin typeface="Noto Sans CJK KR"/>
              </a:defRPr>
            </a:pPr>
            <a:r>
              <a:rPr/>
              <a:t>/camera/image_raw가 bridge를 통과하고 cv_bridge 소비 노드가 받을 준비가 된 상태를 확인한다.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3822191"/>
            <a:ext cx="9418320" cy="1051560"/>
          </a:xfrm>
          <a:prstGeom prst="round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1800" b="1">
                <a:solidFill>
                  <a:srgbClr val="122C4E"/>
                </a:solidFill>
                <a:latin typeface="Noto Sans CJK KR"/>
              </a:defRPr>
            </a:pPr>
            <a:r>
              <a:rPr/>
              <a:t>기준 환경</a:t>
            </a:r>
            <a:r>
              <a:rPr/>
              <a:t>Ubuntu 24.04 LTS · ROS 2 Jazzy · Gazebo Harmonic · RViz2 · Python(rclpy)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080760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0">
                <a:solidFill>
                  <a:srgbClr val="5C6672"/>
                </a:solidFill>
                <a:latin typeface="Noto Sans CJK KR"/>
              </a:defRPr>
            </a:pPr>
            <a:r>
              <a:rPr/>
              <a:t>이 PPT에서 폴더 생성 → 빈 파일 열기 → 코드 입력·저장 → build/run → 검증을 직접 반복합니다.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기반 AGV End-to-End 개발 커리큘럼 · M12 · Block 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전체 과정에서 현재 위치를 확인한다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앞 모듈의 Complete가 현재 Starter가 되고, 현재 Complete가 다음 모듈로 넘어갑니다.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기반 AGV End-to-End 개발 커리큘럼 · M12 · Block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2377440"/>
            <a:ext cx="32461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5C66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2000" b="1">
                <a:solidFill>
                  <a:srgbClr val="5C6672"/>
                </a:solidFill>
                <a:latin typeface="Noto Sans CJK KR"/>
              </a:defRPr>
            </a:pPr>
            <a:r>
              <a:rPr/>
              <a:t>M11 RViz2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968496" y="3035808"/>
            <a:ext cx="457200" cy="0"/>
          </a:xfrm>
          <a:prstGeom prst="line">
            <a:avLst/>
          </a:prstGeom>
          <a:ln w="38100">
            <a:solidFill>
              <a:srgbClr val="5C66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553712" y="2377440"/>
            <a:ext cx="32461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2000" b="1">
                <a:solidFill>
                  <a:srgbClr val="225B9B"/>
                </a:solidFill>
                <a:latin typeface="Noto Sans CJK KR"/>
              </a:defRPr>
            </a:pPr>
            <a:r>
              <a:rPr/>
              <a:t>M12</a:t>
            </a:r>
            <a:r>
              <a:rPr/>
              <a:t>Camera Sensor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808976" y="3035808"/>
            <a:ext cx="457199" cy="0"/>
          </a:xfrm>
          <a:prstGeom prst="line">
            <a:avLst/>
          </a:prstGeom>
          <a:ln w="38100">
            <a:solidFill>
              <a:srgbClr val="225B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8394192" y="2377440"/>
            <a:ext cx="32461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2A8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2000" b="1">
                <a:solidFill>
                  <a:srgbClr val="2A8B5A"/>
                </a:solidFill>
                <a:latin typeface="Noto Sans CJK KR"/>
              </a:defRPr>
            </a:pPr>
            <a:r>
              <a:rPr/>
              <a:t>M13 LiDAR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617720"/>
            <a:ext cx="10424160" cy="56692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22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이번 모듈의 인계: /camera/image_raw가 bridge를 통과하고 cv_bridge 소비 노드가 받을 준비가 된 상태를 확인한다.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시작 상태를 먼저 맞춘다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실습 시작 전에 현재 폴더·이전 파일·실행 프로그램을 확인합니다.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기반 AGV End-to-End 개발 커리큘럼 · M12 · Block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시작    |    현재 폴더 ~/ros2_curri/my_agv_ws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1783080"/>
            <a:ext cx="10972800" cy="3429000"/>
          </a:xfrm>
          <a:prstGeom prst="roundRect">
            <a:avLst/>
          </a:prstGeom>
          <a:solidFill>
            <a:srgbClr val="F4F7FB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914400" y="2011680"/>
            <a:ext cx="10424160" cy="283464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122C4E"/>
                </a:solidFill>
                <a:latin typeface="Noto Sans CJK KR"/>
              </a:defRPr>
            </a:pPr>
            <a:r>
              <a:rPr/>
              <a:t>• 시작 상태: M11의 camera_link와 RViz display 환경이 준비된 상태.</a:t>
            </a:r>
          </a:p>
          <a:p>
            <a:pPr>
              <a:spcAft>
                <a:spcPts val="800"/>
              </a:spcAft>
              <a:defRPr sz="1900">
                <a:solidFill>
                  <a:srgbClr val="122C4E"/>
                </a:solidFill>
                <a:latin typeface="Noto Sans CJK KR"/>
              </a:defRPr>
            </a:pPr>
            <a:r>
              <a:rPr/>
              <a:t>• 이전 Complete: M11 RViz2</a:t>
            </a:r>
          </a:p>
          <a:p>
            <a:pPr>
              <a:spcAft>
                <a:spcPts val="800"/>
              </a:spcAft>
              <a:defRPr sz="1900">
                <a:solidFill>
                  <a:srgbClr val="122C4E"/>
                </a:solidFill>
                <a:latin typeface="Noto Sans CJK KR"/>
              </a:defRPr>
            </a:pPr>
            <a:r>
              <a:rPr/>
              <a:t>• 현재 폴더: ~/ros2_curri/my_agv_ws</a:t>
            </a:r>
          </a:p>
          <a:p>
            <a:pPr>
              <a:spcAft>
                <a:spcPts val="800"/>
              </a:spcAft>
              <a:defRPr sz="1900">
                <a:solidFill>
                  <a:srgbClr val="122C4E"/>
                </a:solidFill>
                <a:latin typeface="Noto Sans CJK KR"/>
              </a:defRPr>
            </a:pPr>
            <a:r>
              <a:rPr/>
              <a:t>• 새 터미널마다: source /opt/ros/jazzy/setup.bash → source install/setup.bash</a:t>
            </a:r>
          </a:p>
          <a:p>
            <a:pPr>
              <a:spcAft>
                <a:spcPts val="800"/>
              </a:spcAft>
              <a:defRPr sz="1900">
                <a:solidFill>
                  <a:srgbClr val="122C4E"/>
                </a:solidFill>
                <a:latin typeface="Noto Sans CJK KR"/>
              </a:defRPr>
            </a:pPr>
            <a:r>
              <a:rPr/>
              <a:t>• 파일 경로는 PPT와 Complete 폴더에서 같은 이름으로 유지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5532120"/>
            <a:ext cx="10515600" cy="3200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2A8B5A"/>
                </a:solidFill>
                <a:latin typeface="Noto Sans CJK KR"/>
              </a:defRPr>
            </a:pPr>
            <a:r>
              <a:rPr/>
              <a:t>확인: pwd가 ~/ros2_curri/my_agv_ws이고, 이전 모듈의 완료 조건을 한 문장으로 설명할 수 있으면 시작합니다.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이번 모듈의 눈으로 확인할 완료 조건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‘이해했다’가 아니라 실제로 보이는 결과를 기준으로 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기반 AGV End-to-End 개발 커리큘럼 · M12 · Block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700784"/>
            <a:ext cx="10744200" cy="1325880"/>
          </a:xfrm>
          <a:prstGeom prst="roundRect">
            <a:avLst/>
          </a:prstGeom>
          <a:solidFill>
            <a:srgbClr val="EEF7F1"/>
          </a:solidFill>
          <a:ln>
            <a:solidFill>
              <a:srgbClr val="A8D3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2500" b="1">
                <a:solidFill>
                  <a:srgbClr val="122C4E"/>
                </a:solidFill>
                <a:latin typeface="Noto Sans CJK KR"/>
              </a:defRPr>
            </a:pPr>
            <a:r>
              <a:rPr/>
              <a:t>Gazebo camera의 FOV·해상도·update_rate가 ROS Image topic으로 연결되는 흐름을 만든다.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3401568"/>
            <a:ext cx="10744200" cy="1325880"/>
          </a:xfrm>
          <a:prstGeom prst="roundRect">
            <a:avLst/>
          </a:prstGeom>
          <a:solidFill>
            <a:srgbClr val="F4F7FB"/>
          </a:solidFill>
          <a:ln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2200" b="1">
                <a:solidFill>
                  <a:srgbClr val="2A8B5A"/>
                </a:solidFill>
                <a:latin typeface="Noto Sans CJK KR"/>
              </a:defRPr>
            </a:pPr>
            <a:r>
              <a:rPr/>
              <a:t>완료 화면/결과</a:t>
            </a:r>
            <a:r>
              <a:rPr/>
              <a:t>/camera/image_raw가 bridge를 통과하고 cv_bridge 소비 노드가 받을 준비가 된 상태를 확인한다.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5349240"/>
            <a:ext cx="10424160" cy="4114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800" b="0">
                <a:solidFill>
                  <a:srgbClr val="122C4E"/>
                </a:solidFill>
                <a:latin typeface="Noto Sans CJK KR"/>
              </a:defRPr>
            </a:pPr>
            <a:r>
              <a:rPr/>
              <a:t>종료 전에는 ‘무엇이 보이면 성공인가’를 terminal 또는 Gazebo/RViz 화면에서 반드시 확인합니다.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프로젝트에 이번 기능을 직접 추가한다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완성본을 먼저 복사하지 않습니다. 빈 workspace에 지금 필요한 폴더와 파일을 하나씩 만듭니다.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기반 AGV End-to-End 개발 커리큘럼 · M12 · Block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프로젝트 조립    |    현재 폴더 ~/ros2_curri/my_agv_ws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55648"/>
            <a:ext cx="10835640" cy="1033271"/>
          </a:xfrm>
          <a:prstGeom prst="roundRect">
            <a:avLst/>
          </a:prstGeom>
          <a:solidFill>
            <a:srgbClr val="F4F7FB"/>
          </a:solidFill>
          <a:ln>
            <a:solidFill>
              <a:srgbClr val="5C66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960120" y="1911095"/>
            <a:ext cx="19202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5C6672"/>
                </a:solidFill>
                <a:latin typeface="Noto Sans CJK KR"/>
              </a:defRPr>
            </a:pPr>
            <a:r>
              <a:rPr/>
              <a:t>이미 있는 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88920" y="1892807"/>
            <a:ext cx="8229600" cy="56692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122C4E"/>
                </a:solidFill>
                <a:latin typeface="Noto Sans CJK KR"/>
              </a:defRPr>
            </a:pPr>
            <a:r>
              <a:rPr/>
              <a:t>M11 RViz2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81528"/>
            <a:ext cx="10835640" cy="1033271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960120" y="3236976"/>
            <a:ext cx="19202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225B9B"/>
                </a:solidFill>
                <a:latin typeface="Noto Sans CJK KR"/>
              </a:defRPr>
            </a:pPr>
            <a:r>
              <a:rPr/>
              <a:t>이번에 직접 만들 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88920" y="3218688"/>
            <a:ext cx="8229600" cy="56692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122C4E"/>
                </a:solidFill>
                <a:latin typeface="Noto Sans CJK KR"/>
              </a:defRPr>
            </a:pPr>
            <a:r>
              <a:rPr/>
              <a:t>Gazebo camera의 FOV·해상도·update_rate가 ROS Image topic으로 연결되는 흐름을 만든다.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407408"/>
            <a:ext cx="10835640" cy="1033271"/>
          </a:xfrm>
          <a:prstGeom prst="roundRect">
            <a:avLst/>
          </a:prstGeom>
          <a:solidFill>
            <a:srgbClr val="F4F7FB"/>
          </a:solidFill>
          <a:ln>
            <a:solidFill>
              <a:srgbClr val="2A8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960120" y="4562856"/>
            <a:ext cx="19202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2A8B5A"/>
                </a:solidFill>
                <a:latin typeface="Noto Sans CJK KR"/>
              </a:defRPr>
            </a:pPr>
            <a:r>
              <a:rPr/>
              <a:t>만들고 나서 확인할 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88920" y="4544568"/>
            <a:ext cx="8229600" cy="56692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122C4E"/>
                </a:solidFill>
                <a:latin typeface="Noto Sans CJK KR"/>
              </a:defRPr>
            </a:pPr>
            <a:r>
              <a:rPr/>
              <a:t>/camera/image_raw가 bridge를 통과하고 cv_bridge 소비 노드가 받을 준비가 된 상태를 확인한다.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" y="5833872"/>
            <a:ext cx="10561320" cy="3657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DB7E22"/>
                </a:solidFill>
                <a:latin typeface="Noto Sans CJK KR"/>
              </a:defRPr>
            </a:pPr>
            <a:r>
              <a:rPr/>
              <a:t>이번 모듈에서는 7개 파일을 빈 상태에서 직접 만듭니다. 다음 슬라이드의 명령을 입력한 뒤에만 코드를 작성합니다.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먼저 이번 단계의 완료 모습을 본다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지금부터 폴더·파일·코드를 만들면 아래의 실제 결과에 도달합니다. 보이는 기준을 기억한 뒤 구현합니다.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기반 AGV End-to-End 개발 커리큘럼 · M12 · Block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5516" y="1389888"/>
            <a:ext cx="6217919" cy="46634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" y="6126480"/>
            <a:ext cx="106070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2A8B5A"/>
                </a:solidFill>
                <a:latin typeface="Noto Sans CJK KR"/>
              </a:defRPr>
            </a:pPr>
            <a:r>
              <a:rPr/>
              <a:t>목표 화면: 실제 /camera/image_raw: AGV 전방 camera가 target·장애물 방향을 보는 원본 프레임  |  나중에 확인할 것: 빨간 target과 노란 장애물의 화면 위치로 camera pose·FOV를 판단합니다.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먼저 이번 단계의 완료 모습을 본다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지금부터 폴더·파일·코드를 만들면 아래의 실제 결과에 도달합니다. 보이는 기준을 기억한 뒤 구현합니다.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기반 AGV End-to-End 개발 커리큘럼 · M12 · Block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4190" y="1389888"/>
            <a:ext cx="6420570" cy="46634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" y="6126480"/>
            <a:ext cx="106070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2A8B5A"/>
                </a:solidFill>
                <a:latin typeface="Noto Sans CJK KR"/>
              </a:defRPr>
            </a:pPr>
            <a:r>
              <a:rPr/>
              <a:t>목표 화면: 실제 GNOME Terminal: camera Image type·publisher/subscriber·publish rate  |  나중에 확인할 것: Image 타입, publisher 1개 이상, average rate를 함께 찾습니다.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먼저 이번 단계의 완료 모습을 본다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지금부터 폴더·파일·코드를 만들면 아래의 실제 결과에 도달합니다. 보이는 기준을 기억한 뒤 구현합니다.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기반 AGV End-to-End 개발 커리큘럼 · M12 · Block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5516" y="1389888"/>
            <a:ext cx="6217919" cy="46634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" y="6126480"/>
            <a:ext cx="106070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2A8B5A"/>
                </a:solidFill>
                <a:latin typeface="Noto Sans CJK KR"/>
              </a:defRPr>
            </a:pPr>
            <a:r>
              <a:rPr/>
              <a:t>목표 화면: 실제 /vision/debug_image: fallback 검출 결과가 target box·거리로 표시된 화면  |  나중에 확인할 것: 노란 box와 ‘target … m’ 텍스트가 raw frame 처리 결과인지 확인합니다.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핵심 흐름을 한 장으로 이해하기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상자와 화살표의 방향을 따라 데이터 또는 제어의 흐름을 읽습니다.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기반 AGV End-to-End 개발 커리큘럼 · M12 · Block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568195" y="2743200"/>
            <a:ext cx="2029968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1900" b="1">
                <a:solidFill>
                  <a:srgbClr val="122C4E"/>
                </a:solidFill>
                <a:latin typeface="Noto Sans CJK KR"/>
              </a:defRPr>
            </a:pPr>
            <a:r>
              <a:rPr/>
              <a:t>Gazebo camera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598164" y="3264408"/>
            <a:ext cx="283464" cy="0"/>
          </a:xfrm>
          <a:prstGeom prst="line">
            <a:avLst/>
          </a:prstGeom>
          <a:ln w="31750">
            <a:solidFill>
              <a:srgbClr val="225B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909060" y="2743200"/>
            <a:ext cx="2029968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1900" b="1">
                <a:solidFill>
                  <a:srgbClr val="122C4E"/>
                </a:solidFill>
                <a:latin typeface="Noto Sans CJK KR"/>
              </a:defRPr>
            </a:pPr>
            <a:r>
              <a:rPr/>
              <a:t>bridge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939028" y="3264408"/>
            <a:ext cx="283464" cy="0"/>
          </a:xfrm>
          <a:prstGeom prst="line">
            <a:avLst/>
          </a:prstGeom>
          <a:ln w="31750">
            <a:solidFill>
              <a:srgbClr val="225B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249924" y="2743200"/>
            <a:ext cx="2029968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1900" b="1">
                <a:solidFill>
                  <a:srgbClr val="122C4E"/>
                </a:solidFill>
                <a:latin typeface="Noto Sans CJK KR"/>
              </a:defRPr>
            </a:pPr>
            <a:r>
              <a:rPr/>
              <a:t>/camera/image_raw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279892" y="3264408"/>
            <a:ext cx="283464" cy="0"/>
          </a:xfrm>
          <a:prstGeom prst="line">
            <a:avLst/>
          </a:prstGeom>
          <a:ln w="31750">
            <a:solidFill>
              <a:srgbClr val="225B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590788" y="2743200"/>
            <a:ext cx="2029968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1900" b="1">
                <a:solidFill>
                  <a:srgbClr val="122C4E"/>
                </a:solidFill>
                <a:latin typeface="Noto Sans CJK KR"/>
              </a:defRPr>
            </a:pPr>
            <a:r>
              <a:rPr/>
              <a:t>cv_bridge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800600"/>
            <a:ext cx="10332720" cy="5029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225B9B"/>
                </a:solidFill>
                <a:latin typeface="Noto Sans CJK KR"/>
              </a:defRPr>
            </a:pPr>
            <a:r>
              <a:rPr/>
              <a:t>기억할 한 문장: 앞 단계의 출력이 다음 단계의 입력이 되도록 topic·frame·파일 이름을 끝까지 유지합니다.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이번에 프로젝트 안에 새로 만드는 파일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아래 파일은 완성본을 복사하지 않고, 다음 슬라이드에서 폴더·빈 파일부터 직접 만듭니다.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기반 AGV End-to-End 개발 커리큘럼 · M12 · Block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600200"/>
            <a:ext cx="10789920" cy="4407408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rPr/>
              <a:t>~/ros2_curri/my_agv_ws/src/</a:t>
            </a:r>
            <a:r>
              <a:rPr/>
              <a:t>└── agv_sensors/package.xml</a:t>
            </a:r>
            <a:r>
              <a:rPr/>
              <a:t>└── agv_sensors/setup.py</a:t>
            </a:r>
            <a:r>
              <a:rPr/>
              <a:t>└── agv_vision/package.xml</a:t>
            </a:r>
            <a:r>
              <a:rPr/>
              <a:t>└── agv_vision/setup.py</a:t>
            </a:r>
            <a:r>
              <a:rPr/>
              <a:t>└── agv_gazebo/models/agv/model.sdf</a:t>
            </a:r>
            <a:r>
              <a:rPr/>
              <a:t>└── agv_gazebo/config/bridge.yaml</a:t>
            </a:r>
            <a:r>
              <a:rPr/>
              <a:t>└── agv_vision/agv_vision/yolo_node.py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" y="6144768"/>
            <a:ext cx="103327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5C6672"/>
                </a:solidFill>
                <a:latin typeface="Noto Sans CJK KR"/>
              </a:defRPr>
            </a:pPr>
            <a:r>
              <a:rPr/>
              <a:t>파일 하나를 만들고 저장한 뒤에만 다음 파일로 넘어갑니다. Complete는 오류가 풀리지 않을 때만 비교합니다.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코드/설정이 실제로 만드는 것 (1/4)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파일을 입력하기 전에 ‘무엇을 만들고 어디서 볼지’를 먼저 연결합니다.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기반 AGV End-to-End 개발 커리큘럼 · M12 · Block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파일 역할    |    현재 폴더 ~/ros2_curri/my_agv_ws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27632"/>
            <a:ext cx="10972800" cy="2048256"/>
          </a:xfrm>
          <a:prstGeom prst="roundRect">
            <a:avLst/>
          </a:prstGeom>
          <a:solidFill>
            <a:srgbClr val="F4F7FB"/>
          </a:solidFill>
          <a:ln>
            <a:solidFill>
              <a:srgbClr val="CCD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850392" y="1764792"/>
            <a:ext cx="1042416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25B9B"/>
                </a:solidFill>
                <a:latin typeface="DejaVu Sans Mono"/>
              </a:defRPr>
            </a:pPr>
            <a:r>
              <a:rPr/>
              <a:t>~/ros2_curri/my_agv_ws/src/agv_sensors/package.xml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130552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2A8B5A"/>
                </a:solidFill>
                <a:latin typeface="Noto Sans CJK KR"/>
              </a:defRPr>
            </a:pPr>
            <a:r>
              <a:rPr/>
              <a:t>만드는 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75104" y="2112264"/>
            <a:ext cx="91897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0">
                <a:solidFill>
                  <a:srgbClr val="122C4E"/>
                </a:solidFill>
                <a:latin typeface="Noto Sans CJK KR"/>
              </a:defRPr>
            </a:pPr>
            <a:r>
              <a:rPr/>
              <a:t>ROS 2 package의 이름·의존성·빌드 도구를 선언하는 manifest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505456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DB7E22"/>
                </a:solidFill>
                <a:latin typeface="Noto Sans CJK KR"/>
              </a:defRPr>
            </a:pPr>
            <a:r>
              <a:rPr/>
              <a:t>코드 읽기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75104" y="2487168"/>
            <a:ext cx="9189720" cy="30175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Noto Sans CJK KR"/>
              </a:defRPr>
            </a:pPr>
            <a:r>
              <a:rPr/>
              <a:t>package 이름 → buildtool → build/exec dependency 순서로 읽는다.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889504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225B9B"/>
                </a:solidFill>
                <a:latin typeface="Noto Sans CJK KR"/>
              </a:defRPr>
            </a:pPr>
            <a:r>
              <a:rPr/>
              <a:t>사용/확인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75104" y="2871216"/>
            <a:ext cx="9189720" cy="51206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rPr/>
              <a:t>사용: colcon build가 dependency를 해석할 때 사용한다.</a:t>
            </a:r>
            <a:r>
              <a:rPr/>
              <a:t>화면/출력: colcon build 오류와 ros2 pkg prefix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941063"/>
            <a:ext cx="10972800" cy="2048256"/>
          </a:xfrm>
          <a:prstGeom prst="roundRect">
            <a:avLst/>
          </a:prstGeom>
          <a:solidFill>
            <a:srgbClr val="F4F7FB"/>
          </a:solidFill>
          <a:ln>
            <a:solidFill>
              <a:srgbClr val="CCD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850392" y="4078224"/>
            <a:ext cx="1042416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25B9B"/>
                </a:solidFill>
                <a:latin typeface="DejaVu Sans Mono"/>
              </a:defRPr>
            </a:pPr>
            <a:r>
              <a:rPr/>
              <a:t>~/ros2_curri/my_agv_ws/src/agv_sensors/setup.py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443983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2A8B5A"/>
                </a:solidFill>
                <a:latin typeface="Noto Sans CJK KR"/>
              </a:defRPr>
            </a:pPr>
            <a:r>
              <a:rPr/>
              <a:t>만드는 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75104" y="4425696"/>
            <a:ext cx="91897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0">
                <a:solidFill>
                  <a:srgbClr val="122C4E"/>
                </a:solidFill>
                <a:latin typeface="Noto Sans CJK KR"/>
              </a:defRPr>
            </a:pPr>
            <a:r>
              <a:rPr/>
              <a:t>Python package 파일과 ros2 run 실행 이름을 install하는 설정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818888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DB7E22"/>
                </a:solidFill>
                <a:latin typeface="Noto Sans CJK KR"/>
              </a:defRPr>
            </a:pPr>
            <a:r>
              <a:rPr/>
              <a:t>코드 읽기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75104" y="4800600"/>
            <a:ext cx="9189720" cy="30175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Noto Sans CJK KR"/>
              </a:defRPr>
            </a:pPr>
            <a:r>
              <a:rPr/>
              <a:t>packages/data_files → install_requires → entry_points.console_scripts 순서로 읽는다.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5202936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225B9B"/>
                </a:solidFill>
                <a:latin typeface="Noto Sans CJK KR"/>
              </a:defRPr>
            </a:pPr>
            <a:r>
              <a:rPr/>
              <a:t>사용/확인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75104" y="5184648"/>
            <a:ext cx="9189720" cy="51206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rPr/>
              <a:t>사용: colcon build·source 뒤 ros2 pkg executables로 확인한다.</a:t>
            </a:r>
            <a:r>
              <a:rPr/>
              <a:t>화면/출력: ros2 pkg executables와 ros2 run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코드/설정이 실제로 만드는 것 (2/4)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파일을 입력하기 전에 ‘무엇을 만들고 어디서 볼지’를 먼저 연결합니다.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기반 AGV End-to-End 개발 커리큘럼 · M12 · Block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파일 역할    |    현재 폴더 ~/ros2_curri/my_agv_ws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27632"/>
            <a:ext cx="10972800" cy="2048256"/>
          </a:xfrm>
          <a:prstGeom prst="roundRect">
            <a:avLst/>
          </a:prstGeom>
          <a:solidFill>
            <a:srgbClr val="F4F7FB"/>
          </a:solidFill>
          <a:ln>
            <a:solidFill>
              <a:srgbClr val="CCD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850392" y="1764792"/>
            <a:ext cx="1042416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25B9B"/>
                </a:solidFill>
                <a:latin typeface="DejaVu Sans Mono"/>
              </a:defRPr>
            </a:pPr>
            <a:r>
              <a:rPr/>
              <a:t>~/ros2_curri/my_agv_ws/src/agv_vision/package.xml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130552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2A8B5A"/>
                </a:solidFill>
                <a:latin typeface="Noto Sans CJK KR"/>
              </a:defRPr>
            </a:pPr>
            <a:r>
              <a:rPr/>
              <a:t>만드는 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75104" y="2112264"/>
            <a:ext cx="91897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0">
                <a:solidFill>
                  <a:srgbClr val="122C4E"/>
                </a:solidFill>
                <a:latin typeface="Noto Sans CJK KR"/>
              </a:defRPr>
            </a:pPr>
            <a:r>
              <a:rPr/>
              <a:t>ROS 2 package의 이름·의존성·빌드 도구를 선언하는 manifest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505456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DB7E22"/>
                </a:solidFill>
                <a:latin typeface="Noto Sans CJK KR"/>
              </a:defRPr>
            </a:pPr>
            <a:r>
              <a:rPr/>
              <a:t>코드 읽기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75104" y="2487168"/>
            <a:ext cx="9189720" cy="30175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Noto Sans CJK KR"/>
              </a:defRPr>
            </a:pPr>
            <a:r>
              <a:rPr/>
              <a:t>package 이름 → buildtool → build/exec dependency 순서로 읽는다.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889504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225B9B"/>
                </a:solidFill>
                <a:latin typeface="Noto Sans CJK KR"/>
              </a:defRPr>
            </a:pPr>
            <a:r>
              <a:rPr/>
              <a:t>사용/확인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75104" y="2871216"/>
            <a:ext cx="9189720" cy="51206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rPr/>
              <a:t>사용: colcon build가 dependency를 해석할 때 사용한다.</a:t>
            </a:r>
            <a:r>
              <a:rPr/>
              <a:t>화면/출력: colcon build 오류와 ros2 pkg prefix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941063"/>
            <a:ext cx="10972800" cy="2048256"/>
          </a:xfrm>
          <a:prstGeom prst="roundRect">
            <a:avLst/>
          </a:prstGeom>
          <a:solidFill>
            <a:srgbClr val="F4F7FB"/>
          </a:solidFill>
          <a:ln>
            <a:solidFill>
              <a:srgbClr val="CCD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850392" y="4078224"/>
            <a:ext cx="1042416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25B9B"/>
                </a:solidFill>
                <a:latin typeface="DejaVu Sans Mono"/>
              </a:defRPr>
            </a:pPr>
            <a:r>
              <a:rPr/>
              <a:t>~/ros2_curri/my_agv_ws/src/agv_vision/setup.py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443983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2A8B5A"/>
                </a:solidFill>
                <a:latin typeface="Noto Sans CJK KR"/>
              </a:defRPr>
            </a:pPr>
            <a:r>
              <a:rPr/>
              <a:t>만드는 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75104" y="4425696"/>
            <a:ext cx="91897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0">
                <a:solidFill>
                  <a:srgbClr val="122C4E"/>
                </a:solidFill>
                <a:latin typeface="Noto Sans CJK KR"/>
              </a:defRPr>
            </a:pPr>
            <a:r>
              <a:rPr/>
              <a:t>Python package 파일과 ros2 run 실행 이름을 install하는 설정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818888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DB7E22"/>
                </a:solidFill>
                <a:latin typeface="Noto Sans CJK KR"/>
              </a:defRPr>
            </a:pPr>
            <a:r>
              <a:rPr/>
              <a:t>코드 읽기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75104" y="4800600"/>
            <a:ext cx="9189720" cy="30175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Noto Sans CJK KR"/>
              </a:defRPr>
            </a:pPr>
            <a:r>
              <a:rPr/>
              <a:t>packages/data_files → install_requires → entry_points.console_scripts 순서로 읽는다.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5202936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225B9B"/>
                </a:solidFill>
                <a:latin typeface="Noto Sans CJK KR"/>
              </a:defRPr>
            </a:pPr>
            <a:r>
              <a:rPr/>
              <a:t>사용/확인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75104" y="5184648"/>
            <a:ext cx="9189720" cy="51206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rPr/>
              <a:t>사용: colcon build·source 뒤 ros2 pkg executables로 확인한다.</a:t>
            </a:r>
            <a:r>
              <a:rPr/>
              <a:t>화면/출력: ros2 pkg executables와 ros2 run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코드/설정이 실제로 만드는 것 (3/4)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파일을 입력하기 전에 ‘무엇을 만들고 어디서 볼지’를 먼저 연결합니다.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기반 AGV End-to-End 개발 커리큘럼 · M12 · Block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파일 역할    |    현재 폴더 ~/ros2_curri/my_agv_ws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27632"/>
            <a:ext cx="10972800" cy="2048256"/>
          </a:xfrm>
          <a:prstGeom prst="roundRect">
            <a:avLst/>
          </a:prstGeom>
          <a:solidFill>
            <a:srgbClr val="F4F7FB"/>
          </a:solidFill>
          <a:ln>
            <a:solidFill>
              <a:srgbClr val="CCD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850392" y="1764792"/>
            <a:ext cx="1042416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25B9B"/>
                </a:solidFill>
                <a:latin typeface="DejaVu Sans Mono"/>
              </a:defRPr>
            </a:pPr>
            <a:r>
              <a:rPr/>
              <a:t>~/ros2_curri/my_agv_ws/src/agv_gazebo/models/agv/model.sdf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130552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2A8B5A"/>
                </a:solidFill>
                <a:latin typeface="Noto Sans CJK KR"/>
              </a:defRPr>
            </a:pPr>
            <a:r>
              <a:rPr/>
              <a:t>만드는 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75104" y="2112264"/>
            <a:ext cx="91897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0">
                <a:solidFill>
                  <a:srgbClr val="122C4E"/>
                </a:solidFill>
                <a:latin typeface="Noto Sans CJK KR"/>
              </a:defRPr>
            </a:pPr>
            <a:r>
              <a:rPr/>
              <a:t>구동·카메라·LiDAR·IMU를 포함해 Gazebo가 시뮬레이션할 완성 AGV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505456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DB7E22"/>
                </a:solidFill>
                <a:latin typeface="Noto Sans CJK KR"/>
              </a:defRPr>
            </a:pPr>
            <a:r>
              <a:rPr/>
              <a:t>코드 읽기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75104" y="2487168"/>
            <a:ext cx="9189720" cy="30175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Noto Sans CJK KR"/>
              </a:defRPr>
            </a:pPr>
            <a:r>
              <a:rPr/>
              <a:t>link/joint 다음에 sensor와 DiffDrive plugin을 찾고, topic 이름을 bridge와 비교한다.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889504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225B9B"/>
                </a:solidFill>
                <a:latin typeface="Noto Sans CJK KR"/>
              </a:defRPr>
            </a:pPr>
            <a:r>
              <a:rPr/>
              <a:t>사용/확인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75104" y="2871216"/>
            <a:ext cx="9189720" cy="51206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rPr/>
              <a:t>사용: Gazebo launch 뒤 각 ROS topic을 확인한다.</a:t>
            </a:r>
            <a:r>
              <a:rPr/>
              <a:t>화면/출력: Gazebo의 AGV, /camera/image_raw, /scan, /imu/data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941063"/>
            <a:ext cx="10972800" cy="2048256"/>
          </a:xfrm>
          <a:prstGeom prst="roundRect">
            <a:avLst/>
          </a:prstGeom>
          <a:solidFill>
            <a:srgbClr val="F4F7FB"/>
          </a:solidFill>
          <a:ln>
            <a:solidFill>
              <a:srgbClr val="CCD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850392" y="4078224"/>
            <a:ext cx="1042416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25B9B"/>
                </a:solidFill>
                <a:latin typeface="DejaVu Sans Mono"/>
              </a:defRPr>
            </a:pPr>
            <a:r>
              <a:rPr/>
              <a:t>~/ros2_curri/my_agv_ws/src/agv_gazebo/config/bridge.yaml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443983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2A8B5A"/>
                </a:solidFill>
                <a:latin typeface="Noto Sans CJK KR"/>
              </a:defRPr>
            </a:pPr>
            <a:r>
              <a:rPr/>
              <a:t>만드는 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75104" y="4425696"/>
            <a:ext cx="91897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0">
                <a:solidFill>
                  <a:srgbClr val="122C4E"/>
                </a:solidFill>
                <a:latin typeface="Noto Sans CJK KR"/>
              </a:defRPr>
            </a:pPr>
            <a:r>
              <a:rPr/>
              <a:t>Gazebo Transport 메시지와 ROS 2 topic을 방향별로 연결하는 번역표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818888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DB7E22"/>
                </a:solidFill>
                <a:latin typeface="Noto Sans CJK KR"/>
              </a:defRPr>
            </a:pPr>
            <a:r>
              <a:rPr/>
              <a:t>코드 읽기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75104" y="4800600"/>
            <a:ext cx="9189720" cy="30175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Noto Sans CJK KR"/>
              </a:defRPr>
            </a:pPr>
            <a:r>
              <a:rPr/>
              <a:t>한 항목에서 ros_topic_name → type → direction을 세 줄씩 비교한다.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5202936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225B9B"/>
                </a:solidFill>
                <a:latin typeface="Noto Sans CJK KR"/>
              </a:defRPr>
            </a:pPr>
            <a:r>
              <a:rPr/>
              <a:t>사용/확인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75104" y="5184648"/>
            <a:ext cx="9189720" cy="51206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rPr/>
              <a:t>사용: parameter_bridge가 이 YAML을 읽도록 launch한다.</a:t>
            </a:r>
            <a:r>
              <a:rPr/>
              <a:t>화면/출력: ros2 topic info에서 보이는 type과 publisher 수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코드/설정이 실제로 만드는 것 (4/4)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파일을 입력하기 전에 ‘무엇을 만들고 어디서 볼지’를 먼저 연결합니다.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기반 AGV End-to-End 개발 커리큘럼 · M12 · Block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파일 역할    |    현재 폴더 ~/ros2_curri/my_agv_ws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27632"/>
            <a:ext cx="10972800" cy="2048256"/>
          </a:xfrm>
          <a:prstGeom prst="roundRect">
            <a:avLst/>
          </a:prstGeom>
          <a:solidFill>
            <a:srgbClr val="F4F7FB"/>
          </a:solidFill>
          <a:ln>
            <a:solidFill>
              <a:srgbClr val="CCD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850392" y="1764792"/>
            <a:ext cx="1042416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25B9B"/>
                </a:solidFill>
                <a:latin typeface="DejaVu Sans Mono"/>
              </a:defRPr>
            </a:pPr>
            <a:r>
              <a:rPr/>
              <a:t>~/ros2_curri/my_agv_ws/src/agv_vision/agv_vision/yolo_node.py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130552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2A8B5A"/>
                </a:solidFill>
                <a:latin typeface="Noto Sans CJK KR"/>
              </a:defRPr>
            </a:pPr>
            <a:r>
              <a:rPr/>
              <a:t>만드는 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75104" y="2112264"/>
            <a:ext cx="91897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0">
                <a:solidFill>
                  <a:srgbClr val="122C4E"/>
                </a:solidFill>
                <a:latin typeface="Noto Sans CJK KR"/>
              </a:defRPr>
            </a:pPr>
            <a:r>
              <a:rPr/>
              <a:t>카메라 Image를 받아 검출 결과와 debug Image를 내보내는 인지 노드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505456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DB7E22"/>
                </a:solidFill>
                <a:latin typeface="Noto Sans CJK KR"/>
              </a:defRPr>
            </a:pPr>
            <a:r>
              <a:rPr/>
              <a:t>코드 읽기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75104" y="2487168"/>
            <a:ext cx="9189720" cy="30175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Noto Sans CJK KR"/>
              </a:defRPr>
            </a:pPr>
            <a:r>
              <a:rPr/>
              <a:t>subscription → cv_bridge 변환 → 검출 → Detection/debug publish 순서로 읽는다.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889504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225B9B"/>
                </a:solidFill>
                <a:latin typeface="Noto Sans CJK KR"/>
              </a:defRPr>
            </a:pPr>
            <a:r>
              <a:rPr/>
              <a:t>사용/확인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75104" y="2871216"/>
            <a:ext cx="9189720" cy="51206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rPr/>
              <a:t>사용: enable_yolo=false로 fallback부터 실행하고 모델 준비 뒤 true로 바꾼다.</a:t>
            </a:r>
            <a:r>
              <a:rPr/>
              <a:t>화면/출력: /vision/debug_image의 노란 box와 target 거리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코드를 ‘만드는 것 → 표시할 줄 → 바꾼 결과’로 읽는다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PDF 예시처럼 화면을 보기 전에 코드의 역할과 관찰 지점을 한 번 짚고 갑니다.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기반 AGV End-to-End 개발 커리큘럼 · M12 · Block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코드 해설    |    현재 폴더 ~/ros2_curri/my_agv_ws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664208"/>
            <a:ext cx="5321808" cy="1764792"/>
          </a:xfrm>
          <a:prstGeom prst="roundRect">
            <a:avLst/>
          </a:prstGeom>
          <a:solidFill>
            <a:srgbClr val="F4F7FB"/>
          </a:solidFill>
          <a:ln>
            <a:solidFill>
              <a:srgbClr val="2A8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859536" y="1828800"/>
            <a:ext cx="4892040" cy="2651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2A8B5A"/>
                </a:solidFill>
                <a:latin typeface="Noto Sans CJK KR"/>
              </a:defRPr>
            </a:pPr>
            <a:r>
              <a:rPr/>
              <a:t>1. 이 파일이 만드는 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240280"/>
            <a:ext cx="4846320" cy="9418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600" b="0">
                <a:solidFill>
                  <a:srgbClr val="122C4E"/>
                </a:solidFill>
                <a:latin typeface="Noto Sans CJK KR"/>
              </a:defRPr>
            </a:pPr>
            <a:r>
              <a:rPr/>
              <a:t>Camera는 SDF에서 영상을 만들고 bridge가 ROS Image로 옮긴 뒤 cv_bridge 코드가 픽셀로 바꿉니다.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64208"/>
            <a:ext cx="5321808" cy="1764792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419088" y="1828800"/>
            <a:ext cx="4892040" cy="2651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225B9B"/>
                </a:solidFill>
                <a:latin typeface="Noto Sans CJK KR"/>
              </a:defRPr>
            </a:pPr>
            <a:r>
              <a:rPr/>
              <a:t>2. 먼저 찾을 코드/태그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2240280"/>
            <a:ext cx="4846320" cy="9418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600" b="0">
                <a:solidFill>
                  <a:srgbClr val="122C4E"/>
                </a:solidFill>
                <a:latin typeface="Noto Sans CJK KR"/>
              </a:defRPr>
            </a:pPr>
            <a:r>
              <a:rPr/>
              <a:t>&lt;horizontal_fov&gt;, &lt;width&gt;, &lt;height&gt;, &lt;update_rate&gt;, /camera/image_raw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813048"/>
            <a:ext cx="5321808" cy="1764792"/>
          </a:xfrm>
          <a:prstGeom prst="roundRect">
            <a:avLst/>
          </a:prstGeom>
          <a:solidFill>
            <a:srgbClr val="F4F7FB"/>
          </a:solidFill>
          <a:ln>
            <a:solidFill>
              <a:srgbClr val="DB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859536" y="3977639"/>
            <a:ext cx="4892040" cy="2651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DB7E22"/>
                </a:solidFill>
                <a:latin typeface="Noto Sans CJK KR"/>
              </a:defRPr>
            </a:pPr>
            <a:r>
              <a:rPr/>
              <a:t>3. 값을 바꾸면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" y="4389120"/>
            <a:ext cx="4846320" cy="9418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600" b="0">
                <a:solidFill>
                  <a:srgbClr val="122C4E"/>
                </a:solidFill>
                <a:latin typeface="Noto Sans CJK KR"/>
              </a:defRPr>
            </a:pPr>
            <a:r>
              <a:rPr/>
              <a:t>FOV는 보이는 폭, width/height는 프레임 크기, update_rate는 새 영상의 주기를 바꿉니다.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813048"/>
            <a:ext cx="5321808" cy="1764792"/>
          </a:xfrm>
          <a:prstGeom prst="roundRect">
            <a:avLst/>
          </a:prstGeom>
          <a:solidFill>
            <a:srgbClr val="F4F7FB"/>
          </a:solidFill>
          <a:ln>
            <a:solidFill>
              <a:srgbClr val="BE3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6419088" y="3977639"/>
            <a:ext cx="4892040" cy="2651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BE3B3B"/>
                </a:solidFill>
                <a:latin typeface="Noto Sans CJK KR"/>
              </a:defRPr>
            </a:pPr>
            <a:r>
              <a:rPr/>
              <a:t>4. 실제로 보는 곳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9088" y="4389120"/>
            <a:ext cx="4846320" cy="9418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600" b="0">
                <a:solidFill>
                  <a:srgbClr val="122C4E"/>
                </a:solidFill>
                <a:latin typeface="Noto Sans CJK KR"/>
              </a:defRPr>
            </a:pPr>
            <a:r>
              <a:rPr/>
              <a:t>Camera raw 화면 → ros2 topic info/hz → debug Image 순서로 정상 여부를 확인합니다.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6172200"/>
            <a:ext cx="1060704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200" b="1">
                <a:solidFill>
                  <a:srgbClr val="2A8B5A"/>
                </a:solidFill>
                <a:latin typeface="Noto Sans CJK KR"/>
              </a:defRPr>
            </a:pPr>
            <a:r>
              <a:rPr/>
              <a:t>다음 코드 슬라이드에서는 위의 태그/함수를 찾아 색으로 표시하며 한 줄씩 설명합니다.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센서와 vision package를 새로 만든다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프로젝트를 처음부터 만들 때 package 생성 명령을 먼저 실행합니다.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기반 AGV End-to-End 개발 커리큘럼 · M12 · Block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workspace/package 생성    |    현재 폴더 ~/ros2_curri/my_agv_ws/src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773936"/>
            <a:ext cx="10698480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900" b="0">
                <a:solidFill>
                  <a:srgbClr val="122C4E"/>
                </a:solidFill>
                <a:latin typeface="Noto Sans CJK KR"/>
              </a:defRPr>
            </a:pPr>
            <a:r>
              <a:rPr/>
              <a:t>센서 처리와 영상 인지는 모델 파일과 분리해 Python ROS node package로 만듭니다.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6656" y="2514600"/>
            <a:ext cx="10881360" cy="2267712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l">
              <a:spcAft>
                <a:spcPts val="0"/>
              </a:spcAft>
              <a:defRPr sz="1500" b="0">
                <a:solidFill>
                  <a:srgbClr val="FFFFFF"/>
                </a:solidFill>
                <a:latin typeface="DejaVu Sans Mono"/>
              </a:defRPr>
            </a:pPr>
            <a:r>
              <a:rPr/>
              <a:t>cd ~/ros2_curri/my_agv_ws/src</a:t>
            </a:r>
          </a:p>
          <a:p>
            <a:pPr algn="l">
              <a:spcAft>
                <a:spcPts val="0"/>
              </a:spcAft>
              <a:defRPr sz="1500" b="0">
                <a:solidFill>
                  <a:srgbClr val="FFFFFF"/>
                </a:solidFill>
                <a:latin typeface="DejaVu Sans Mono"/>
              </a:defRPr>
            </a:pPr>
            <a:r>
              <a:rPr/>
              <a:t>ros2 pkg create --build-type ament_python --dependencies rclpy sensor_msgs std_msgs agv_sensors</a:t>
            </a:r>
          </a:p>
          <a:p>
            <a:pPr algn="l">
              <a:spcAft>
                <a:spcPts val="0"/>
              </a:spcAft>
              <a:defRPr sz="1500" b="0">
                <a:solidFill>
                  <a:srgbClr val="FFFFFF"/>
                </a:solidFill>
                <a:latin typeface="DejaVu Sans Mono"/>
              </a:defRPr>
            </a:pPr>
            <a:r>
              <a:rPr/>
              <a:t>ros2 pkg create --build-type ament_python --dependencies rclpy sensor_msgs std_msgs agv_vision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5166360"/>
            <a:ext cx="141732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A8B5A"/>
                </a:solidFill>
                <a:latin typeface="Noto Sans CJK KR"/>
              </a:defRPr>
            </a:pPr>
            <a:r>
              <a:rPr/>
              <a:t>확인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5468112"/>
            <a:ext cx="102870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122C4E"/>
                </a:solidFill>
                <a:latin typeface="Noto Sans CJK KR"/>
              </a:defRPr>
            </a:pPr>
            <a:r>
              <a:rPr/>
              <a:t>각 package 이름의 새 폴더와 package.xml이 src 아래에 보이면 다음 파일 작성 단계로 갑니다.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1/7: 폴더를 만들고 빈 파일을 연다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파일을 먼저 만든 뒤, 다음 슬라이드의 코드 블록을 위에서 아래로 직접 입력합니다.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기반 AGV End-to-End 개발 커리큘럼 · M12 · Block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파일 생성 1/7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19072"/>
            <a:ext cx="141732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25B9B"/>
                </a:solidFill>
                <a:latin typeface="Noto Sans CJK KR"/>
              </a:defRPr>
            </a:pPr>
            <a:r>
              <a:rPr/>
              <a:t>이번 파일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719072"/>
            <a:ext cx="923544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DejaVu Sans Mono"/>
              </a:defRPr>
            </a:pPr>
            <a:r>
              <a:rPr/>
              <a:t>~/ros2_curri/my_agv_ws/src/agv_sensors/package.xml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103120"/>
            <a:ext cx="141732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A8B5A"/>
                </a:solidFill>
                <a:latin typeface="Noto Sans CJK KR"/>
              </a:defRPr>
            </a:pPr>
            <a:r>
              <a:rPr/>
              <a:t>만드는 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2103120"/>
            <a:ext cx="923544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122C4E"/>
                </a:solidFill>
                <a:latin typeface="Noto Sans CJK KR"/>
              </a:defRPr>
            </a:pPr>
            <a:r>
              <a:rPr/>
              <a:t>ROS 2 package의 이름·의존성·빌드 도구를 선언하는 manifest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6656" y="2852928"/>
            <a:ext cx="10881360" cy="1682496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rPr/>
              <a:t>mkdir -p ~/ros2_curri/my_agv_ws/src/agv_sensors</a:t>
            </a:r>
          </a:p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rPr/>
              <a:t>nano ~/ros2_curri/my_agv_ws/src/agv_sensors/package.xml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4901184"/>
            <a:ext cx="10241280" cy="32918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DB7E22"/>
                </a:solidFill>
                <a:latin typeface="Noto Sans CJK KR"/>
              </a:defRPr>
            </a:pPr>
            <a:r>
              <a:rPr/>
              <a:t>nano 저장: Ctrl+O → Enter → Ctrl+X  |  파일이 열리면 아직 비어 있는 것이 정상입니다.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5504688"/>
            <a:ext cx="10241280" cy="32918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2A8B5A"/>
                </a:solidFill>
                <a:latin typeface="Noto Sans CJK KR"/>
              </a:defRPr>
            </a:pPr>
            <a:r>
              <a:rPr/>
              <a:t>다음 단계의 확인 화면: colcon build 오류와 ros2 pkg prefix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1/7: 코드 읽기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짧은 실제 코드 조각을 먼저 읽고, 다음 슬라이드에서 같은 코드를 직접 입력합니다.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기반 AGV End-to-End 개발 커리큘럼 · M12 · Block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코드 해설 1/7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61848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25B9B"/>
                </a:solidFill>
                <a:latin typeface="DejaVu Sans Mono"/>
              </a:defRPr>
            </a:pPr>
            <a:r>
              <a:rPr/>
              <a:t>~/ros2_curri/my_agv_ws/src/agv_sensors/package.xml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" y="193852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DB7E22"/>
                </a:solidFill>
                <a:latin typeface="Noto Sans CJK KR"/>
              </a:defRPr>
            </a:pPr>
            <a:r>
              <a:rPr/>
              <a:t>말로 먼저 답해 보세요: 이 줄은 무엇을 만들고, 실행하면 어디에서 확인할 수 있을까요?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359152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rPr/>
              <a:t>&lt;name&gt;agv_sensors&lt;/name&gt;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2359152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5239512" y="2468880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rPr/>
              <a:t>1.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96128" y="2450592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rPr/>
              <a:t>뜻: ROS 2가 이 폴더를 부를 공식 package 이름입니다.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96128" y="3108960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rPr/>
              <a:t>실행에서: build 뒤 `ros2 pkg prefix`가 이 이름으로 package를 찾습니다.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078224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rPr/>
              <a:t>&lt;buildtool_depend&gt;ament_python&lt;/buildtool_depend&gt;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0" y="4078224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5239512" y="4187952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rPr/>
              <a:t>2.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96128" y="4169663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rPr/>
              <a:t>뜻: 이 package를 어떤 빌드 도구로 처리할지 colcon에 알려 줍니다.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96128" y="4828032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rPr/>
              <a:t>실행에서: build 단계에서 ament 도구가 이 package의 규칙을 읽습니다.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6199632"/>
            <a:ext cx="10698480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5C6672"/>
                </a:solidFill>
                <a:latin typeface="Noto Sans CJK KR"/>
              </a:defRPr>
            </a:pPr>
            <a:r>
              <a:rPr/>
              <a:t>다음 코드 입력 슬라이드에서 이 줄을 발견하면, 방금 설명한 ‘뜻’과 ‘실행에서 보이는 변화’를 다시 말해 봅니다.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1/7: 코드 읽기 (2/2)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짧은 실제 코드 조각을 먼저 읽고, 다음 슬라이드에서 같은 코드를 직접 입력합니다.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기반 AGV End-to-End 개발 커리큘럼 · M12 · Block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코드 해설 1/7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61848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25B9B"/>
                </a:solidFill>
                <a:latin typeface="DejaVu Sans Mono"/>
              </a:defRPr>
            </a:pPr>
            <a:r>
              <a:rPr/>
              <a:t>~/ros2_curri/my_agv_ws/src/agv_sensors/package.xml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" y="193852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DB7E22"/>
                </a:solidFill>
                <a:latin typeface="Noto Sans CJK KR"/>
              </a:defRPr>
            </a:pPr>
            <a:r>
              <a:rPr/>
              <a:t>말로 먼저 답해 보세요: 이 줄은 무엇을 만들고, 실행하면 어디에서 확인할 수 있을까요?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359152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rPr/>
              <a:t>&lt;exec_depend&gt;rclpy&lt;/exec_depend&gt;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2359152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5239512" y="2468880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rPr/>
              <a:t>1.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96128" y="2450592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rPr/>
              <a:t>뜻: 이 코드가 빌드하거나 실행할 때 반드시 필요한 ROS package를 선언합니다.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96128" y="3108960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rPr/>
              <a:t>실행에서: dependency 이름이 틀리면 build 또는 실행에서 package를 찾지 못합니다.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6199632"/>
            <a:ext cx="10698480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5C6672"/>
                </a:solidFill>
                <a:latin typeface="Noto Sans CJK KR"/>
              </a:defRPr>
            </a:pPr>
            <a:r>
              <a:rPr/>
              <a:t>다음 코드 입력 슬라이드에서 이 줄을 발견하면, 방금 설명한 ‘뜻’과 ‘실행에서 보이는 변화’를 다시 말해 봅니다.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1/7: 코드 입력 (1/3)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~/ros2_curri/my_agv_ws/src/agv_sensors/package.xml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기반 AGV End-to-End 개발 커리큘럼 · M12 · Block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파일 1/7 · 입력 1/3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 블록이 하는 일: ROS 2가 이 package의 빌드 도구와 의존성을 알 수 있도록 manifest 항목을 입력합니다.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rPr/>
              <a:t>현재 열린 파일: ~/ros2_curri/my_agv_ws/src/agv_sensors/package.xml</a:t>
            </a:r>
            <a:r>
              <a:rPr/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73152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&lt;?xml version="1.0" ?&gt;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&lt;package format="3"&gt;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&lt;name&gt;agv_sensors&lt;/name&gt;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&lt;version&gt;0.1.0&lt;/version&gt;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&lt;description&gt;LaserScan and IMU processing nodes.&lt;/description&gt;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&lt;maintainer email="student@example.com"&gt;AGV student&lt;/maintainer&gt;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&lt;license&gt;Apache-2.0&lt;/license&gt;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&lt;buildtool_depend&gt;ament_python&lt;/buildtool_depend&gt;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입력 1/3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1/7: 코드 입력 (2/3)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~/ros2_curri/my_agv_ws/src/agv_sensors/package.xml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기반 AGV End-to-End 개발 커리큘럼 · M12 · Block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파일 1/7 · 입력 2/3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 블록이 하는 일: ROS 2가 이 package의 빌드 도구와 의존성을 알 수 있도록 manifest 항목을 입력합니다.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rPr/>
              <a:t>현재 열린 파일: ~/ros2_curri/my_agv_ws/src/agv_sensors/package.xml</a:t>
            </a:r>
            <a:r>
              <a:rPr/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73152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&lt;exec_depend&gt;rclpy&lt;/exec_depend&gt;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&lt;exec_depend&gt;sensor_msgs&lt;/exec_depend&gt;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&lt;exec_depend&gt;std_msgs&lt;/exec_depend&gt;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&lt;exec_depend&gt;geometry_msgs&lt;/exec_depend&gt;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&lt;exec_depend&gt;nav_msgs&lt;/exec_depend&gt;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&lt;export&gt;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&lt;build_type&gt;ament_python&lt;/build_type&gt;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&lt;/export&gt;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입력 2/3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1/7: 코드 입력 (3/3)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~/ros2_curri/my_agv_ws/src/agv_sensors/package.xml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기반 AGV End-to-End 개발 커리큘럼 · M12 · Block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파일 1/7 · 입력 3/3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 블록이 하는 일: ROS 2가 이 package의 빌드 도구와 의존성을 알 수 있도록 manifest 항목을 입력합니다.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rPr/>
              <a:t>현재 열린 파일: ~/ros2_curri/my_agv_ws/src/agv_sensors/package.xml</a:t>
            </a:r>
            <a:r>
              <a:rPr/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73152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&lt;/package&gt;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입력 3/3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2/7: 폴더를 만들고 빈 파일을 연다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파일을 먼저 만든 뒤, 다음 슬라이드의 코드 블록을 위에서 아래로 직접 입력합니다.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기반 AGV End-to-End 개발 커리큘럼 · M12 · Block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파일 생성 2/7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19072"/>
            <a:ext cx="141732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25B9B"/>
                </a:solidFill>
                <a:latin typeface="Noto Sans CJK KR"/>
              </a:defRPr>
            </a:pPr>
            <a:r>
              <a:rPr/>
              <a:t>이번 파일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719072"/>
            <a:ext cx="923544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DejaVu Sans Mono"/>
              </a:defRPr>
            </a:pPr>
            <a:r>
              <a:rPr/>
              <a:t>~/ros2_curri/my_agv_ws/src/agv_sensors/setup.py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103120"/>
            <a:ext cx="141732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A8B5A"/>
                </a:solidFill>
                <a:latin typeface="Noto Sans CJK KR"/>
              </a:defRPr>
            </a:pPr>
            <a:r>
              <a:rPr/>
              <a:t>만드는 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2103120"/>
            <a:ext cx="923544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122C4E"/>
                </a:solidFill>
                <a:latin typeface="Noto Sans CJK KR"/>
              </a:defRPr>
            </a:pPr>
            <a:r>
              <a:rPr/>
              <a:t>Python package 파일과 ros2 run 실행 이름을 install하는 설정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6656" y="2852928"/>
            <a:ext cx="10881360" cy="1682496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rPr/>
              <a:t>mkdir -p ~/ros2_curri/my_agv_ws/src/agv_sensors</a:t>
            </a:r>
          </a:p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rPr/>
              <a:t>nano ~/ros2_curri/my_agv_ws/src/agv_sensors/setup.py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4901184"/>
            <a:ext cx="10241280" cy="32918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DB7E22"/>
                </a:solidFill>
                <a:latin typeface="Noto Sans CJK KR"/>
              </a:defRPr>
            </a:pPr>
            <a:r>
              <a:rPr/>
              <a:t>nano 저장: Ctrl+O → Enter → Ctrl+X  |  파일이 열리면 아직 비어 있는 것이 정상입니다.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5504688"/>
            <a:ext cx="10241280" cy="32918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2A8B5A"/>
                </a:solidFill>
                <a:latin typeface="Noto Sans CJK KR"/>
              </a:defRPr>
            </a:pPr>
            <a:r>
              <a:rPr/>
              <a:t>다음 단계의 확인 화면: ros2 pkg executables와 ros2 run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2/7: 코드 읽기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짧은 실제 코드 조각을 먼저 읽고, 다음 슬라이드에서 같은 코드를 직접 입력합니다.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기반 AGV End-to-End 개발 커리큘럼 · M12 · Block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코드 해설 2/7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61848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25B9B"/>
                </a:solidFill>
                <a:latin typeface="DejaVu Sans Mono"/>
              </a:defRPr>
            </a:pPr>
            <a:r>
              <a:rPr/>
              <a:t>~/ros2_curri/my_agv_ws/src/agv_sensors/setup.py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" y="193852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DB7E22"/>
                </a:solidFill>
                <a:latin typeface="Noto Sans CJK KR"/>
              </a:defRPr>
            </a:pPr>
            <a:r>
              <a:rPr/>
              <a:t>말로 먼저 답해 보세요: 이 줄은 무엇을 만들고, 실행하면 어디에서 확인할 수 있을까요?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359152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rPr/>
              <a:t>from setuptools import find_packages, setup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2359152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5239512" y="2468880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rPr/>
              <a:t>1.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96128" y="2450592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rPr/>
              <a:t>뜻: 다른 파일에 이미 있는 도구를 이 파일에서 쓰겠다고 가져옵니다.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96128" y="3108960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rPr/>
              <a:t>실행에서: 이 import가 빠지면 실행 전에 이름을 찾지 못했다는 오류가 납니다.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078224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rPr/>
              <a:t>setup(name=package_name, version='0.1.0',</a:t>
            </a:r>
            <a:r>
              <a:rPr/>
              <a:t>packages=find_packages(exclude=['test']),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0" y="4078224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5239512" y="4187952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rPr/>
              <a:t>2.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96128" y="4169663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rPr/>
              <a:t>뜻: Python package를 설치하기 위한 설정 묶음을 시작합니다.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96128" y="4828032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rPr/>
              <a:t>실행에서: colcon build가 이 파일을 읽어 Python package를 install합니다.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6199632"/>
            <a:ext cx="10698480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5C6672"/>
                </a:solidFill>
                <a:latin typeface="Noto Sans CJK KR"/>
              </a:defRPr>
            </a:pPr>
            <a:r>
              <a:rPr/>
              <a:t>다음 코드 입력 슬라이드에서 이 줄을 발견하면, 방금 설명한 ‘뜻’과 ‘실행에서 보이는 변화’를 다시 말해 봅니다.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2/7: 코드 읽기 (2/2)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짧은 실제 코드 조각을 먼저 읽고, 다음 슬라이드에서 같은 코드를 직접 입력합니다.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기반 AGV End-to-End 개발 커리큘럼 · M12 · Block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코드 해설 2/7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61848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25B9B"/>
                </a:solidFill>
                <a:latin typeface="DejaVu Sans Mono"/>
              </a:defRPr>
            </a:pPr>
            <a:r>
              <a:rPr/>
              <a:t>~/ros2_curri/my_agv_ws/src/agv_sensors/setup.py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" y="193852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DB7E22"/>
                </a:solidFill>
                <a:latin typeface="Noto Sans CJK KR"/>
              </a:defRPr>
            </a:pPr>
            <a:r>
              <a:rPr/>
              <a:t>말로 먼저 답해 보세요: 이 줄은 무엇을 만들고, 실행하면 어디에서 확인할 수 있을까요?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359152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rPr/>
              <a:t>data_files=[('share/ament_index/resource_index/packages',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2359152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5239512" y="2468880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rPr/>
              <a:t>1.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96128" y="2450592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rPr/>
              <a:t>뜻: launch·config 같은 코드 밖의 파일도 install하도록 지정합니다.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96128" y="3108960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rPr/>
              <a:t>실행에서: `ros2 launch`가 package share 경로에서 설정 파일을 찾습니다.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078224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rPr/>
              <a:t>entry_points={'console_scripts': ['lidar_processor =</a:t>
            </a:r>
            <a:r>
              <a:rPr/>
              <a:t>agv_sensors.lidar_processor:main',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0" y="4078224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5239512" y="4187952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rPr/>
              <a:t>2.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96128" y="4169663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rPr/>
              <a:t>뜻: 긴 Python 파일 경로 대신 `ros2 run package 실행이름`을 등록합니다.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96128" y="4828032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rPr/>
              <a:t>실행에서: build·source 뒤 `ros2 pkg executables`로 실행 이름을 확인합니다.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6199632"/>
            <a:ext cx="10698480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5C6672"/>
                </a:solidFill>
                <a:latin typeface="Noto Sans CJK KR"/>
              </a:defRPr>
            </a:pPr>
            <a:r>
              <a:rPr/>
              <a:t>다음 코드 입력 슬라이드에서 이 줄을 발견하면, 방금 설명한 ‘뜻’과 ‘실행에서 보이는 변화’를 다시 말해 봅니다.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2/7: 코드 입력 (1/1)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~/ros2_curri/my_agv_ws/src/agv_sensors/setup.py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기반 AGV End-to-End 개발 커리큘럼 · M12 · Block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파일 2/7 · 입력 1/1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 블록이 하는 일: Python package가 source와 launch/config를 install하고 ros2 run 실행 이름을 등록하도록 설정합니다.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rPr/>
              <a:t>현재 열린 파일: ~/ros2_curri/my_agv_ws/src/agv_sensors/setup.py</a:t>
            </a:r>
            <a:r>
              <a:rPr/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73152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from setuptools import find_packages, setup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package_name = 'agv_sensors'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setup(name=package_name, version='0.1.0', packages=find_packages(exclude=['test']),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data_files=[('share/ament_index/resource_index/packages',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['resource/' + package_name]), ('share/' + package_name, ['package.xml'])],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install_requires=['setuptools'], zip_safe=True, maintainer='AGV student',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maintainer_email='student@example.com', license='Apache-2.0',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entry_points={'console_scripts': ['lidar_processor = agv_sensors.lidar_processor:main',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'imu_monitor = agv_sensors.imu_monitor:main',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'odom_path = agv_sensors.odom_path:main']})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입력 1/1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3/7: 폴더를 만들고 빈 파일을 연다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파일을 먼저 만든 뒤, 다음 슬라이드의 코드 블록을 위에서 아래로 직접 입력합니다.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기반 AGV End-to-End 개발 커리큘럼 · M12 · Block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파일 생성 3/7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19072"/>
            <a:ext cx="141732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25B9B"/>
                </a:solidFill>
                <a:latin typeface="Noto Sans CJK KR"/>
              </a:defRPr>
            </a:pPr>
            <a:r>
              <a:rPr/>
              <a:t>이번 파일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719072"/>
            <a:ext cx="923544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DejaVu Sans Mono"/>
              </a:defRPr>
            </a:pPr>
            <a:r>
              <a:rPr/>
              <a:t>~/ros2_curri/my_agv_ws/src/agv_vision/package.xml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103120"/>
            <a:ext cx="141732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A8B5A"/>
                </a:solidFill>
                <a:latin typeface="Noto Sans CJK KR"/>
              </a:defRPr>
            </a:pPr>
            <a:r>
              <a:rPr/>
              <a:t>만드는 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2103120"/>
            <a:ext cx="923544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122C4E"/>
                </a:solidFill>
                <a:latin typeface="Noto Sans CJK KR"/>
              </a:defRPr>
            </a:pPr>
            <a:r>
              <a:rPr/>
              <a:t>ROS 2 package의 이름·의존성·빌드 도구를 선언하는 manifest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6656" y="2852928"/>
            <a:ext cx="10881360" cy="1682496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rPr/>
              <a:t>mkdir -p ~/ros2_curri/my_agv_ws/src/agv_vision</a:t>
            </a:r>
          </a:p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rPr/>
              <a:t>nano ~/ros2_curri/my_agv_ws/src/agv_vision/package.xml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4901184"/>
            <a:ext cx="10241280" cy="32918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DB7E22"/>
                </a:solidFill>
                <a:latin typeface="Noto Sans CJK KR"/>
              </a:defRPr>
            </a:pPr>
            <a:r>
              <a:rPr/>
              <a:t>nano 저장: Ctrl+O → Enter → Ctrl+X  |  파일이 열리면 아직 비어 있는 것이 정상입니다.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5504688"/>
            <a:ext cx="10241280" cy="32918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2A8B5A"/>
                </a:solidFill>
                <a:latin typeface="Noto Sans CJK KR"/>
              </a:defRPr>
            </a:pPr>
            <a:r>
              <a:rPr/>
              <a:t>다음 단계의 확인 화면: colcon build 오류와 ros2 pkg prefix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3/7: 코드 읽기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짧은 실제 코드 조각을 먼저 읽고, 다음 슬라이드에서 같은 코드를 직접 입력합니다.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기반 AGV End-to-End 개발 커리큘럼 · M12 · Block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코드 해설 3/7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61848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25B9B"/>
                </a:solidFill>
                <a:latin typeface="DejaVu Sans Mono"/>
              </a:defRPr>
            </a:pPr>
            <a:r>
              <a:rPr/>
              <a:t>~/ros2_curri/my_agv_ws/src/agv_vision/package.xml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" y="193852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DB7E22"/>
                </a:solidFill>
                <a:latin typeface="Noto Sans CJK KR"/>
              </a:defRPr>
            </a:pPr>
            <a:r>
              <a:rPr/>
              <a:t>말로 먼저 답해 보세요: 이 줄은 무엇을 만들고, 실행하면 어디에서 확인할 수 있을까요?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359152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rPr/>
              <a:t>&lt;name&gt;agv_vision&lt;/name&gt;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2359152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5239512" y="2468880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rPr/>
              <a:t>1.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96128" y="2450592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rPr/>
              <a:t>뜻: ROS 2가 이 폴더를 부를 공식 package 이름입니다.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96128" y="3108960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rPr/>
              <a:t>실행에서: build 뒤 `ros2 pkg prefix`가 이 이름으로 package를 찾습니다.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078224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rPr/>
              <a:t>&lt;buildtool_depend&gt;ament_python&lt;/buildtool_depend&gt;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0" y="4078224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5239512" y="4187952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rPr/>
              <a:t>2.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96128" y="4169663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rPr/>
              <a:t>뜻: 이 package를 어떤 빌드 도구로 처리할지 colcon에 알려 줍니다.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96128" y="4828032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rPr/>
              <a:t>실행에서: build 단계에서 ament 도구가 이 package의 규칙을 읽습니다.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6199632"/>
            <a:ext cx="10698480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5C6672"/>
                </a:solidFill>
                <a:latin typeface="Noto Sans CJK KR"/>
              </a:defRPr>
            </a:pPr>
            <a:r>
              <a:rPr/>
              <a:t>다음 코드 입력 슬라이드에서 이 줄을 발견하면, 방금 설명한 ‘뜻’과 ‘실행에서 보이는 변화’를 다시 말해 봅니다.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3/7: 코드 읽기 (2/2)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짧은 실제 코드 조각을 먼저 읽고, 다음 슬라이드에서 같은 코드를 직접 입력합니다.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기반 AGV End-to-End 개발 커리큘럼 · M12 · Block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코드 해설 3/7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61848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25B9B"/>
                </a:solidFill>
                <a:latin typeface="DejaVu Sans Mono"/>
              </a:defRPr>
            </a:pPr>
            <a:r>
              <a:rPr/>
              <a:t>~/ros2_curri/my_agv_ws/src/agv_vision/package.xml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" y="193852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DB7E22"/>
                </a:solidFill>
                <a:latin typeface="Noto Sans CJK KR"/>
              </a:defRPr>
            </a:pPr>
            <a:r>
              <a:rPr/>
              <a:t>말로 먼저 답해 보세요: 이 줄은 무엇을 만들고, 실행하면 어디에서 확인할 수 있을까요?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359152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rPr/>
              <a:t>&lt;exec_depend&gt;rclpy&lt;/exec_depend&gt;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2359152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5239512" y="2468880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rPr/>
              <a:t>1.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96128" y="2450592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rPr/>
              <a:t>뜻: 이 코드가 빌드하거나 실행할 때 반드시 필요한 ROS package를 선언합니다.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96128" y="3108960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rPr/>
              <a:t>실행에서: dependency 이름이 틀리면 build 또는 실행에서 package를 찾지 못합니다.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6199632"/>
            <a:ext cx="10698480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5C6672"/>
                </a:solidFill>
                <a:latin typeface="Noto Sans CJK KR"/>
              </a:defRPr>
            </a:pPr>
            <a:r>
              <a:rPr/>
              <a:t>다음 코드 입력 슬라이드에서 이 줄을 발견하면, 방금 설명한 ‘뜻’과 ‘실행에서 보이는 변화’를 다시 말해 봅니다.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3/7: 코드 입력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~/ros2_curri/my_agv_ws/src/agv_vision/package.xml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기반 AGV End-to-End 개발 커리큘럼 · M12 · Block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파일 3/7 · 입력 1/2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 블록이 하는 일: ROS 2가 이 package의 빌드 도구와 의존성을 알 수 있도록 manifest 항목을 입력합니다.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rPr/>
              <a:t>현재 열린 파일: ~/ros2_curri/my_agv_ws/src/agv_vision/package.xml</a:t>
            </a:r>
            <a:r>
              <a:rPr/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73152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&lt;?xml version="1.0" ?&gt;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&lt;package format="3"&gt;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&lt;name&gt;agv_vision&lt;/name&gt;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&lt;version&gt;0.1.0&lt;/version&gt;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&lt;description&gt;Camera and optional YOLO perception node.&lt;/description&gt;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&lt;maintainer email="student@example.com"&gt;AGV student&lt;/maintainer&gt;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&lt;license&gt;Apache-2.0&lt;/license&gt;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&lt;buildtool_depend&gt;ament_python&lt;/buildtool_depend&gt;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입력 1/2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3/7: 코드 입력 (2/2)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~/ros2_curri/my_agv_ws/src/agv_vision/package.xml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기반 AGV End-to-End 개발 커리큘럼 · M12 · Block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파일 3/7 · 입력 2/2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 블록이 하는 일: ROS 2가 이 package의 빌드 도구와 의존성을 알 수 있도록 manifest 항목을 입력합니다.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rPr/>
              <a:t>현재 열린 파일: ~/ros2_curri/my_agv_ws/src/agv_vision/package.xml</a:t>
            </a:r>
            <a:r>
              <a:rPr/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73152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&lt;exec_depend&gt;rclpy&lt;/exec_depend&gt;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&lt;exec_depend&gt;sensor_msgs&lt;/exec_depend&gt;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&lt;exec_depend&gt;cv_bridge&lt;/exec_depend&gt;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&lt;exec_depend&gt;agv_interfaces&lt;/exec_depend&gt;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&lt;export&gt;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&lt;build_type&gt;ament_python&lt;/build_type&gt;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&lt;/export&gt;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&lt;/package&gt;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입력 2/2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4/7: 폴더를 만들고 빈 파일을 연다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파일을 먼저 만든 뒤, 다음 슬라이드의 코드 블록을 위에서 아래로 직접 입력합니다.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기반 AGV End-to-End 개발 커리큘럼 · M12 · Block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파일 생성 4/7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19072"/>
            <a:ext cx="141732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25B9B"/>
                </a:solidFill>
                <a:latin typeface="Noto Sans CJK KR"/>
              </a:defRPr>
            </a:pPr>
            <a:r>
              <a:rPr/>
              <a:t>이번 파일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719072"/>
            <a:ext cx="923544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DejaVu Sans Mono"/>
              </a:defRPr>
            </a:pPr>
            <a:r>
              <a:rPr/>
              <a:t>~/ros2_curri/my_agv_ws/src/agv_vision/setup.py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103120"/>
            <a:ext cx="141732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A8B5A"/>
                </a:solidFill>
                <a:latin typeface="Noto Sans CJK KR"/>
              </a:defRPr>
            </a:pPr>
            <a:r>
              <a:rPr/>
              <a:t>만드는 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2103120"/>
            <a:ext cx="923544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122C4E"/>
                </a:solidFill>
                <a:latin typeface="Noto Sans CJK KR"/>
              </a:defRPr>
            </a:pPr>
            <a:r>
              <a:rPr/>
              <a:t>Python package 파일과 ros2 run 실행 이름을 install하는 설정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6656" y="2852928"/>
            <a:ext cx="10881360" cy="1682496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rPr/>
              <a:t>mkdir -p ~/ros2_curri/my_agv_ws/src/agv_vision</a:t>
            </a:r>
          </a:p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rPr/>
              <a:t>nano ~/ros2_curri/my_agv_ws/src/agv_vision/setup.py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4901184"/>
            <a:ext cx="10241280" cy="32918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DB7E22"/>
                </a:solidFill>
                <a:latin typeface="Noto Sans CJK KR"/>
              </a:defRPr>
            </a:pPr>
            <a:r>
              <a:rPr/>
              <a:t>nano 저장: Ctrl+O → Enter → Ctrl+X  |  파일이 열리면 아직 비어 있는 것이 정상입니다.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5504688"/>
            <a:ext cx="10241280" cy="32918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2A8B5A"/>
                </a:solidFill>
                <a:latin typeface="Noto Sans CJK KR"/>
              </a:defRPr>
            </a:pPr>
            <a:r>
              <a:rPr/>
              <a:t>다음 단계의 확인 화면: ros2 pkg executables와 ros2 run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4/7: 코드 읽기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짧은 실제 코드 조각을 먼저 읽고, 다음 슬라이드에서 같은 코드를 직접 입력합니다.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기반 AGV End-to-End 개발 커리큘럼 · M12 · Block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코드 해설 4/7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61848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25B9B"/>
                </a:solidFill>
                <a:latin typeface="DejaVu Sans Mono"/>
              </a:defRPr>
            </a:pPr>
            <a:r>
              <a:rPr/>
              <a:t>~/ros2_curri/my_agv_ws/src/agv_vision/setup.py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" y="193852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DB7E22"/>
                </a:solidFill>
                <a:latin typeface="Noto Sans CJK KR"/>
              </a:defRPr>
            </a:pPr>
            <a:r>
              <a:rPr/>
              <a:t>말로 먼저 답해 보세요: 이 줄은 무엇을 만들고, 실행하면 어디에서 확인할 수 있을까요?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359152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rPr/>
              <a:t>from setuptools import find_packages, setup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2359152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5239512" y="2468880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rPr/>
              <a:t>1.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96128" y="2450592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rPr/>
              <a:t>뜻: 다른 파일에 이미 있는 도구를 이 파일에서 쓰겠다고 가져옵니다.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96128" y="3108960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rPr/>
              <a:t>실행에서: 이 import가 빠지면 실행 전에 이름을 찾지 못했다는 오류가 납니다.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078224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rPr/>
              <a:t>setup(name=package_name, version='0.1.0',</a:t>
            </a:r>
            <a:r>
              <a:rPr/>
              <a:t>packages=find_packages(exclude=['test']),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0" y="4078224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5239512" y="4187952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rPr/>
              <a:t>2.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96128" y="4169663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rPr/>
              <a:t>뜻: Python package를 설치하기 위한 설정 묶음을 시작합니다.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96128" y="4828032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rPr/>
              <a:t>실행에서: colcon build가 이 파일을 읽어 Python package를 install합니다.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6199632"/>
            <a:ext cx="10698480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5C6672"/>
                </a:solidFill>
                <a:latin typeface="Noto Sans CJK KR"/>
              </a:defRPr>
            </a:pPr>
            <a:r>
              <a:rPr/>
              <a:t>다음 코드 입력 슬라이드에서 이 줄을 발견하면, 방금 설명한 ‘뜻’과 ‘실행에서 보이는 변화’를 다시 말해 봅니다.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4/7: 코드 읽기 (2/2)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짧은 실제 코드 조각을 먼저 읽고, 다음 슬라이드에서 같은 코드를 직접 입력합니다.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기반 AGV End-to-End 개발 커리큘럼 · M12 · Block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코드 해설 4/7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61848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25B9B"/>
                </a:solidFill>
                <a:latin typeface="DejaVu Sans Mono"/>
              </a:defRPr>
            </a:pPr>
            <a:r>
              <a:rPr/>
              <a:t>~/ros2_curri/my_agv_ws/src/agv_vision/setup.py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" y="193852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DB7E22"/>
                </a:solidFill>
                <a:latin typeface="Noto Sans CJK KR"/>
              </a:defRPr>
            </a:pPr>
            <a:r>
              <a:rPr/>
              <a:t>말로 먼저 답해 보세요: 이 줄은 무엇을 만들고, 실행하면 어디에서 확인할 수 있을까요?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359152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rPr/>
              <a:t>data_files=[('share/ament_index/resource_index/packages',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2359152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5239512" y="2468880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rPr/>
              <a:t>1.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96128" y="2450592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rPr/>
              <a:t>뜻: launch·config 같은 코드 밖의 파일도 install하도록 지정합니다.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96128" y="3108960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rPr/>
              <a:t>실행에서: `ros2 launch`가 package share 경로에서 설정 파일을 찾습니다.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078224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rPr/>
              <a:t>entry_points={'console_scripts': ['yolo_node =</a:t>
            </a:r>
            <a:r>
              <a:rPr/>
              <a:t>agv_vision.yolo_node:main']})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0" y="4078224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5239512" y="4187952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rPr/>
              <a:t>2.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96128" y="4169663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rPr/>
              <a:t>뜻: 긴 Python 파일 경로 대신 `ros2 run package 실행이름`을 등록합니다.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96128" y="4828032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rPr/>
              <a:t>실행에서: build·source 뒤 `ros2 pkg executables`로 실행 이름을 확인합니다.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6199632"/>
            <a:ext cx="10698480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5C6672"/>
                </a:solidFill>
                <a:latin typeface="Noto Sans CJK KR"/>
              </a:defRPr>
            </a:pPr>
            <a:r>
              <a:rPr/>
              <a:t>다음 코드 입력 슬라이드에서 이 줄을 발견하면, 방금 설명한 ‘뜻’과 ‘실행에서 보이는 변화’를 다시 말해 봅니다.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4/7: 코드 입력 (1/1)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~/ros2_curri/my_agv_ws/src/agv_vision/setup.py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기반 AGV End-to-End 개발 커리큘럼 · M12 · Block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파일 4/7 · 입력 1/1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 블록이 하는 일: Python package가 source와 launch/config를 install하고 ros2 run 실행 이름을 등록하도록 설정합니다.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rPr/>
              <a:t>현재 열린 파일: ~/ros2_curri/my_agv_ws/src/agv_vision/setup.py</a:t>
            </a:r>
            <a:r>
              <a:rPr/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73152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from setuptools import find_packages, setup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package_name = 'agv_vision'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setup(name=package_name, version='0.1.0', packages=find_packages(exclude=['test']),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data_files=[('share/ament_index/resource_index/packages',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['resource/' + package_name]), ('share/' + package_name, ['package.xml'])],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install_requires=['setuptools'], zip_safe=True, maintainer='AGV student',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maintainer_email='student@example.com', license='Apache-2.0',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entry_points={'console_scripts': ['yolo_node = agv_vision.yolo_node:main']})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입력 1/1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5/7: 폴더를 만들고 빈 파일을 연다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파일을 먼저 만든 뒤, 다음 슬라이드의 코드 블록을 위에서 아래로 직접 입력합니다.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기반 AGV End-to-End 개발 커리큘럼 · M12 · Block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파일 생성 5/7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19072"/>
            <a:ext cx="141732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25B9B"/>
                </a:solidFill>
                <a:latin typeface="Noto Sans CJK KR"/>
              </a:defRPr>
            </a:pPr>
            <a:r>
              <a:rPr/>
              <a:t>이번 파일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719072"/>
            <a:ext cx="923544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DejaVu Sans Mono"/>
              </a:defRPr>
            </a:pPr>
            <a:r>
              <a:rPr/>
              <a:t>~/ros2_curri/my_agv_ws/src/agv_gazebo/models/agv/model.sdf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103120"/>
            <a:ext cx="141732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A8B5A"/>
                </a:solidFill>
                <a:latin typeface="Noto Sans CJK KR"/>
              </a:defRPr>
            </a:pPr>
            <a:r>
              <a:rPr/>
              <a:t>만드는 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2103120"/>
            <a:ext cx="923544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122C4E"/>
                </a:solidFill>
                <a:latin typeface="Noto Sans CJK KR"/>
              </a:defRPr>
            </a:pPr>
            <a:r>
              <a:rPr/>
              <a:t>구동·카메라·LiDAR·IMU를 포함해 Gazebo가 시뮬레이션할 완성 AGV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6656" y="2852928"/>
            <a:ext cx="10881360" cy="1682496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rPr/>
              <a:t>mkdir -p ~/ros2_curri/my_agv_ws/src/agv_gazebo/models/agv</a:t>
            </a:r>
          </a:p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rPr/>
              <a:t>nano ~/ros2_curri/my_agv_ws/src/agv_gazebo/models/agv/model.sdf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4901184"/>
            <a:ext cx="10241280" cy="32918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DB7E22"/>
                </a:solidFill>
                <a:latin typeface="Noto Sans CJK KR"/>
              </a:defRPr>
            </a:pPr>
            <a:r>
              <a:rPr/>
              <a:t>nano 저장: Ctrl+O → Enter → Ctrl+X  |  파일이 열리면 아직 비어 있는 것이 정상입니다.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5504688"/>
            <a:ext cx="10241280" cy="32918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2A8B5A"/>
                </a:solidFill>
                <a:latin typeface="Noto Sans CJK KR"/>
              </a:defRPr>
            </a:pPr>
            <a:r>
              <a:rPr/>
              <a:t>다음 단계의 확인 화면: Gazebo의 AGV, /camera/image_raw, /scan, /imu/data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5/7: 코드 읽기 (1/5)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짧은 실제 코드 조각을 먼저 읽고, 다음 슬라이드에서 같은 코드를 직접 입력합니다.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기반 AGV End-to-End 개발 커리큘럼 · M12 · Block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코드 해설 5/7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61848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25B9B"/>
                </a:solidFill>
                <a:latin typeface="DejaVu Sans Mono"/>
              </a:defRPr>
            </a:pPr>
            <a:r>
              <a:rPr/>
              <a:t>~/ros2_curri/my_agv_ws/src/agv_gazebo/models/agv/model.sdf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" y="193852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DB7E22"/>
                </a:solidFill>
                <a:latin typeface="Noto Sans CJK KR"/>
              </a:defRPr>
            </a:pPr>
            <a:r>
              <a:rPr/>
              <a:t>말로 먼저 답해 보세요: 이 줄은 무엇을 만들고, 실행하면 어디에서 확인할 수 있을까요?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359152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rPr/>
              <a:t>&lt;model name="agv"&gt;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2359152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5239512" y="2468880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rPr/>
              <a:t>1.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96128" y="2450592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rPr/>
              <a:t>뜻: 로봇 model 또는 Gazebo world의 가장 바깥 이름과 범위를 선언합니다.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96128" y="3108960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rPr/>
              <a:t>실행에서: 문법 검사와 Gazebo/RViz가 이 구조부터 읽기 시작합니다.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078224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rPr/>
              <a:t>&lt;link name="base_link"&gt;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0" y="4078224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5239512" y="4187952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rPr/>
              <a:t>2.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96128" y="4169663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rPr/>
              <a:t>뜻: 로봇의 몸체·바퀴처럼 실제로 존재하는 하나의 부품을 선언합니다.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96128" y="4828032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rPr/>
              <a:t>실행에서: RViz/Gazebo에서 이 부품이 별도 frame/물체로 보입니다.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6199632"/>
            <a:ext cx="10698480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5C6672"/>
                </a:solidFill>
                <a:latin typeface="Noto Sans CJK KR"/>
              </a:defRPr>
            </a:pPr>
            <a:r>
              <a:rPr/>
              <a:t>다음 코드 입력 슬라이드에서 이 줄을 발견하면, 방금 설명한 ‘뜻’과 ‘실행에서 보이는 변화’를 다시 말해 봅니다.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5/7: 코드 읽기 (2/5)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짧은 실제 코드 조각을 먼저 읽고, 다음 슬라이드에서 같은 코드를 직접 입력합니다.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기반 AGV End-to-End 개발 커리큘럼 · M12 · Block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코드 해설 5/7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61848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25B9B"/>
                </a:solidFill>
                <a:latin typeface="DejaVu Sans Mono"/>
              </a:defRPr>
            </a:pPr>
            <a:r>
              <a:rPr/>
              <a:t>~/ros2_curri/my_agv_ws/src/agv_gazebo/models/agv/model.sdf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" y="193852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DB7E22"/>
                </a:solidFill>
                <a:latin typeface="Noto Sans CJK KR"/>
              </a:defRPr>
            </a:pPr>
            <a:r>
              <a:rPr/>
              <a:t>말로 먼저 답해 보세요: 이 줄은 무엇을 만들고, 실행하면 어디에서 확인할 수 있을까요?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359152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rPr/>
              <a:t>&lt;inertial&gt;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2359152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5239512" y="2468880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rPr/>
              <a:t>1.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96128" y="2450592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rPr/>
              <a:t>뜻: 질량과 관성처럼 움직임에 직접 영향을 주는 물리값입니다.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96128" y="3108960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rPr/>
              <a:t>실행에서: Gazebo에서 가속·회전·접촉 반응이 달라집니다.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078224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rPr/>
              <a:t>&lt;visual name="body"&gt;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0" y="4078224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5239512" y="4187952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rPr/>
              <a:t>2.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96128" y="4169663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rPr/>
              <a:t>뜻: 사람이 화면에서 보는 모양·색·mesh를 설정합니다.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96128" y="4828032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rPr/>
              <a:t>실행에서: Gazebo/RViz 화면에서 해당 부품의 외형이 바뀝니다.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6199632"/>
            <a:ext cx="10698480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5C6672"/>
                </a:solidFill>
                <a:latin typeface="Noto Sans CJK KR"/>
              </a:defRPr>
            </a:pPr>
            <a:r>
              <a:rPr/>
              <a:t>다음 코드 입력 슬라이드에서 이 줄을 발견하면, 방금 설명한 ‘뜻’과 ‘실행에서 보이는 변화’를 다시 말해 봅니다.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5/7: 코드 읽기 (3/5)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짧은 실제 코드 조각을 먼저 읽고, 다음 슬라이드에서 같은 코드를 직접 입력합니다.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기반 AGV End-to-End 개발 커리큘럼 · M12 · Block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코드 해설 5/7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61848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25B9B"/>
                </a:solidFill>
                <a:latin typeface="DejaVu Sans Mono"/>
              </a:defRPr>
            </a:pPr>
            <a:r>
              <a:rPr/>
              <a:t>~/ros2_curri/my_agv_ws/src/agv_gazebo/models/agv/model.sdf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" y="193852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DB7E22"/>
                </a:solidFill>
                <a:latin typeface="Noto Sans CJK KR"/>
              </a:defRPr>
            </a:pPr>
            <a:r>
              <a:rPr/>
              <a:t>말로 먼저 답해 보세요: 이 줄은 무엇을 만들고, 실행하면 어디에서 확인할 수 있을까요?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359152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rPr/>
              <a:t>&lt;collision name="body_collision"&gt;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2359152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5239512" y="2468880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rPr/>
              <a:t>1.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96128" y="2450592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rPr/>
              <a:t>뜻: 물리 엔진이 부딪힘을 계산할 모양을 설정합니다.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96128" y="3108960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rPr/>
              <a:t>실행에서: 주행 중 장애물·바닥과의 접촉 결과가 이 구조를 따릅니다.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078224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rPr/>
              <a:t>&lt;sensor name="imu" type="imu"&gt;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0" y="4078224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5239512" y="4187952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rPr/>
              <a:t>2.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96128" y="4169663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rPr/>
              <a:t>뜻: Gazebo model에 camera·LiDAR·IMU처럼 데이터를 만드는 sensor를 붙입니다.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96128" y="4828032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rPr/>
              <a:t>실행에서: 시뮬레이터가 해당 sensor topic의 원본 데이터를 생성합니다.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6199632"/>
            <a:ext cx="10698480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5C6672"/>
                </a:solidFill>
                <a:latin typeface="Noto Sans CJK KR"/>
              </a:defRPr>
            </a:pPr>
            <a:r>
              <a:rPr/>
              <a:t>다음 코드 입력 슬라이드에서 이 줄을 발견하면, 방금 설명한 ‘뜻’과 ‘실행에서 보이는 변화’를 다시 말해 봅니다.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5/7: 코드 읽기 (4/5)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짧은 실제 코드 조각을 먼저 읽고, 다음 슬라이드에서 같은 코드를 직접 입력합니다.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기반 AGV End-to-End 개발 커리큘럼 · M12 · Block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코드 해설 5/7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61848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25B9B"/>
                </a:solidFill>
                <a:latin typeface="DejaVu Sans Mono"/>
              </a:defRPr>
            </a:pPr>
            <a:r>
              <a:rPr/>
              <a:t>~/ros2_curri/my_agv_ws/src/agv_gazebo/models/agv/model.sdf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" y="193852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DB7E22"/>
                </a:solidFill>
                <a:latin typeface="Noto Sans CJK KR"/>
              </a:defRPr>
            </a:pPr>
            <a:r>
              <a:rPr/>
              <a:t>말로 먼저 답해 보세요: 이 줄은 무엇을 만들고, 실행하면 어디에서 확인할 수 있을까요?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359152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rPr/>
              <a:t>&lt;topic&gt;/imu/data&lt;/topic&gt;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2359152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5239512" y="2468880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rPr/>
              <a:t>1.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96128" y="2450592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rPr/>
              <a:t>뜻: 데이터가 오가는 채널의 정확한 이름을 지정합니다.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96128" y="3108960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rPr/>
              <a:t>실행에서: SDF·bridge·node 세 곳의 이름이 같을 때 message가 연결됩니다.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078224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rPr/>
              <a:t>&lt;update_rate&gt;100&lt;/update_rate&gt;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0" y="4078224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5239512" y="4187952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rPr/>
              <a:t>2.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96128" y="4169663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rPr/>
              <a:t>뜻: sensor의 해상도·갱신 주기 같은 관찰 가능한 값을 정합니다.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96128" y="4828032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rPr/>
              <a:t>실행에서: 실행 뒤 image 크기 또는 `ros2 topic hz`가 이 값을 검증합니다.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6199632"/>
            <a:ext cx="10698480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5C6672"/>
                </a:solidFill>
                <a:latin typeface="Noto Sans CJK KR"/>
              </a:defRPr>
            </a:pPr>
            <a:r>
              <a:rPr/>
              <a:t>다음 코드 입력 슬라이드에서 이 줄을 발견하면, 방금 설명한 ‘뜻’과 ‘실행에서 보이는 변화’를 다시 말해 봅니다.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5/7: 코드 읽기 (5/5)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짧은 실제 코드 조각을 먼저 읽고, 다음 슬라이드에서 같은 코드를 직접 입력합니다.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기반 AGV End-to-End 개발 커리큘럼 · M12 · Block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코드 해설 5/7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61848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25B9B"/>
                </a:solidFill>
                <a:latin typeface="DejaVu Sans Mono"/>
              </a:defRPr>
            </a:pPr>
            <a:r>
              <a:rPr/>
              <a:t>~/ros2_curri/my_agv_ws/src/agv_gazebo/models/agv/model.sdf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" y="193852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DB7E22"/>
                </a:solidFill>
                <a:latin typeface="Noto Sans CJK KR"/>
              </a:defRPr>
            </a:pPr>
            <a:r>
              <a:rPr/>
              <a:t>말로 먼저 답해 보세요: 이 줄은 무엇을 만들고, 실행하면 어디에서 확인할 수 있을까요?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359152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rPr/>
              <a:t>&lt;joint name="left_wheel_joint" type="revolute"&gt;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2359152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5239512" y="2468880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rPr/>
              <a:t>1.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96128" y="2450592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rPr/>
              <a:t>뜻: 두 link를 어떤 축·방식으로 연결할지 정합니다.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96128" y="3108960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rPr/>
              <a:t>실행에서: joint 이름·축이 맞아야 바퀴와 센서 frame이 기대한 위치에 있습니다.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6199632"/>
            <a:ext cx="10698480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5C6672"/>
                </a:solidFill>
                <a:latin typeface="Noto Sans CJK KR"/>
              </a:defRPr>
            </a:pPr>
            <a:r>
              <a:rPr/>
              <a:t>다음 코드 입력 슬라이드에서 이 줄을 발견하면, 방금 설명한 ‘뜻’과 ‘실행에서 보이는 변화’를 다시 말해 봅니다.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5/7: 코드 입력 (1/24)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~/ros2_curri/my_agv_ws/src/agv_gazebo/models/agv/model.sdf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기반 AGV End-to-End 개발 커리큘럼 · M12 · Block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파일 5/7 · 입력 1/24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 블록이 하는 일: 파일의 root와 첫 model/link를 입력합니다. 태그 여닫는 순서를 그대로 유지합니다.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rPr/>
              <a:t>현재 열린 파일: ~/ros2_curri/my_agv_ws/src/agv_gazebo/models/agv/model.sdf</a:t>
            </a:r>
            <a:r>
              <a:rPr/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73152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&lt;?xml version="1.0" ?&gt;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&lt;sdf version="1.10"&gt;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&lt;model name="agv"&gt;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&lt;link name="base_link"&gt;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&lt;pose&gt;0 0 0.16 0 0 0&lt;/pose&gt;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입력 1/24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5/7: 코드 입력 (2/24)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~/ros2_curri/my_agv_ws/src/agv_gazebo/models/agv/model.sdf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기반 AGV End-to-End 개발 커리큘럼 · M12 · Block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파일 5/7 · 입력 2/24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 블록이 하는 일: 앞에서 만든 구조에 geometry·collision·sensor·joint를 하나씩 붙입니다.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rPr/>
              <a:t>현재 열린 파일: ~/ros2_curri/my_agv_ws/src/agv_gazebo/models/agv/model.sdf</a:t>
            </a:r>
            <a:r>
              <a:rPr/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73152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&lt;inertial&gt;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&lt;mass&gt;12.0&lt;/mass&gt;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&lt;inertia&gt;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&lt;ixx&gt;0.20&lt;/ixx&gt;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&lt;iyy&gt;0.40&lt;/iyy&gt;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&lt;izz&gt;0.50&lt;/izz&gt;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&lt;/inertia&gt;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&lt;/inertial&gt;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&lt;visual name="body"&gt;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입력 2/24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5/7: 코드 입력 (3/24)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~/ros2_curri/my_agv_ws/src/agv_gazebo/models/agv/model.sdf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기반 AGV End-to-End 개발 커리큘럼 · M12 · Block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파일 5/7 · 입력 3/24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 블록이 하는 일: 앞에서 만든 구조에 geometry·collision·sensor·joint를 하나씩 붙입니다.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rPr/>
              <a:t>현재 열린 파일: ~/ros2_curri/my_agv_ws/src/agv_gazebo/models/agv/model.sdf</a:t>
            </a:r>
            <a:r>
              <a:rPr/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73152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&lt;geometry&gt;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&lt;box&gt;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  &lt;size&gt;0.60 0.42 0.16&lt;/size&gt;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&lt;/box&gt;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&lt;/geometry&gt;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&lt;material&gt;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&lt;diffuse&gt;0.1 0.35 0.8 1&lt;/diffuse&gt;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&lt;/material&gt;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&lt;/visual&gt;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&lt;collision name="body_collision"&gt;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입력 3/24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5/7: 코드 입력 (4/24)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~/ros2_curri/my_agv_ws/src/agv_gazebo/models/agv/model.sdf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기반 AGV End-to-End 개발 커리큘럼 · M12 · Block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파일 5/7 · 입력 4/24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 블록이 하는 일: 앞에서 만든 구조에 geometry·collision·sensor·joint를 하나씩 붙입니다.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rPr/>
              <a:t>현재 열린 파일: ~/ros2_curri/my_agv_ws/src/agv_gazebo/models/agv/model.sdf</a:t>
            </a:r>
            <a:r>
              <a:rPr/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73152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&lt;geometry&gt;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&lt;box&gt;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  &lt;size&gt;0.60 0.42 0.16&lt;/size&gt;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&lt;/box&gt;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&lt;/geometry&gt;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&lt;/collision&gt;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&lt;sensor name="imu" type="imu"&gt;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&lt;topic&gt;/imu/data&lt;/topic&gt;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&lt;always_on&gt;true&lt;/always_on&gt;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&lt;update_rate&gt;100&lt;/update_rate&gt;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입력 4/24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5/7: 코드 입력 (5/24)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~/ros2_curri/my_agv_ws/src/agv_gazebo/models/agv/model.sdf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기반 AGV End-to-End 개발 커리큘럼 · M12 · Block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파일 5/7 · 입력 5/24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 블록이 하는 일: 앞에서 만든 구조에 geometry·collision·sensor·joint를 하나씩 붙입니다.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rPr/>
              <a:t>현재 열린 파일: ~/ros2_curri/my_agv_ws/src/agv_gazebo/models/agv/model.sdf</a:t>
            </a:r>
            <a:r>
              <a:rPr/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73152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&lt;imu&gt;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&lt;angular_velocity&gt;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  &lt;x&gt;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    &lt;noise type="gaussian"&gt;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      &lt;mean&gt;0&lt;/mean&gt;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      &lt;stddev&gt;0.001&lt;/stddev&gt;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    &lt;/noise&gt;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  &lt;/x&gt;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&lt;/angular_velocity&gt;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&lt;/imu&gt;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&lt;/sensor&gt;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입력 5/24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5/7: 코드 입력 (6/24)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~/ros2_curri/my_agv_ws/src/agv_gazebo/models/agv/model.sdf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기반 AGV End-to-End 개발 커리큘럼 · M12 · Block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파일 5/7 · 입력 6/24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 블록이 하는 일: 앞에서 만든 구조에 geometry·collision·sensor·joint를 하나씩 붙입니다.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rPr/>
              <a:t>현재 열린 파일: ~/ros2_curri/my_agv_ws/src/agv_gazebo/models/agv/model.sdf</a:t>
            </a:r>
            <a:r>
              <a:rPr/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73152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&lt;/link&gt;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&lt;link name="left_wheel_link"&gt;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&lt;pose relative_to="base_link"&gt;0 0.19 -0.08 1.5708 0 0&lt;/pose&gt;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&lt;inertial&gt;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&lt;mass&gt;0.6&lt;/mass&gt;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&lt;inertia&gt;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&lt;ixx&gt;0.002&lt;/ixx&gt;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&lt;iyy&gt;0.002&lt;/iyy&gt;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&lt;izz&gt;0.001&lt;/izz&gt;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입력 6/24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5/7: 코드 입력 (7/24)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~/ros2_curri/my_agv_ws/src/agv_gazebo/models/agv/model.sdf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기반 AGV End-to-End 개발 커리큘럼 · M12 · Block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파일 5/7 · 입력 7/24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 블록이 하는 일: 앞에서 만든 구조에 geometry·collision·sensor·joint를 하나씩 붙입니다.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rPr/>
              <a:t>현재 열린 파일: ~/ros2_curri/my_agv_ws/src/agv_gazebo/models/agv/model.sdf</a:t>
            </a:r>
            <a:r>
              <a:rPr/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73152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&lt;/inertia&gt;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&lt;/inertial&gt;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&lt;visual name="wheel"&gt;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&lt;geometry&gt;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&lt;cylinder&gt;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  &lt;radius&gt;0.08&lt;/radius&gt;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  &lt;length&gt;0.05&lt;/length&gt;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&lt;/cylinder&gt;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&lt;/geometry&gt;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&lt;/visual&gt;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&lt;collision name="wheel_collision"&gt;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&lt;geometry&gt;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입력 7/24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5/7: 코드 입력 (8/24)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~/ros2_curri/my_agv_ws/src/agv_gazebo/models/agv/model.sdf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기반 AGV End-to-End 개발 커리큘럼 · M12 · Block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파일 5/7 · 입력 8/24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 블록이 하는 일: 앞에서 만든 구조에 geometry·collision·sensor·joint를 하나씩 붙입니다.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rPr/>
              <a:t>현재 열린 파일: ~/ros2_curri/my_agv_ws/src/agv_gazebo/models/agv/model.sdf</a:t>
            </a:r>
            <a:r>
              <a:rPr/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73152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&lt;cylinder&gt;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  &lt;radius&gt;0.08&lt;/radius&gt;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  &lt;length&gt;0.05&lt;/length&gt;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&lt;/cylinder&gt;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&lt;/geometry&gt;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&lt;surface&gt;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&lt;friction&gt;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  &lt;ode&gt;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    &lt;mu&gt;1.0&lt;/mu&gt;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    &lt;mu2&gt;1.0&lt;/mu2&gt;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  &lt;/ode&gt;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&lt;/friction&gt;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입력 8/24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5/7: 코드 입력 (9/24)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~/ros2_curri/my_agv_ws/src/agv_gazebo/models/agv/model.sdf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기반 AGV End-to-End 개발 커리큘럼 · M12 · Block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파일 5/7 · 입력 9/24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 블록이 하는 일: 앞에서 만든 구조에 geometry·collision·sensor·joint를 하나씩 붙입니다.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rPr/>
              <a:t>현재 열린 파일: ~/ros2_curri/my_agv_ws/src/agv_gazebo/models/agv/model.sdf</a:t>
            </a:r>
            <a:r>
              <a:rPr/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73152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&lt;/surface&gt;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&lt;/collision&gt;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&lt;/link&gt;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&lt;link name="right_wheel_link"&gt;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&lt;pose relative_to="base_link"&gt;0 -0.19 -0.08 1.5708 0 0&lt;/pose&gt;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&lt;inertial&gt;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&lt;mass&gt;0.6&lt;/mass&gt;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&lt;inertia&gt;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&lt;ixx&gt;0.002&lt;/ixx&gt;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&lt;iyy&gt;0.002&lt;/iyy&gt;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입력 9/24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5/7: 코드 입력 (10/24)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~/ros2_curri/my_agv_ws/src/agv_gazebo/models/agv/model.sdf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기반 AGV End-to-End 개발 커리큘럼 · M12 · Block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파일 5/7 · 입력 10/24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 블록이 하는 일: 앞에서 만든 구조에 geometry·collision·sensor·joint를 하나씩 붙입니다.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rPr/>
              <a:t>현재 열린 파일: ~/ros2_curri/my_agv_ws/src/agv_gazebo/models/agv/model.sdf</a:t>
            </a:r>
            <a:r>
              <a:rPr/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73152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&lt;izz&gt;0.001&lt;/izz&gt;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&lt;/inertia&gt;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&lt;/inertial&gt;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&lt;visual name="wheel"&gt;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&lt;geometry&gt;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&lt;cylinder&gt;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  &lt;radius&gt;0.08&lt;/radius&gt;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  &lt;length&gt;0.05&lt;/length&gt;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&lt;/cylinder&gt;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&lt;/geometry&gt;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&lt;/visual&gt;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&lt;collision name="wheel_collision"&gt;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입력 10/24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5/7: 코드 입력 (11/24)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~/ros2_curri/my_agv_ws/src/agv_gazebo/models/agv/model.sdf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기반 AGV End-to-End 개발 커리큘럼 · M12 · Block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파일 5/7 · 입력 11/24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 블록이 하는 일: 앞에서 만든 구조에 geometry·collision·sensor·joint를 하나씩 붙입니다.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rPr/>
              <a:t>현재 열린 파일: ~/ros2_curri/my_agv_ws/src/agv_gazebo/models/agv/model.sdf</a:t>
            </a:r>
            <a:r>
              <a:rPr/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73152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&lt;geometry&gt;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&lt;cylinder&gt;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  &lt;radius&gt;0.08&lt;/radius&gt;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  &lt;length&gt;0.05&lt;/length&gt;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&lt;/cylinder&gt;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&lt;/geometry&gt;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&lt;surface&gt;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&lt;friction&gt;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  &lt;ode&gt;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    &lt;mu&gt;1.0&lt;/mu&gt;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    &lt;mu2&gt;1.0&lt;/mu2&gt;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  &lt;/ode&gt;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입력 11/24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5/7: 코드 입력 (12/24)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~/ros2_curri/my_agv_ws/src/agv_gazebo/models/agv/model.sdf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기반 AGV End-to-End 개발 커리큘럼 · M12 · Block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파일 5/7 · 입력 12/24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 블록이 하는 일: 앞에서 만든 구조에 geometry·collision·sensor·joint를 하나씩 붙입니다.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rPr/>
              <a:t>현재 열린 파일: ~/ros2_curri/my_agv_ws/src/agv_gazebo/models/agv/model.sdf</a:t>
            </a:r>
            <a:r>
              <a:rPr/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73152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&lt;/friction&gt;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&lt;/surface&gt;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&lt;/collision&gt;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&lt;/link&gt;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&lt;joint name="left_wheel_joint" type="revolute"&gt;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&lt;parent&gt;base_link&lt;/parent&gt;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&lt;child&gt;left_wheel_link&lt;/child&gt;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&lt;axis&gt;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&lt;xyz&gt;0 1 0&lt;/xyz&gt;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&lt;limit&gt;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입력 12/24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5/7: 코드 입력 (13/24)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~/ros2_curri/my_agv_ws/src/agv_gazebo/models/agv/model.sdf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기반 AGV End-to-End 개발 커리큘럼 · M12 · Block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파일 5/7 · 입력 13/24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 블록이 하는 일: 앞에서 만든 구조에 geometry·collision·sensor·joint를 하나씩 붙입니다.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rPr/>
              <a:t>현재 열린 파일: ~/ros2_curri/my_agv_ws/src/agv_gazebo/models/agv/model.sdf</a:t>
            </a:r>
            <a:r>
              <a:rPr/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73152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&lt;lower&gt;-1e16&lt;/lower&gt;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&lt;upper&gt;1e16&lt;/upper&gt;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&lt;/limit&gt;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&lt;/axis&gt;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&lt;/joint&gt;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&lt;joint name="right_wheel_joint" type="revolute"&gt;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&lt;parent&gt;base_link&lt;/parent&gt;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&lt;child&gt;right_wheel_link&lt;/child&gt;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&lt;axis&gt;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&lt;xyz&gt;0 1 0&lt;/xyz&gt;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입력 13/24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5/7: 코드 입력 (14/24)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~/ros2_curri/my_agv_ws/src/agv_gazebo/models/agv/model.sdf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기반 AGV End-to-End 개발 커리큘럼 · M12 · Block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파일 5/7 · 입력 14/24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 블록이 하는 일: 앞에서 만든 구조에 geometry·collision·sensor·joint를 하나씩 붙입니다.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rPr/>
              <a:t>현재 열린 파일: ~/ros2_curri/my_agv_ws/src/agv_gazebo/models/agv/model.sdf</a:t>
            </a:r>
            <a:r>
              <a:rPr/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73152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&lt;limit&gt;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&lt;lower&gt;-1e16&lt;/lower&gt;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&lt;upper&gt;1e16&lt;/upper&gt;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&lt;/limit&gt;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&lt;/axis&gt;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&lt;/joint&gt;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&lt;link name="caster_link"&gt;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&lt;pose relative_to="base_link"&gt;-0.24 0 -0.12 0 0 0&lt;/pose&gt;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&lt;inertial&gt;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&lt;mass&gt;0.15&lt;/mass&gt;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입력 14/24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5/7: 코드 입력 (15/24)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~/ros2_curri/my_agv_ws/src/agv_gazebo/models/agv/model.sdf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기반 AGV End-to-End 개발 커리큘럼 · M12 · Block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파일 5/7 · 입력 15/24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 블록이 하는 일: 앞에서 만든 구조에 geometry·collision·sensor·joint를 하나씩 붙입니다.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rPr/>
              <a:t>현재 열린 파일: ~/ros2_curri/my_agv_ws/src/agv_gazebo/models/agv/model.sdf</a:t>
            </a:r>
            <a:r>
              <a:rPr/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73152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&lt;inertia&gt;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&lt;ixx&gt;0.0001&lt;/ixx&gt;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&lt;iyy&gt;0.0001&lt;/iyy&gt;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&lt;izz&gt;0.0001&lt;/izz&gt;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&lt;/inertia&gt;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&lt;/inertial&gt;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&lt;visual name="caster"&gt;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&lt;geometry&gt;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&lt;sphere&gt;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  &lt;radius&gt;0.04&lt;/radius&gt;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&lt;/sphere&gt;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&lt;/geometry&gt;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입력 15/24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5/7: 코드 입력 (16/24)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~/ros2_curri/my_agv_ws/src/agv_gazebo/models/agv/model.sdf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기반 AGV End-to-End 개발 커리큘럼 · M12 · Block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파일 5/7 · 입력 16/24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 블록이 하는 일: 앞에서 만든 구조에 geometry·collision·sensor·joint를 하나씩 붙입니다.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rPr/>
              <a:t>현재 열린 파일: ~/ros2_curri/my_agv_ws/src/agv_gazebo/models/agv/model.sdf</a:t>
            </a:r>
            <a:r>
              <a:rPr/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73152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&lt;/visual&gt;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&lt;collision name="caster_collision"&gt;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&lt;geometry&gt;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&lt;sphere&gt;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  &lt;radius&gt;0.04&lt;/radius&gt;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&lt;/sphere&gt;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&lt;/geometry&gt;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&lt;/collision&gt;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&lt;/link&gt;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&lt;joint name="caster_joint" type="fixed"&gt;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입력 16/24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5/7: 코드 입력 (17/24)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~/ros2_curri/my_agv_ws/src/agv_gazebo/models/agv/model.sdf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기반 AGV End-to-End 개발 커리큘럼 · M12 · Block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파일 5/7 · 입력 17/24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 블록이 하는 일: 앞에서 만든 구조에 geometry·collision·sensor·joint를 하나씩 붙입니다.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rPr/>
              <a:t>현재 열린 파일: ~/ros2_curri/my_agv_ws/src/agv_gazebo/models/agv/model.sdf</a:t>
            </a:r>
            <a:r>
              <a:rPr/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73152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&lt;parent&gt;base_link&lt;/parent&gt;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&lt;child&gt;caster_link&lt;/child&gt;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&lt;/joint&gt;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&lt;link name="lidar_link"&gt;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&lt;pose relative_to="base_link"&gt;0.12 0 0.13 0 0 0&lt;/pose&gt;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&lt;visual name="housing"&gt;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&lt;geometry&gt;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&lt;cylinder&gt;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  &lt;radius&gt;0.045&lt;/radius&gt;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  &lt;length&gt;0.05&lt;/length&gt;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입력 17/24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5/7: 코드 입력 (18/24)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~/ros2_curri/my_agv_ws/src/agv_gazebo/models/agv/model.sdf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기반 AGV End-to-End 개발 커리큘럼 · M12 · Block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파일 5/7 · 입력 18/24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 블록이 하는 일: 앞에서 만든 구조에 geometry·collision·sensor·joint를 하나씩 붙입니다.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rPr/>
              <a:t>현재 열린 파일: ~/ros2_curri/my_agv_ws/src/agv_gazebo/models/agv/model.sdf</a:t>
            </a:r>
            <a:r>
              <a:rPr/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73152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&lt;/cylinder&gt;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&lt;/geometry&gt;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&lt;/visual&gt;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&lt;sensor name="lidar" type="gpu_lidar"&gt;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&lt;topic&gt;/scan&lt;/topic&gt;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&lt;always_on&gt;true&lt;/always_on&gt;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&lt;update_rate&gt;10&lt;/update_rate&gt;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&lt;visualize&gt;false&lt;/visualize&gt;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&lt;lidar&gt;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&lt;scan&gt;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  &lt;horizontal&gt;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    &lt;samples&gt;720&lt;/samples&gt;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입력 18/24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5/7: 코드 입력 (19/24)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~/ros2_curri/my_agv_ws/src/agv_gazebo/models/agv/model.sdf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기반 AGV End-to-End 개발 커리큘럼 · M12 · Block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파일 5/7 · 입력 19/24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 블록이 하는 일: 앞에서 만든 구조에 geometry·collision·sensor·joint를 하나씩 붙입니다.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rPr/>
              <a:t>현재 열린 파일: ~/ros2_curri/my_agv_ws/src/agv_gazebo/models/agv/model.sdf</a:t>
            </a:r>
            <a:r>
              <a:rPr/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73152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    &lt;resolution&gt;1&lt;/resolution&gt;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    &lt;min_angle&gt;-3.14159&lt;/min_angle&gt;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    &lt;max_angle&gt;3.14159&lt;/max_angle&gt;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  &lt;/horizontal&gt;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&lt;/scan&gt;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&lt;range&gt;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  &lt;min&gt;0.12&lt;/min&gt;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  &lt;max&gt;12.0&lt;/max&gt;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  &lt;resolution&gt;0.01&lt;/resolution&gt;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&lt;/range&gt;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&lt;/lidar&gt;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&lt;/sensor&gt;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입력 19/24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5/7: 코드 입력 (20/24)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~/ros2_curri/my_agv_ws/src/agv_gazebo/models/agv/model.sdf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기반 AGV End-to-End 개발 커리큘럼 · M12 · Block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파일 5/7 · 입력 20/24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 블록이 하는 일: 앞에서 만든 구조에 geometry·collision·sensor·joint를 하나씩 붙입니다.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rPr/>
              <a:t>현재 열린 파일: ~/ros2_curri/my_agv_ws/src/agv_gazebo/models/agv/model.sdf</a:t>
            </a:r>
            <a:r>
              <a:rPr/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73152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&lt;/link&gt;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&lt;joint name="lidar_joint" type="fixed"&gt;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&lt;parent&gt;base_link&lt;/parent&gt;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&lt;child&gt;lidar_link&lt;/child&gt;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&lt;/joint&gt;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&lt;link name="camera_link"&gt;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&lt;pose relative_to="base_link"&gt;0.30 0 0.10 0 0 0&lt;/pose&gt;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&lt;visual name="housing"&gt;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입력 20/24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5/7: 코드 입력 (21/24)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~/ros2_curri/my_agv_ws/src/agv_gazebo/models/agv/model.sdf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기반 AGV End-to-End 개발 커리큘럼 · M12 · Block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파일 5/7 · 입력 21/24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 블록이 하는 일: 앞에서 만든 구조에 geometry·collision·sensor·joint를 하나씩 붙입니다.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rPr/>
              <a:t>현재 열린 파일: ~/ros2_curri/my_agv_ws/src/agv_gazebo/models/agv/model.sdf</a:t>
            </a:r>
            <a:r>
              <a:rPr/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73152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&lt;geometry&gt;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&lt;box&gt;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  &lt;size&gt;0.05 0.08 0.05&lt;/size&gt;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&lt;/box&gt;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&lt;/geometry&gt;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&lt;/visual&gt;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&lt;sensor name="camera" type="camera"&gt;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&lt;topic&gt;/camera/image_raw&lt;/topic&gt;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&lt;always_on&gt;true&lt;/always_on&gt;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&lt;update_rate&gt;15&lt;/update_rate&gt;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&lt;camera&gt;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&lt;horizontal_fov&gt;1.047&lt;/horizontal_fov&gt;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입력 21/24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5/7: 코드 입력 (22/24)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~/ros2_curri/my_agv_ws/src/agv_gazebo/models/agv/model.sdf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기반 AGV End-to-End 개발 커리큘럼 · M12 · Block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파일 5/7 · 입력 22/24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 블록이 하는 일: 앞에서 만든 구조에 geometry·collision·sensor·joint를 하나씩 붙입니다.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rPr/>
              <a:t>현재 열린 파일: ~/ros2_curri/my_agv_ws/src/agv_gazebo/models/agv/model.sdf</a:t>
            </a:r>
            <a:r>
              <a:rPr/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73152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&lt;image&gt;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  &lt;width&gt;640&lt;/width&gt;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  &lt;height&gt;480&lt;/height&gt;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  &lt;format&gt;R8G8B8&lt;/format&gt;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&lt;/image&gt;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&lt;clip&gt;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  &lt;near&gt;0.1&lt;/near&gt;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  &lt;far&gt;20&lt;/far&gt;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&lt;/clip&gt;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&lt;/camera&gt;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&lt;/sensor&gt;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&lt;/link&gt;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입력 22/24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5/7: 코드 입력 (23/24)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~/ros2_curri/my_agv_ws/src/agv_gazebo/models/agv/model.sdf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기반 AGV End-to-End 개발 커리큘럼 · M12 · Block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파일 5/7 · 입력 23/24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 블록이 하는 일: 앞에서 만든 구조에 geometry·collision·sensor·joint를 하나씩 붙입니다.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rPr/>
              <a:t>현재 열린 파일: ~/ros2_curri/my_agv_ws/src/agv_gazebo/models/agv/model.sdf</a:t>
            </a:r>
            <a:r>
              <a:rPr/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73152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&lt;joint name="camera_joint" type="fixed"&gt;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&lt;parent&gt;base_link&lt;/parent&gt;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&lt;child&gt;camera_link&lt;/child&gt;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&lt;/joint&gt;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&lt;plugin filename="gz-sim-diff-drive-system" name="gz::sim::systems::DiffDrive"&gt;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&lt;left_joint&gt;left_wheel_joint&lt;/left_joint&gt;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&lt;right_joint&gt;right_wheel_joint&lt;/right_joint&gt;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&lt;wheel_separation&gt;0.38&lt;/wheel_separation&gt;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입력 23/24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5/7: 코드 입력 (24/24)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~/ros2_curri/my_agv_ws/src/agv_gazebo/models/agv/model.sdf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기반 AGV End-to-End 개발 커리큘럼 · M12 · Block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파일 5/7 · 입력 24/24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 블록이 하는 일: 마지막 joint·sensor·plugin과 닫는 태그를 입력해 구조를 완성합니다.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rPr/>
              <a:t>현재 열린 파일: ~/ros2_curri/my_agv_ws/src/agv_gazebo/models/agv/model.sdf</a:t>
            </a:r>
            <a:r>
              <a:rPr/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73152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&lt;wheel_radius&gt;0.08&lt;/wheel_radius&gt;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&lt;topic&gt;/cmd_vel&lt;/topic&gt;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&lt;odom_topic&gt;/odom&lt;/odom_topic&gt;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&lt;frame_id&gt;odom&lt;/frame_id&gt;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&lt;child_frame_id&gt;base_link&lt;/child_frame_id&gt;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&lt;/plugin&gt;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&lt;/model&gt;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&lt;/sdf&gt;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입력 24/24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6/7: 폴더를 만들고 빈 파일을 연다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파일을 먼저 만든 뒤, 다음 슬라이드의 코드 블록을 위에서 아래로 직접 입력합니다.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기반 AGV End-to-End 개발 커리큘럼 · M12 · Block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파일 생성 6/7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19072"/>
            <a:ext cx="141732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25B9B"/>
                </a:solidFill>
                <a:latin typeface="Noto Sans CJK KR"/>
              </a:defRPr>
            </a:pPr>
            <a:r>
              <a:rPr/>
              <a:t>이번 파일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719072"/>
            <a:ext cx="923544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DejaVu Sans Mono"/>
              </a:defRPr>
            </a:pPr>
            <a:r>
              <a:rPr/>
              <a:t>~/ros2_curri/my_agv_ws/src/agv_gazebo/config/bridge.yaml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103120"/>
            <a:ext cx="141732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A8B5A"/>
                </a:solidFill>
                <a:latin typeface="Noto Sans CJK KR"/>
              </a:defRPr>
            </a:pPr>
            <a:r>
              <a:rPr/>
              <a:t>만드는 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2103120"/>
            <a:ext cx="923544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122C4E"/>
                </a:solidFill>
                <a:latin typeface="Noto Sans CJK KR"/>
              </a:defRPr>
            </a:pPr>
            <a:r>
              <a:rPr/>
              <a:t>Gazebo Transport 메시지와 ROS 2 topic을 방향별로 연결하는 번역표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6656" y="2852928"/>
            <a:ext cx="10881360" cy="1682496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rPr/>
              <a:t>mkdir -p ~/ros2_curri/my_agv_ws/src/agv_gazebo/config</a:t>
            </a:r>
          </a:p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rPr/>
              <a:t>nano ~/ros2_curri/my_agv_ws/src/agv_gazebo/config/bridge.yaml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4901184"/>
            <a:ext cx="10241280" cy="32918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DB7E22"/>
                </a:solidFill>
                <a:latin typeface="Noto Sans CJK KR"/>
              </a:defRPr>
            </a:pPr>
            <a:r>
              <a:rPr/>
              <a:t>nano 저장: Ctrl+O → Enter → Ctrl+X  |  파일이 열리면 아직 비어 있는 것이 정상입니다.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5504688"/>
            <a:ext cx="10241280" cy="32918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2A8B5A"/>
                </a:solidFill>
                <a:latin typeface="Noto Sans CJK KR"/>
              </a:defRPr>
            </a:pPr>
            <a:r>
              <a:rPr/>
              <a:t>다음 단계의 확인 화면: ros2 topic info에서 보이는 type과 publisher 수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6/7: 코드 읽기 (1/1)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짧은 실제 코드 조각을 먼저 읽고, 다음 슬라이드에서 같은 코드를 직접 입력합니다.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기반 AGV End-to-End 개발 커리큘럼 · M12 · Block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코드 해설 6/7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61848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25B9B"/>
                </a:solidFill>
                <a:latin typeface="DejaVu Sans Mono"/>
              </a:defRPr>
            </a:pPr>
            <a:r>
              <a:rPr/>
              <a:t>~/ros2_curri/my_agv_ws/src/agv_gazebo/config/bridge.yaml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" y="193852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DB7E22"/>
                </a:solidFill>
                <a:latin typeface="Noto Sans CJK KR"/>
              </a:defRPr>
            </a:pPr>
            <a:r>
              <a:rPr/>
              <a:t>말로 먼저 답해 보세요: 이 줄은 무엇을 만들고, 실행하면 어디에서 확인할 수 있을까요?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359152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rPr/>
              <a:t>- ros_topic_name: "/cmd_vel"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2359152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5239512" y="2468880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rPr/>
              <a:t>1.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96128" y="2450592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rPr/>
              <a:t>뜻: 데이터가 오가는 채널의 정확한 이름을 지정합니다.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96128" y="3108960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rPr/>
              <a:t>실행에서: SDF·bridge·node 세 곳의 이름이 같을 때 message가 연결됩니다.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078224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rPr/>
              <a:t>ros_type_name: "geometry_msgs/msg/Twist"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0" y="4078224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5239512" y="4187952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rPr/>
              <a:t>2.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96128" y="4169663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rPr/>
              <a:t>뜻: 실행 코드와 분리한 설정 키와 값을 적습니다.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96128" y="4828032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rPr/>
              <a:t>실행에서: launch 뒤 parameter/topic 동작에서 이 값의 효과를 확인합니다.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6199632"/>
            <a:ext cx="10698480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5C6672"/>
                </a:solidFill>
                <a:latin typeface="Noto Sans CJK KR"/>
              </a:defRPr>
            </a:pPr>
            <a:r>
              <a:rPr/>
              <a:t>다음 코드 입력 슬라이드에서 이 줄을 발견하면, 방금 설명한 ‘뜻’과 ‘실행에서 보이는 변화’를 다시 말해 봅니다.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6/7: 코드 입력 (1/3)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~/ros2_curri/my_agv_ws/src/agv_gazebo/config/bridge.yaml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기반 AGV End-to-End 개발 커리큘럼 · M12 · Block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파일 6/7 · 입력 1/3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 블록이 하는 일: 들여쓰기와 key 이름을 그대로 입력합니다. 설정 이름은 launch·코드가 찾는 이름과 같아야 합니다.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rPr/>
              <a:t>현재 열린 파일: ~/ros2_curri/my_agv_ws/src/agv_gazebo/config/bridge.yaml</a:t>
            </a:r>
            <a:r>
              <a:rPr/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73152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- ros_topic_name: "/cmd_vel"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gz_topic_name: "/cmd_vel"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ros_type_name: "geometry_msgs/msg/Twist"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gz_type_name: "gz.msgs.Twist"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direction: ROS_TO_GZ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- ros_topic_name: "/odom"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gz_topic_name: "/odom"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ros_type_name: "nav_msgs/msg/Odometry"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gz_type_name: "gz.msgs.Odometry"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direction: GZ_TO_ROS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- ros_topic_name: "/scan"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gz_topic_name: "/scan"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입력 1/3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6/7: 코드 입력 (2/3)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~/ros2_curri/my_agv_ws/src/agv_gazebo/config/bridge.yaml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기반 AGV End-to-End 개발 커리큘럼 · M12 · Block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파일 6/7 · 입력 2/3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 블록이 하는 일: 들여쓰기와 key 이름을 그대로 입력합니다. 설정 이름은 launch·코드가 찾는 이름과 같아야 합니다.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rPr/>
              <a:t>현재 열린 파일: ~/ros2_curri/my_agv_ws/src/agv_gazebo/config/bridge.yaml</a:t>
            </a:r>
            <a:r>
              <a:rPr/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73152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ros_type_name: "sensor_msgs/msg/LaserScan"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gz_type_name: "gz.msgs.LaserScan"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direction: GZ_TO_ROS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- ros_topic_name: "/imu/data"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gz_topic_name: "/imu/data"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ros_type_name: "sensor_msgs/msg/Imu"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gz_type_name: "gz.msgs.IMU"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direction: GZ_TO_ROS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- ros_topic_name: "/camera/image_raw"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gz_topic_name: "/camera/image_raw"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ros_type_name: "sensor_msgs/msg/Image"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gz_type_name: "gz.msgs.Image"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입력 2/3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6/7: 코드 입력 (3/3)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~/ros2_curri/my_agv_ws/src/agv_gazebo/config/bridge.yaml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기반 AGV End-to-End 개발 커리큘럼 · M12 · Block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파일 6/7 · 입력 3/3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 블록이 하는 일: 들여쓰기와 key 이름을 그대로 입력합니다. 설정 이름은 launch·코드가 찾는 이름과 같아야 합니다.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rPr/>
              <a:t>현재 열린 파일: ~/ros2_curri/my_agv_ws/src/agv_gazebo/config/bridge.yaml</a:t>
            </a:r>
            <a:r>
              <a:rPr/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73152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direction: GZ_TO_ROS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- ros_topic_name: "/clock"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gz_topic_name: "/clock"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ros_type_name: "rosgraph_msgs/msg/Clock"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gz_type_name: "gz.msgs.Clock"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direction: GZ_TO_ROS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입력 3/3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7/7: 폴더를 만들고 빈 파일을 연다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파일을 먼저 만든 뒤, 다음 슬라이드의 코드 블록을 위에서 아래로 직접 입력합니다.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기반 AGV End-to-End 개발 커리큘럼 · M12 · Block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파일 생성 7/7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19072"/>
            <a:ext cx="141732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25B9B"/>
                </a:solidFill>
                <a:latin typeface="Noto Sans CJK KR"/>
              </a:defRPr>
            </a:pPr>
            <a:r>
              <a:rPr/>
              <a:t>이번 파일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719072"/>
            <a:ext cx="923544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DejaVu Sans Mono"/>
              </a:defRPr>
            </a:pPr>
            <a:r>
              <a:rPr/>
              <a:t>~/ros2_curri/my_agv_ws/src/agv_vision/agv_vision/yolo_node.py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103120"/>
            <a:ext cx="141732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A8B5A"/>
                </a:solidFill>
                <a:latin typeface="Noto Sans CJK KR"/>
              </a:defRPr>
            </a:pPr>
            <a:r>
              <a:rPr/>
              <a:t>만드는 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2103120"/>
            <a:ext cx="923544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122C4E"/>
                </a:solidFill>
                <a:latin typeface="Noto Sans CJK KR"/>
              </a:defRPr>
            </a:pPr>
            <a:r>
              <a:rPr/>
              <a:t>카메라 Image를 받아 검출 결과와 debug Image를 내보내는 인지 노드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6656" y="2852928"/>
            <a:ext cx="10881360" cy="1682496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rPr/>
              <a:t>mkdir -p ~/ros2_curri/my_agv_ws/src/agv_vision/agv_vision</a:t>
            </a:r>
          </a:p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rPr/>
              <a:t>nano ~/ros2_curri/my_agv_ws/src/agv_vision/agv_vision/yolo_node.py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4901184"/>
            <a:ext cx="10241280" cy="32918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DB7E22"/>
                </a:solidFill>
                <a:latin typeface="Noto Sans CJK KR"/>
              </a:defRPr>
            </a:pPr>
            <a:r>
              <a:rPr/>
              <a:t>nano 저장: Ctrl+O → Enter → Ctrl+X  |  파일이 열리면 아직 비어 있는 것이 정상입니다.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5504688"/>
            <a:ext cx="10241280" cy="32918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2A8B5A"/>
                </a:solidFill>
                <a:latin typeface="Noto Sans CJK KR"/>
              </a:defRPr>
            </a:pPr>
            <a:r>
              <a:rPr/>
              <a:t>다음 단계의 확인 화면: /vision/debug_image의 노란 box와 target 거리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7/7: 코드 읽기 (1/5)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짧은 실제 코드 조각을 먼저 읽고, 다음 슬라이드에서 같은 코드를 직접 입력합니다.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기반 AGV End-to-End 개발 커리큘럼 · M12 · Block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코드 해설 7/7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61848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25B9B"/>
                </a:solidFill>
                <a:latin typeface="DejaVu Sans Mono"/>
              </a:defRPr>
            </a:pPr>
            <a:r>
              <a:rPr/>
              <a:t>~/ros2_curri/my_agv_ws/src/agv_vision/agv_vision/yolo_node.py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" y="193852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DB7E22"/>
                </a:solidFill>
                <a:latin typeface="Noto Sans CJK KR"/>
              </a:defRPr>
            </a:pPr>
            <a:r>
              <a:rPr/>
              <a:t>말로 먼저 답해 보세요: 이 줄은 무엇을 만들고, 실행하면 어디에서 확인할 수 있을까요?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359152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rPr/>
              <a:t>import rclpy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2359152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5239512" y="2468880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rPr/>
              <a:t>1.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96128" y="2450592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rPr/>
              <a:t>뜻: 다른 파일에 이미 있는 도구를 이 파일에서 쓰겠다고 가져옵니다.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96128" y="3108960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rPr/>
              <a:t>실행에서: 이 import가 빠지면 실행 전에 이름을 찾지 못했다는 오류가 납니다.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078224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rPr/>
              <a:t>class YoloNode(Node):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0" y="4078224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5239512" y="4187952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rPr/>
              <a:t>2.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96128" y="4169663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rPr/>
              <a:t>뜻: 이 Node가 가질 변수와 callback을 한 덩어리로 묶는 설계도입니다.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96128" y="4828032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rPr/>
              <a:t>실행에서: 아래 초기화·callback이 모두 이 node 한 개의 동작이 됩니다.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6199632"/>
            <a:ext cx="10698480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5C6672"/>
                </a:solidFill>
                <a:latin typeface="Noto Sans CJK KR"/>
              </a:defRPr>
            </a:pPr>
            <a:r>
              <a:rPr/>
              <a:t>다음 코드 입력 슬라이드에서 이 줄을 발견하면, 방금 설명한 ‘뜻’과 ‘실행에서 보이는 변화’를 다시 말해 봅니다.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7/7: 코드 읽기 (2/5)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짧은 실제 코드 조각을 먼저 읽고, 다음 슬라이드에서 같은 코드를 직접 입력합니다.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기반 AGV End-to-End 개발 커리큘럼 · M12 · Block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코드 해설 7/7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61848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25B9B"/>
                </a:solidFill>
                <a:latin typeface="DejaVu Sans Mono"/>
              </a:defRPr>
            </a:pPr>
            <a:r>
              <a:rPr/>
              <a:t>~/ros2_curri/my_agv_ws/src/agv_vision/agv_vision/yolo_node.py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" y="193852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DB7E22"/>
                </a:solidFill>
                <a:latin typeface="Noto Sans CJK KR"/>
              </a:defRPr>
            </a:pPr>
            <a:r>
              <a:rPr/>
              <a:t>말로 먼저 답해 보세요: 이 줄은 무엇을 만들고, 실행하면 어디에서 확인할 수 있을까요?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359152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rPr/>
              <a:t>super().__init__('yolo_node')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2359152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5239512" y="2468880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rPr/>
              <a:t>1.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96128" y="2450592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rPr/>
              <a:t>뜻: ROS graph에 표시될 node 이름을 실제로 정합니다.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96128" y="3108960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rPr/>
              <a:t>실행에서: 실행 후 `ros2 node list`에서 이 이름을 찾습니다.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078224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rPr/>
              <a:t>self.declare_parameter('model_path', 'yolo11n.pt')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0" y="4078224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5239512" y="4187952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rPr/>
              <a:t>2.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96128" y="4169663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rPr/>
              <a:t>뜻: 코드 밖에서 바꿀 값을 이름과 기본값으로 등록합니다.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96128" y="4828032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rPr/>
              <a:t>실행에서: launch/CLI parameter를 바꾸면 코드 수정 없이 동작이 달라집니다.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6199632"/>
            <a:ext cx="10698480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5C6672"/>
                </a:solidFill>
                <a:latin typeface="Noto Sans CJK KR"/>
              </a:defRPr>
            </a:pPr>
            <a:r>
              <a:rPr/>
              <a:t>다음 코드 입력 슬라이드에서 이 줄을 발견하면, 방금 설명한 ‘뜻’과 ‘실행에서 보이는 변화’를 다시 말해 봅니다.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7/7: 코드 읽기 (3/5)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짧은 실제 코드 조각을 먼저 읽고, 다음 슬라이드에서 같은 코드를 직접 입력합니다.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기반 AGV End-to-End 개발 커리큘럼 · M12 · Block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코드 해설 7/7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61848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25B9B"/>
                </a:solidFill>
                <a:latin typeface="DejaVu Sans Mono"/>
              </a:defRPr>
            </a:pPr>
            <a:r>
              <a:rPr/>
              <a:t>~/ros2_curri/my_agv_ws/src/agv_vision/agv_vision/yolo_node.py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" y="193852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DB7E22"/>
                </a:solidFill>
                <a:latin typeface="Noto Sans CJK KR"/>
              </a:defRPr>
            </a:pPr>
            <a:r>
              <a:rPr/>
              <a:t>말로 먼저 답해 보세요: 이 줄은 무엇을 만들고, 실행하면 어디에서 확인할 수 있을까요?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359152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rPr/>
              <a:t>self.publisher = self.create_publisher(DetectionArray,</a:t>
            </a:r>
            <a:r>
              <a:rPr/>
              <a:t>'/detections', 10)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2359152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5239512" y="2468880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rPr/>
              <a:t>1.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96128" y="2450592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rPr/>
              <a:t>뜻: 이 node가 어떤 message를 어느 topic으로 내보낼지 만듭니다.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96128" y="3108960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rPr/>
              <a:t>실행에서: 실행 후 `ros2 topic info`에서 publisher 수가 늘어납니다.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078224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rPr/>
              <a:t>self.create_subscription(Image, '/camera/image_raw',</a:t>
            </a:r>
            <a:r>
              <a:rPr/>
              <a:t>self.callback,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0" y="4078224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5239512" y="4187952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rPr/>
              <a:t>2.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96128" y="4169663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rPr/>
              <a:t>뜻: 이 node가 지정 topic의 message를 받아 callback으로 넘깁니다.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96128" y="4828032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rPr/>
              <a:t>실행에서: 입력 topic을 publish하면 callback의 log 또는 출력이 바뀝니다.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6199632"/>
            <a:ext cx="10698480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5C6672"/>
                </a:solidFill>
                <a:latin typeface="Noto Sans CJK KR"/>
              </a:defRPr>
            </a:pPr>
            <a:r>
              <a:rPr/>
              <a:t>다음 코드 입력 슬라이드에서 이 줄을 발견하면, 방금 설명한 ‘뜻’과 ‘실행에서 보이는 변화’를 다시 말해 봅니다.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7/7: 코드 읽기 (4/5)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짧은 실제 코드 조각을 먼저 읽고, 다음 슬라이드에서 같은 코드를 직접 입력합니다.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기반 AGV End-to-End 개발 커리큘럼 · M12 · Block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코드 해설 7/7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61848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25B9B"/>
                </a:solidFill>
                <a:latin typeface="DejaVu Sans Mono"/>
              </a:defRPr>
            </a:pPr>
            <a:r>
              <a:rPr/>
              <a:t>~/ros2_curri/my_agv_ws/src/agv_vision/agv_vision/yolo_node.py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" y="193852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DB7E22"/>
                </a:solidFill>
                <a:latin typeface="Noto Sans CJK KR"/>
              </a:defRPr>
            </a:pPr>
            <a:r>
              <a:rPr/>
              <a:t>말로 먼저 답해 보세요: 이 줄은 무엇을 만들고, 실행하면 어디에서 확인할 수 있을까요?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359152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rPr/>
              <a:t>if self.get_parameter('enable_yolo').value: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2359152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5239512" y="2468880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rPr/>
              <a:t>1.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96128" y="2450592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rPr/>
              <a:t>뜻: 등록한 parameter의 현재 값을 읽어 실제 계산에 사용합니다.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96128" y="3108960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rPr/>
              <a:t>실행에서: `ros2 param get` 값이 node 동작에 반영됩니다.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078224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rPr/>
              <a:t>self.get_logger().info('YOLO model loaded')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0" y="4078224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5239512" y="4187952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rPr/>
              <a:t>2.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96128" y="4169663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rPr/>
              <a:t>뜻: 현재 상태나 계산 결과를 사람이 볼 수 있게 terminal에 남깁니다.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96128" y="4828032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rPr/>
              <a:t>실행에서: node를 실행한 terminal에서 이 문장이 출력됩니다.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6199632"/>
            <a:ext cx="10698480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5C6672"/>
                </a:solidFill>
                <a:latin typeface="Noto Sans CJK KR"/>
              </a:defRPr>
            </a:pPr>
            <a:r>
              <a:rPr/>
              <a:t>다음 코드 입력 슬라이드에서 이 줄을 발견하면, 방금 설명한 ‘뜻’과 ‘실행에서 보이는 변화’를 다시 말해 봅니다.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7/7: 코드 읽기 (5/5)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짧은 실제 코드 조각을 먼저 읽고, 다음 슬라이드에서 같은 코드를 직접 입력합니다.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기반 AGV End-to-End 개발 커리큘럼 · M12 · Block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코드 해설 7/7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61848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25B9B"/>
                </a:solidFill>
                <a:latin typeface="DejaVu Sans Mono"/>
              </a:defRPr>
            </a:pPr>
            <a:r>
              <a:rPr/>
              <a:t>~/ros2_curri/my_agv_ws/src/agv_vision/agv_vision/yolo_node.py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" y="193852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DB7E22"/>
                </a:solidFill>
                <a:latin typeface="Noto Sans CJK KR"/>
              </a:defRPr>
            </a:pPr>
            <a:r>
              <a:rPr/>
              <a:t>말로 먼저 답해 보세요: 이 줄은 무엇을 만들고, 실행하면 어디에서 확인할 수 있을까요?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359152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rPr/>
              <a:t>def make_detection(self, header, class_name, confidence,</a:t>
            </a:r>
            <a:r>
              <a:rPr/>
              <a:t>x1, y1, x2, y2, image_width):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2359152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5239512" y="2468880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rPr/>
              <a:t>1.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96128" y="2450592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rPr/>
              <a:t>뜻: 입력 message가 오거나 timer가 울릴 때 실행할 작은 기능 단위입니다.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96128" y="3108960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rPr/>
              <a:t>실행에서: 이 함수 안의 계산·publish가 실제 node의 반응이 됩니다.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6199632"/>
            <a:ext cx="10698480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5C6672"/>
                </a:solidFill>
                <a:latin typeface="Noto Sans CJK KR"/>
              </a:defRPr>
            </a:pPr>
            <a:r>
              <a:rPr/>
              <a:t>다음 코드 입력 슬라이드에서 이 줄을 발견하면, 방금 설명한 ‘뜻’과 ‘실행에서 보이는 변화’를 다시 말해 봅니다.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7/7: 코드 입력 (1/10)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~/ros2_curri/my_agv_ws/src/agv_vision/agv_vision/yolo_node.py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기반 AGV End-to-End 개발 커리큘럼 · M12 · Block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파일 7/7 · 입력 1/10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 블록이 하는 일: 필요한 ROS message와 Node 도구를 import하고, node의 입력·출력 이름을 먼저 정합니다.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rPr/>
              <a:t>현재 열린 파일: ~/ros2_curri/my_agv_ws/src/agv_vision/agv_vision/yolo_node.py</a:t>
            </a:r>
            <a:r>
              <a:rPr/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73152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import rclpy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from rclpy.node import Node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from rclpy.qos import qos_profile_sensor_data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from sensor_msgs.msg import Image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from cv_bridge import CvBridge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from agv_interfaces.msg import Detection, DetectionArray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import cv2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class YoloNode(Node):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def __init__(self):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super().__init__('yolo_node')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입력 1/10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7/7: 코드 입력 (2/10)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~/ros2_curri/my_agv_ws/src/agv_vision/agv_vision/yolo_node.py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기반 AGV End-to-End 개발 커리큘럼 · M12 · Block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파일 7/7 · 입력 2/10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 블록이 하는 일: 앞에서 만든 node에 처리 로직과 publish/subscription 연결을 한 덩어리씩 추가합니다.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rPr/>
              <a:t>현재 열린 파일: ~/ros2_curri/my_agv_ws/src/agv_vision/agv_vision/yolo_node.py</a:t>
            </a:r>
            <a:r>
              <a:rPr/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73152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self.declare_parameter('model_path', 'yolo11n.pt')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self.declare_parameter('confidence_threshold', 0.5)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self.declare_parameter('enable_yolo', False)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self.declare_parameter('enable_red_target_fallback', True)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self.declare_parameter('target_width_m', 0.25)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self.bridge = CvBridge()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self.publisher = self.create_publisher(DetectionArray, '/detections', 10)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self.debug_publisher = self.create_publisher(Image, '/vision/debug_image',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  qos_profile_sensor_data)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self.create_subscription(Image, '/camera/image_raw', self.callback,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  qos_profile_sensor_data)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self.model = None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입력 2/10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7/7: 코드 입력 (3/10)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~/ros2_curri/my_agv_ws/src/agv_vision/agv_vision/yolo_node.py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기반 AGV End-to-End 개발 커리큘럼 · M12 · Block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파일 7/7 · 입력 3/10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 블록이 하는 일: 앞에서 만든 node에 처리 로직과 publish/subscription 연결을 한 덩어리씩 추가합니다.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rPr/>
              <a:t>현재 열린 파일: ~/ros2_curri/my_agv_ws/src/agv_vision/agv_vision/yolo_node.py</a:t>
            </a:r>
            <a:r>
              <a:rPr/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73152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if self.get_parameter('enable_yolo').value: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  try: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      from ultralytics import YOLO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      self.model = YOLO(self.get_parameter('model_path').value)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      self.get_logger().info('YOLO model loaded')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  except ImportError: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      self.get_logger().error('ultralytics is not installed: follow M17 before enable_yolo:=true')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def make_detection(self, header, class_name, confidence, x1, y1, x2, y2, image_width):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"""Estimate distance with a pinhole model for the fixed 60-degree course camera."""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width = max(1, x2 - x1)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focal_px = image_width / (2.0 * 0.57735)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입력 3/10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7/7: 코드 입력 (4/10)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~/ros2_curri/my_agv_ws/src/agv_vision/agv_vision/yolo_node.py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기반 AGV End-to-End 개발 커리큘럼 · M12 · Block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파일 7/7 · 입력 4/10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 블록이 하는 일: 앞에서 만든 node에 처리 로직과 publish/subscription 연결을 한 덩어리씩 추가합니다.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rPr/>
              <a:t>현재 열린 파일: ~/ros2_curri/my_agv_ws/src/agv_vision/agv_vision/yolo_node.py</a:t>
            </a:r>
            <a:r>
              <a:rPr/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73152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distance = float(self.get_parameter('target_width_m').value) * focal_px / width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return Detection(header=header, class_name=class_name,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  confidence=float(confidence), center_x=(x1 + x2) // 2,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  center_y=(y1 + y2) // 2, width=width, height=max(1, y2 - y1),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  estimated_distance=distance)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def red_target_detection(self, image, header):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"""Dependency-free fallback for the red target placed in warehouse.sdf.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This is deliberately labelled as a fallback in the debug image.  It keeps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M17--M22 runnable before a learner downloads a YOLO model, while the same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Detection message and mission interface are used by real YOLO inference.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입력 4/10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7/7: 코드 입력 (5/10)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~/ros2_curri/my_agv_ws/src/agv_vision/agv_vision/yolo_node.py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기반 AGV End-to-End 개발 커리큘럼 · M12 · Block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파일 7/7 · 입력 5/10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 블록이 하는 일: 앞에서 만든 node에 처리 로직과 publish/subscription 연결을 한 덩어리씩 추가합니다.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rPr/>
              <a:t>현재 열린 파일: ~/ros2_curri/my_agv_ws/src/agv_vision/agv_vision/yolo_node.py</a:t>
            </a:r>
            <a:r>
              <a:rPr/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73152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"""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hsv = cv2.cvtColor(image, cv2.COLOR_BGR2HSV)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lower_red = cv2.inRange(hsv, (0, 90, 70), (12, 255, 255))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upper_red = cv2.inRange(hsv, (165, 90, 70), (179, 255, 255))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mask = cv2.bitwise_or(lower_red, upper_red)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contours, _ = cv2.findContours(mask, cv2.RETR_EXTERNAL, cv2.CHAIN_APPROX_SIMPLE)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if not contours: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  return None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contour = max(contours, key=cv2.contourArea)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if cv2.contourArea(contour) &lt; 80: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  return None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x, y, width, height = cv2.boundingRect(contour)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입력 5/10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7/7: 코드 입력 (6/10)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~/ros2_curri/my_agv_ws/src/agv_vision/agv_vision/yolo_node.py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기반 AGV End-to-End 개발 커리큘럼 · M12 · Block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파일 7/7 · 입력 6/10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 블록이 하는 일: 앞에서 만든 node에 처리 로직과 publish/subscription 연결을 한 덩어리씩 추가합니다.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rPr/>
              <a:t>현재 열린 파일: ~/ros2_curri/my_agv_ws/src/agv_vision/agv_vision/yolo_node.py</a:t>
            </a:r>
            <a:r>
              <a:rPr/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73152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return self.make_detection(header, 'red_target_fallback', 0.9, x, y, x + width,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  y + height, image.shape[1])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def callback(self, image_message):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image = self.bridge.imgmsg_to_cv2(image_message, desired_encoding='bgr8')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debug = image.copy()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output = DetectionArray(header=image_message.header)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label = 'no detection'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if self.model is not None: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  result = self.model(image, verbose=False)[0]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  threshold = self.get_parameter('confidence_threshold').value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  for box in result.boxes: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입력 6/10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7/7: 코드 입력 (7/10)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~/ros2_curri/my_agv_ws/src/agv_vision/agv_vision/yolo_node.py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기반 AGV End-to-End 개발 커리큘럼 · M12 · Block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파일 7/7 · 입력 7/10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 블록이 하는 일: 앞에서 만든 node에 처리 로직과 publish/subscription 연결을 한 덩어리씩 추가합니다.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rPr/>
              <a:t>현재 열린 파일: ~/ros2_curri/my_agv_ws/src/agv_vision/agv_vision/yolo_node.py</a:t>
            </a:r>
            <a:r>
              <a:rPr/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73152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      confidence = float(box.conf[0])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      if confidence &lt; threshold: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          continue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      x1, y1, x2, y2 = [int(value) for value in box.xyxy[0].tolist()]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      detection = self.make_detection(image_message.header,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          result.names[int(box.cls[0])], confidence, x1, y1, x2, y2,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          image.shape[1])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      output.detections.append(detection)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      cv2.rectangle(debug, (x1, y1), (x2, y2), (30, 220, 30), 2)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      label = f'YOLO {detection.class_name} {confidence:.2f}'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elif self.get_parameter('enable_red_target_fallback').value: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  detection = self.red_target_detection(image, image_message.header)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입력 7/10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7/7: 코드 입력 (8/10)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~/ros2_curri/my_agv_ws/src/agv_vision/agv_vision/yolo_node.py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기반 AGV End-to-End 개발 커리큘럼 · M12 · Block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파일 7/7 · 입력 8/10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 블록이 하는 일: 앞에서 만든 node에 처리 로직과 publish/subscription 연결을 한 덩어리씩 추가합니다.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rPr/>
              <a:t>현재 열린 파일: ~/ros2_curri/my_agv_ws/src/agv_vision/agv_vision/yolo_node.py</a:t>
            </a:r>
            <a:r>
              <a:rPr/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73152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  if detection is not None: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      output.detections.append(detection)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      x1 = detection.center_x - detection.width // 2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      y1 = detection.center_y - detection.height // 2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      x2, y2 = (x1 + detection.width, y1 + detection.height)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      cv2.rectangle(debug, (x1, y1), (x2, y2), (0, 215, 255), 2)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      label = f'course fallback target {detection.estimated_distance:.2f} m'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  else: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      label = 'course fallback: red target not visible'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cv2.putText(debug, label, (12, 28), cv2.FONT_HERSHEY_SIMPLEX, 0.65, (255, 255,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  255), 2)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self.publisher.publish(output)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입력 8/10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7/7: 코드 입력 (9/10)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~/ros2_curri/my_agv_ws/src/agv_vision/agv_vision/yolo_node.py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기반 AGV End-to-End 개발 커리큘럼 · M12 · Block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파일 7/7 · 입력 9/10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 블록이 하는 일: 앞에서 만든 node에 처리 로직과 publish/subscription 연결을 한 덩어리씩 추가합니다.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rPr/>
              <a:t>현재 열린 파일: ~/ros2_curri/my_agv_ws/src/agv_vision/agv_vision/yolo_node.py</a:t>
            </a:r>
            <a:r>
              <a:rPr/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73152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self.debug_publisher.publish(self.bridge.cv2_to_imgmsg(debug, encoding='bgr8'))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def main():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rclpy.init()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node = YoloNode()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try: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rclpy.spin(node)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except KeyboardInterrupt: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pass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finally: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node.destroy_node()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if rclpy.ok():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입력 9/10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7/7: 코드 입력 (10/10)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~/ros2_curri/my_agv_ws/src/agv_vision/agv_vision/yolo_node.py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기반 AGV End-to-End 개발 커리큘럼 · M12 · Block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파일 7/7 · 입력 10/10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 블록이 하는 일: 마지막 callback·timer·main을 입력해 node가 실제로 시작하고 계속 동작하게 만듭니다.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rPr/>
              <a:t>현재 열린 파일: ~/ros2_curri/my_agv_ws/src/agv_vision/agv_vision/yolo_node.py</a:t>
            </a:r>
            <a:r>
              <a:rPr/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73152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  rclpy.shutdown()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입력 10/10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뒤 실행 1/2: camera sensor 설정을 확인한다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방금 직접 만든 파일을 실행·검사하며 다음 파일로 넘어갈 기준을 만듭니다.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기반 AGV End-to-End 개발 커리큘럼 · M12 · Block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실행 1/2    |    현재 폴더 ~/ros2_curri/my_agv_ws    |    터미널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1719072"/>
            <a:ext cx="169164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225B9B"/>
                </a:solidFill>
                <a:latin typeface="Noto Sans CJK KR"/>
              </a:defRPr>
            </a:pPr>
            <a:r>
              <a:rPr/>
              <a:t>명령의 목적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" y="2002536"/>
            <a:ext cx="10789920" cy="51206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0">
                <a:solidFill>
                  <a:srgbClr val="122C4E"/>
                </a:solidFill>
                <a:latin typeface="Noto Sans CJK KR"/>
              </a:defRPr>
            </a:pPr>
            <a:r>
              <a:rPr/>
              <a:t>해상도·FOV·update_rate는 생성되는 영상의 크기와 주기를 정한다.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" y="2816352"/>
            <a:ext cx="1083564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225B9B"/>
                </a:solidFill>
                <a:latin typeface="Noto Sans CJK KR"/>
              </a:defRPr>
            </a:pPr>
            <a:r>
              <a:rPr/>
              <a:t>터미널 1 — 아래 검은 블록은 명령만 복사합니다.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6656" y="3154680"/>
            <a:ext cx="10835640" cy="1938528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rPr/>
              <a:t>rg -n '&lt;sensor name="camera"|&lt;width&gt;|&lt;height&gt;|&lt;horizontal_fov&gt;|&lt;update_rate&gt;' \</a:t>
            </a:r>
          </a:p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~/ros2_curri/my_agv_ws/src/agv_gazebo/models/agv/model.sdf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5276088"/>
            <a:ext cx="1056132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2A8B5A"/>
                </a:solidFill>
                <a:latin typeface="Noto Sans CJK KR"/>
              </a:defRPr>
            </a:pPr>
            <a:r>
              <a:rPr/>
              <a:t>터미널 1 역할: 터미널 1에서 이 명령만 그대로 복사해 실행합니다.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5916168"/>
            <a:ext cx="1056132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122C4E"/>
                </a:solidFill>
                <a:latin typeface="Noto Sans CJK KR"/>
              </a:defRPr>
            </a:pPr>
            <a:r>
              <a:rPr/>
              <a:t>확인: 출력에서 topic·frame·파일 이름 또는 성공 메시지를 찾고, 맞지 않으면 다음 파일로 가지 않습니다.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뒤 실행 2/2: Image topic을 확인한다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방금 직접 만든 파일을 실행·검사하며 다음 파일로 넘어갈 기준을 만듭니다.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기반 AGV End-to-End 개발 커리큘럼 · M12 · Block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실행 2/2    |    현재 폴더 ~/ros2_curri/my_agv_ws    |    터미널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1719072"/>
            <a:ext cx="169164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225B9B"/>
                </a:solidFill>
                <a:latin typeface="Noto Sans CJK KR"/>
              </a:defRPr>
            </a:pPr>
            <a:r>
              <a:rPr/>
              <a:t>명령의 목적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" y="2002536"/>
            <a:ext cx="10789920" cy="51206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0">
                <a:solidFill>
                  <a:srgbClr val="122C4E"/>
                </a:solidFill>
                <a:latin typeface="Noto Sans CJK KR"/>
              </a:defRPr>
            </a:pPr>
            <a:r>
              <a:rPr/>
              <a:t>topic 이름은 SDF sensor와 bridge YAML 양쪽에서 일치해야 한다.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" y="2816352"/>
            <a:ext cx="1083564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225B9B"/>
                </a:solidFill>
                <a:latin typeface="Noto Sans CJK KR"/>
              </a:defRPr>
            </a:pPr>
            <a:r>
              <a:rPr/>
              <a:t>터미널 1 — 아래 검은 블록은 명령만 복사합니다.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6656" y="3154680"/>
            <a:ext cx="10835640" cy="1938528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rPr/>
              <a:t>ros2 topic info /camera/image_raw</a:t>
            </a:r>
          </a:p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rPr/>
              <a:t>ros2 topic hz /camera/image_raw</a:t>
            </a:r>
          </a:p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rPr/>
              <a:t>ros2 run rqt_image_view rqt_image_view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5276088"/>
            <a:ext cx="1056132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2A8B5A"/>
                </a:solidFill>
                <a:latin typeface="Noto Sans CJK KR"/>
              </a:defRPr>
            </a:pPr>
            <a:r>
              <a:rPr/>
              <a:t>터미널 1 역할: 첫 터미널이 발행하는 데이터를 화면에서 확인하는 관찰용 창입니다.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5916168"/>
            <a:ext cx="1056132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122C4E"/>
                </a:solidFill>
                <a:latin typeface="Noto Sans CJK KR"/>
              </a:defRPr>
            </a:pPr>
            <a:r>
              <a:rPr/>
              <a:t>확인: 출력에서 topic·frame·파일 이름 또는 성공 메시지를 찾고, 맞지 않으면 다음 파일로 가지 않습니다.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build → source → run 순서로 실행한다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새 파일 또는 수정 파일은 build와 source 뒤에만 실행 이름·설정에 반영됩니다.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기반 AGV End-to-End 개발 커리큘럼 · M12 · Block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실행    |    현재 폴더 ~/ros2_curri/my_agv_ws    |    터미널 1 + 2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1719072"/>
            <a:ext cx="169164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225B9B"/>
                </a:solidFill>
                <a:latin typeface="Noto Sans CJK KR"/>
              </a:defRPr>
            </a:pPr>
            <a:r>
              <a:rPr/>
              <a:t>명령의 목적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" y="2002536"/>
            <a:ext cx="10789920" cy="51206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0">
                <a:solidFill>
                  <a:srgbClr val="122C4E"/>
                </a:solidFill>
                <a:latin typeface="Noto Sans CJK KR"/>
              </a:defRPr>
            </a:pPr>
            <a:r>
              <a:rPr/>
              <a:t>명령 순서를 바꾸지 않습니다. build가 끝난 뒤 source하고, 마지막 명령으로 node·Gazebo·RViz를 실행합니다.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" y="2679192"/>
            <a:ext cx="10789920" cy="23774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400" b="1">
                <a:solidFill>
                  <a:srgbClr val="DB7E22"/>
                </a:solidFill>
                <a:latin typeface="Noto Sans CJK KR"/>
              </a:defRPr>
            </a:pPr>
            <a:r>
              <a:rPr/>
              <a:t>두 터미널은 동시에 필요합니다. 각 검은 블록에는 그대로 복사할 명령만 들어 있습니다.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" y="3017520"/>
            <a:ext cx="5138928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225B9B"/>
                </a:solidFill>
                <a:latin typeface="Noto Sans CJK KR"/>
              </a:defRPr>
            </a:pPr>
            <a:r>
              <a:rPr/>
              <a:t>터미널 1 — 명령만 복사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6656" y="3328416"/>
            <a:ext cx="5138928" cy="1700784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source /opt/ros/jazzy/setup.bash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source ~/ros2_curri/my_agv_ws/install/setup.bash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ros2 launch agv_bringup agv_sim.launch.py rviz:=false autonomy:=false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5166360"/>
            <a:ext cx="4992624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300" b="1">
                <a:solidFill>
                  <a:srgbClr val="2A8B5A"/>
                </a:solidFill>
                <a:latin typeface="Noto Sans CJK KR"/>
              </a:defRPr>
            </a:pPr>
            <a:r>
              <a:rPr/>
              <a:t>터미널 1 역할: 시뮬레이터·bridge·node를 먼저 시작한 뒤 이 창은 종료하지 않고 둡니다.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90488" y="3017520"/>
            <a:ext cx="5138928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225B9B"/>
                </a:solidFill>
                <a:latin typeface="Noto Sans CJK KR"/>
              </a:defRPr>
            </a:pPr>
            <a:r>
              <a:rPr/>
              <a:t>터미널 2 — 명령만 복사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0488" y="3328416"/>
            <a:ext cx="5138928" cy="1700784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source /opt/ros/jazzy/setup.bash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source ~/ros2_curri/my_agv_ws/install/setup.bash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rqt_image_view /camera/image_raw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5166360"/>
            <a:ext cx="4992624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300" b="1">
                <a:solidFill>
                  <a:srgbClr val="2A8B5A"/>
                </a:solidFill>
                <a:latin typeface="Noto Sans CJK KR"/>
              </a:defRPr>
            </a:pPr>
            <a:r>
              <a:rPr/>
              <a:t>터미널 2 역할: 첫 터미널이 발행하는 데이터를 화면에서 확인하는 관찰용 창입니다.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" y="5916168"/>
            <a:ext cx="1056132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122C4E"/>
                </a:solidFill>
                <a:latin typeface="Noto Sans CJK KR"/>
              </a:defRPr>
            </a:pPr>
            <a:r>
              <a:rPr/>
              <a:t>확인: /camera/image_raw가 bridge를 통과하고 cv_bridge 소비 노드가 받을 준비가 된 상태를 확인한다.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정상 결과: 실제 환경에서 확인한 출력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실제 /camera/image_raw: AGV 전방 camera가 target·장애물 방향을 보는 원본 프레임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기반 AGV End-to-End 개발 커리큘럼 · M12 · Block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4076" y="1353312"/>
            <a:ext cx="6400800" cy="4800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" y="6144768"/>
            <a:ext cx="10607040" cy="31089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2A8B5A"/>
                </a:solidFill>
                <a:latin typeface="Noto Sans CJK KR"/>
              </a:defRPr>
            </a:pPr>
            <a:r>
              <a:rPr/>
              <a:t>화면에서 확인: 빨간 target과 노란 장애물의 화면 위치로 camera pose·FOV를 판단합니다.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정상 결과: 실제 환경에서 확인한 출력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실제 GNOME Terminal: camera Image type·publisher/subscriber·publish rate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기반 AGV End-to-End 개발 커리큘럼 · M12 · Block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9770" y="1353312"/>
            <a:ext cx="6609411" cy="4800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" y="6144768"/>
            <a:ext cx="10607040" cy="31089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2A8B5A"/>
                </a:solidFill>
                <a:latin typeface="Noto Sans CJK KR"/>
              </a:defRPr>
            </a:pPr>
            <a:r>
              <a:rPr/>
              <a:t>화면에서 확인: Image 타입, publisher 1개 이상, average rate를 함께 찾습니다.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정상 결과: 실제 환경에서 확인한 출력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실제 /vision/debug_image: fallback 검출 결과가 target box·거리로 표시된 화면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기반 AGV End-to-End 개발 커리큘럼 · M12 · Block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4076" y="1353312"/>
            <a:ext cx="6400800" cy="4800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" y="6144768"/>
            <a:ext cx="10607040" cy="31089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2A8B5A"/>
                </a:solidFill>
                <a:latin typeface="Noto Sans CJK KR"/>
              </a:defRPr>
            </a:pPr>
            <a:r>
              <a:rPr/>
              <a:t>화면에서 확인: 노란 box와 ‘target … m’ 텍스트가 raw frame 처리 결과인지 확인합니다.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정상 결과: 실제 환경에서 확인한 출력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실제 ROS 2 환경의 파일·패키지·구성 검증 로그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기반 AGV End-to-End 개발 커리큘럼 · M12 · Block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56" y="1884338"/>
            <a:ext cx="10607040" cy="373854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" y="6144768"/>
            <a:ext cx="10607040" cy="31089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2A8B5A"/>
                </a:solidFill>
                <a:latin typeface="Noto Sans CJK KR"/>
              </a:defRPr>
            </a:pPr>
            <a:r>
              <a:rPr/>
              <a:t>화면에서 확인: ① 명령/설정  ② 정상 출력 또는 화면  ③ 다음 검증 명령으로 재확인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객관적 검증 명령으로 완료를 확인한다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화면만 보지 말고 topic·frame·파일·parameter를 다시 확인합니다.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기반 AGV End-to-End 개발 커리큘럼 · M12 · Block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검증    |    현재 폴더 ~/ros2_curri/my_agv_ws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755648"/>
            <a:ext cx="10972800" cy="214884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rPr/>
              <a:t>ros2 topic info /camera/image_raw</a:t>
            </a:r>
          </a:p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rPr/>
              <a:t>ros2 topic hz /camera/image_raw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4206240"/>
            <a:ext cx="10972800" cy="1554480"/>
          </a:xfrm>
          <a:prstGeom prst="roundRect">
            <a:avLst/>
          </a:prstGeom>
          <a:solidFill>
            <a:srgbClr val="F4F7FB"/>
          </a:solidFill>
          <a:ln>
            <a:solidFill>
              <a:srgbClr val="D1DF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800" b="1">
                <a:solidFill>
                  <a:srgbClr val="2A8B5A"/>
                </a:solidFill>
                <a:latin typeface="Noto Sans CJK KR"/>
              </a:defRPr>
            </a:pPr>
            <a:r>
              <a:rPr/>
              <a:t>완료 체크</a:t>
            </a:r>
            <a:r>
              <a:rPr/>
              <a:t>□ 명령이 오류 없이 실행된다.</a:t>
            </a:r>
            <a:r>
              <a:rPr/>
              <a:t>□ 기대한 파일·topic·frame·parameter 이름이 보인다.</a:t>
            </a:r>
            <a:r>
              <a:rPr/>
              <a:t>□ 값의 단위와 방향을 한 문장으로 설명할 수 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989320"/>
            <a:ext cx="10789920" cy="23774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22C4E"/>
                </a:solidFill>
                <a:latin typeface="Noto Sans CJK KR"/>
              </a:defRPr>
            </a:pPr>
            <a:r>
              <a:rPr/>
              <a:t>완료 조건: /camera/image_raw가 bridge를 통과하고 cv_bridge 소비 노드가 받을 준비가 된 상태를 확인한다.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막히면: 증상 → 우선 확인 → 재검증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오류 메시지를 숨기지 않고 같은 순서로 점검합니다.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기반 AGV End-to-End 개발 커리큘럼 · M12 · Block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오류 대응    |    현재 폴더 ~/ros2_curri/my_agv_ws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" y="1755648"/>
            <a:ext cx="10972800" cy="1115568"/>
          </a:xfrm>
          <a:prstGeom prst="roundRect">
            <a:avLst/>
          </a:prstGeom>
          <a:solidFill>
            <a:srgbClr val="FFF7F4"/>
          </a:solidFill>
          <a:ln>
            <a:solidFill>
              <a:srgbClr val="EDB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896112" y="1901952"/>
            <a:ext cx="292608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BE3B3B"/>
                </a:solidFill>
                <a:latin typeface="Noto Sans CJK KR"/>
              </a:defRPr>
            </a:pPr>
            <a:r>
              <a:rPr/>
              <a:t>증상 1: 영상이 검정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94760" y="1883664"/>
            <a:ext cx="7543800" cy="62179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600" b="0">
                <a:solidFill>
                  <a:srgbClr val="122C4E"/>
                </a:solidFill>
                <a:latin typeface="Noto Sans CJK KR"/>
              </a:defRPr>
            </a:pPr>
            <a:r>
              <a:rPr/>
              <a:t>우선 확인: camera pose/FOV·world light·clipping range를 확인한다.</a:t>
            </a:r>
            <a:r>
              <a:rPr/>
              <a:t>수정 후: ros2 topic info /camera/image_raw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" y="3172968"/>
            <a:ext cx="10972800" cy="1115568"/>
          </a:xfrm>
          <a:prstGeom prst="roundRect">
            <a:avLst/>
          </a:prstGeom>
          <a:solidFill>
            <a:srgbClr val="FFF7F4"/>
          </a:solidFill>
          <a:ln>
            <a:solidFill>
              <a:srgbClr val="EDB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896112" y="3319272"/>
            <a:ext cx="292608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BE3B3B"/>
                </a:solidFill>
                <a:latin typeface="Noto Sans CJK KR"/>
              </a:defRPr>
            </a:pPr>
            <a:r>
              <a:rPr/>
              <a:t>증상 2: RViz 이미지가 비어 있음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94760" y="3300984"/>
            <a:ext cx="7543800" cy="62179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600" b="0">
                <a:solidFill>
                  <a:srgbClr val="122C4E"/>
                </a:solidFill>
                <a:latin typeface="Noto Sans CJK KR"/>
              </a:defRPr>
            </a:pPr>
            <a:r>
              <a:rPr/>
              <a:t>우선 확인: Image topic·QoS·bridge mapping을 확인한다.</a:t>
            </a:r>
            <a:r>
              <a:rPr/>
              <a:t>수정 후: ros2 topic info /camera/image_raw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102352"/>
            <a:ext cx="10607040" cy="40233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800" b="1">
                <a:solidFill>
                  <a:srgbClr val="DB7E22"/>
                </a:solidFill>
                <a:latin typeface="Noto Sans CJK KR"/>
              </a:defRPr>
            </a:pPr>
            <a:r>
              <a:rPr/>
              <a:t>공통 순서: ① 현재 폴더 ② source ③ 파일 경로 ④ 이름/타입/단위 ⑤ build·source 후 재실행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막혔을 때만: Complete를 복구용으로 사용한다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이 슬라이드가 먼저가 아닙니다. 직접 입력·실행을 시도한 뒤에만 내 파일과 Complete를 비교합니다.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기반 AGV End-to-End 개발 커리큘럼 · M12 · Block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복구용 Complete    |    현재 폴더 ~/ros2_curri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664208"/>
            <a:ext cx="10698480" cy="40233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800" b="1">
                <a:solidFill>
                  <a:srgbClr val="DB7E22"/>
                </a:solidFill>
                <a:latin typeface="Noto Sans CJK KR"/>
              </a:defRPr>
            </a:pPr>
            <a:r>
              <a:rPr/>
              <a:t>권장 순서: ① 내 오류를 확인  ② Complete와 diff  ③ 꼭 필요할 때만 backup 후 복사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6656" y="2423160"/>
            <a:ext cx="10881360" cy="260604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cd ~/ros2_curri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diff -ru my_agv_ws/src blocks/D_sensors/M12_camera_sensor/complete/agv_ws/src || true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cp -a my_agv_ws/src my_agv_ws/src_before_M12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cp -a blocks/D_sensors/M12_camera_sensor/complete/agv_ws/src/. my_agv_ws/src/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cd my_agv_ws &amp;&amp; colcon build --symlink-install &amp;&amp; source install/setup.bash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5413248"/>
            <a:ext cx="10424160" cy="4297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700" b="1">
                <a:solidFill>
                  <a:srgbClr val="2A8B5A"/>
                </a:solidFill>
                <a:latin typeface="Noto Sans CJK KR"/>
              </a:defRPr>
            </a:pPr>
            <a:r>
              <a:rPr/>
              <a:t>복구 뒤에는 끝내지 말고, 내 파일과 Complete의 차이를 한 줄씩 설명한 뒤 다시 직접 입력해 봅니다.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미니 실습: 값 하나를 바꾸고 결과를 비교한다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정상 결과를 만든 뒤에는 한 번에 하나의 값만 바꿉니다.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기반 AGV End-to-End 개발 커리큘럼 · M12 · Block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미니 실습    |    현재 폴더 ~/ros2_curri/my_agv_ws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874519"/>
            <a:ext cx="10652760" cy="1993392"/>
          </a:xfrm>
          <a:prstGeom prst="roundRect">
            <a:avLst/>
          </a:prstGeom>
          <a:solidFill>
            <a:srgbClr val="FFF8EB"/>
          </a:solidFill>
          <a:ln>
            <a:solidFill>
              <a:srgbClr val="ECC6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2300" b="1">
                <a:solidFill>
                  <a:srgbClr val="122C4E"/>
                </a:solidFill>
                <a:latin typeface="Noto Sans CJK KR"/>
              </a:defRPr>
            </a:pPr>
            <a:r>
              <a:rPr/>
              <a:t>camera update_rate 15→5 Hz와 width 640→320을 각각 바꾸고 topic hz와 처리량 차이를 기록한다.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4590288"/>
            <a:ext cx="10241280" cy="5943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900" b="1">
                <a:solidFill>
                  <a:srgbClr val="DB7E22"/>
                </a:solidFill>
                <a:latin typeface="Noto Sans CJK KR"/>
              </a:defRPr>
            </a:pPr>
            <a:r>
              <a:rPr/>
              <a:t>기록할 것: 바꾼 값(단위) · 기대한 변화 · 실제 출력/화면 · 원래 값으로 되돌린 결과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내 프로젝트 체크포인트를 저장하고 다음 모듈로 넘긴다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Complete는 복구용 비교 기준이고, 다음 단계는 내가 직접 만든 workspace에서 계속합니다.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기반 AGV End-to-End 개발 커리큘럼 · M12 · Block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체크포인트    |    현재 폴더 ~/ros2_curri/my_agv_ws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737360"/>
            <a:ext cx="10972800" cy="3611880"/>
          </a:xfrm>
          <a:prstGeom prst="roundRect">
            <a:avLst/>
          </a:prstGeom>
          <a:solidFill>
            <a:srgbClr val="F4F7FB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896112" y="1993392"/>
            <a:ext cx="10332720" cy="297180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22C4E"/>
                </a:solidFill>
                <a:latin typeface="Noto Sans CJK KR"/>
              </a:defRPr>
            </a:pPr>
            <a:r>
              <a:rPr/>
              <a:t>• □ 완료 화면: /camera/image_raw가 bridge를 통과하고 cv_bridge 소비 노드가 받을 준비가 된 상태를 확인한다.</a:t>
            </a:r>
          </a:p>
          <a:p>
            <a:pPr>
              <a:spcAft>
                <a:spcPts val="800"/>
              </a:spcAft>
              <a:defRPr sz="1800">
                <a:solidFill>
                  <a:srgbClr val="122C4E"/>
                </a:solidFill>
                <a:latin typeface="Noto Sans CJK KR"/>
              </a:defRPr>
            </a:pPr>
            <a:r>
              <a:rPr/>
              <a:t>• □ 막혔을 때 비교할 Complete: blocks/D_sensors/M12_camera_sensor/complete/</a:t>
            </a:r>
          </a:p>
          <a:p>
            <a:pPr>
              <a:spcAft>
                <a:spcPts val="800"/>
              </a:spcAft>
              <a:defRPr sz="1800">
                <a:solidFill>
                  <a:srgbClr val="122C4E"/>
                </a:solidFill>
                <a:latin typeface="Noto Sans CJK KR"/>
              </a:defRPr>
            </a:pPr>
            <a:r>
              <a:rPr/>
              <a:t>• □ 정상 로그·캡처: logs/validation.log, screenshots/validation_terminal.png</a:t>
            </a:r>
          </a:p>
          <a:p>
            <a:pPr>
              <a:spcAft>
                <a:spcPts val="800"/>
              </a:spcAft>
              <a:defRPr sz="1800">
                <a:solidFill>
                  <a:srgbClr val="122C4E"/>
                </a:solidFill>
                <a:latin typeface="Noto Sans CJK KR"/>
              </a:defRPr>
            </a:pPr>
            <a:r>
              <a:rPr/>
              <a:t>• □ 버전 식별: CHECKSUM_or_TAG.txt의 SHA-256 manifest</a:t>
            </a:r>
          </a:p>
          <a:p>
            <a:pPr>
              <a:spcAft>
                <a:spcPts val="800"/>
              </a:spcAft>
              <a:defRPr sz="1800">
                <a:solidFill>
                  <a:srgbClr val="122C4E"/>
                </a:solidFill>
                <a:latin typeface="Noto Sans CJK KR"/>
              </a:defRPr>
            </a:pPr>
            <a:r>
              <a:rPr/>
              <a:t>• □ 다음 시작 조건: M13 LiDAR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5596128"/>
            <a:ext cx="10515600" cy="33832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700" b="1">
                <a:solidFill>
                  <a:srgbClr val="2A8B5A"/>
                </a:solidFill>
                <a:latin typeface="Noto Sans CJK KR"/>
              </a:defRPr>
            </a:pPr>
            <a:r>
              <a:rPr/>
              <a:t>다음 모듈을 시작하기 전, 내 src의 변경사항을 저장하고 현재 완료 조건을 다시 확인합니다.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공식 참고 자료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본문 단계는 링크를 열지 않아도 완료할 수 있으며, 링크는 개념을 더 확인할 때만 사용합니다.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기반 AGV End-to-End 개발 커리큘럼 · M12 · Block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54480"/>
            <a:ext cx="10972800" cy="4526280"/>
          </a:xfrm>
          <a:prstGeom prst="roundRect">
            <a:avLst/>
          </a:prstGeom>
          <a:solidFill>
            <a:srgbClr val="F4F7FB"/>
          </a:solidFill>
          <a:ln>
            <a:solidFill>
              <a:srgbClr val="D7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914400" y="1773936"/>
            <a:ext cx="384048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122C4E"/>
                </a:solidFill>
                <a:latin typeface="Noto Sans CJK KR"/>
              </a:defRPr>
            </a:pPr>
            <a:r>
              <a:rPr/>
              <a:t>ROS 2 Jazzy — Gazebo Simulation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48255"/>
            <a:ext cx="9966960" cy="47548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225B9B"/>
                </a:solidFill>
                <a:latin typeface="DejaVu Sans Mono"/>
              </a:defRPr>
            </a:pPr>
            <a:r>
              <a:rPr/>
              <a:t>https://docs.ros.org/en/jazzy/Tutorials/Advanced/Simulators/Gazebo/Simulation-Gazebo.html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852928"/>
            <a:ext cx="384048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122C4E"/>
                </a:solidFill>
                <a:latin typeface="Noto Sans CJK KR"/>
              </a:defRPr>
            </a:pPr>
            <a:r>
              <a:rPr/>
              <a:t>ROS 2 Jazzy — URDF / robot_state_publisher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127248"/>
            <a:ext cx="9966960" cy="47548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225B9B"/>
                </a:solidFill>
                <a:latin typeface="DejaVu Sans Mono"/>
              </a:defRPr>
            </a:pPr>
            <a:r>
              <a:rPr/>
              <a:t>https://docs.ros.org/en/jazzy/Tutorials/Intermediate/URDF/Using-URDF-with-Robot-State-Publisher-py.html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931920"/>
            <a:ext cx="384048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122C4E"/>
                </a:solidFill>
                <a:latin typeface="Noto Sans CJK KR"/>
              </a:defRPr>
            </a:pPr>
            <a:r>
              <a:rPr/>
              <a:t>Gazebo — ROS 2 Integration / ros_gz_bridge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206240"/>
            <a:ext cx="9966960" cy="47548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225B9B"/>
                </a:solidFill>
                <a:latin typeface="DejaVu Sans Mono"/>
              </a:defRPr>
            </a:pPr>
            <a:r>
              <a:rPr/>
              <a:t>https://gazebosim.org/docs/latest/ros2_integration/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010912"/>
            <a:ext cx="384048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122C4E"/>
                </a:solidFill>
                <a:latin typeface="Noto Sans CJK KR"/>
              </a:defRPr>
            </a:pPr>
            <a:r>
              <a:rPr/>
              <a:t>ROS 2 Jazzy — rosbag2 Recording and Playback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285232"/>
            <a:ext cx="9966960" cy="47548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225B9B"/>
                </a:solidFill>
                <a:latin typeface="DejaVu Sans Mono"/>
              </a:defRPr>
            </a:pPr>
            <a:r>
              <a:rPr/>
              <a:t>https://docs.ros.org/en/jazzy/Tutorials/Beginner-CLI-Tools/Recording-And-Playing-Back-Data/Recording-And-Playing-Back-Data.html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22C4E"/>
          </a:solidFill>
          <a:ln>
            <a:solidFill>
              <a:srgbClr val="122C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31089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Noto Sans CJK KR"/>
              </a:defRPr>
            </a:pPr>
            <a:r>
              <a:t>Block D · 2/4 · M13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515600" cy="6400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defRPr sz="3400" b="1">
                <a:solidFill>
                  <a:srgbClr val="122C4E"/>
                </a:solidFill>
                <a:latin typeface="Noto Sans CJK KR"/>
              </a:defRPr>
            </a:pPr>
            <a:r>
              <a:t>2D LiDAR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0120" y="3108960"/>
            <a:ext cx="10287000" cy="1325880"/>
          </a:xfrm>
          <a:prstGeom prst="round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900" b="1">
                <a:solidFill>
                  <a:srgbClr val="122C4E"/>
                </a:solidFill>
                <a:latin typeface="Noto Sans CJK KR"/>
              </a:defRPr>
            </a:pPr>
            <a:r>
              <a:t>M13의 독립 PPT 전체를 바로 다음 슬라이드부터 순서대로 진행합니다.</a:t>
            </a:r>
            <a:br/>
            <a:r>
              <a:t>이 Block 통합본에서도 Starter → 파일 작성 → 실행 → 검증 → 오류 대응 → Checkpoint 순서는 바뀌지 않습니다.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897880"/>
            <a:ext cx="1042416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defRPr sz="1500" b="1">
                <a:solidFill>
                  <a:srgbClr val="2A8B5A"/>
                </a:solidFill>
                <a:latin typeface="Noto Sans CJK KR"/>
              </a:defRPr>
            </a:pPr>
            <a:r>
              <a:t>모듈을 건너뛰지 말고, 이전 M의 Complete가 준비된 뒤 다음 M으로 이동합니다.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2C4E"/>
          </a:solidFill>
          <a:ln>
            <a:solidFill>
              <a:srgbClr val="122C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1400" b="1">
                <a:solidFill>
                  <a:srgbClr val="FFFFFF"/>
                </a:solidFill>
                <a:latin typeface="Noto Sans CJK KR"/>
              </a:defRPr>
            </a:pPr>
            <a:r>
              <a:rPr/>
              <a:t>ROS 2 기반 AGV End-to-End 개발 커리큘럼 · M13 · Block 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600200"/>
            <a:ext cx="10698480" cy="10058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3400" b="1">
                <a:solidFill>
                  <a:srgbClr val="122C4E"/>
                </a:solidFill>
                <a:latin typeface="Noto Sans CJK KR"/>
              </a:defRPr>
            </a:pPr>
            <a:r>
              <a:rPr/>
              <a:t>2D LiDAR / LaserScan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834640"/>
            <a:ext cx="10149840" cy="5029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2200" b="1">
                <a:solidFill>
                  <a:srgbClr val="2A8B5A"/>
                </a:solidFill>
                <a:latin typeface="Noto Sans CJK KR"/>
              </a:defRPr>
            </a:pPr>
            <a:r>
              <a:rPr/>
              <a:t>/scan frame·RViz point·/obstacle_distance 출력이 장애물 위치에 반응한다.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3822191"/>
            <a:ext cx="9418320" cy="1051560"/>
          </a:xfrm>
          <a:prstGeom prst="round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1800" b="1">
                <a:solidFill>
                  <a:srgbClr val="122C4E"/>
                </a:solidFill>
                <a:latin typeface="Noto Sans CJK KR"/>
              </a:defRPr>
            </a:pPr>
            <a:r>
              <a:rPr/>
              <a:t>기준 환경</a:t>
            </a:r>
            <a:r>
              <a:rPr/>
              <a:t>Ubuntu 24.04 LTS · ROS 2 Jazzy · Gazebo Harmonic · RViz2 · Python(rclpy)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080760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0">
                <a:solidFill>
                  <a:srgbClr val="5C6672"/>
                </a:solidFill>
                <a:latin typeface="Noto Sans CJK KR"/>
              </a:defRPr>
            </a:pPr>
            <a:r>
              <a:rPr/>
              <a:t>이 PPT에서 폴더 생성 → 빈 파일 열기 → 코드 입력·저장 → build/run → 검증을 직접 반복합니다.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기반 AGV End-to-End 개발 커리큘럼 · M13 · Block 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전체 과정에서 현재 위치를 확인한다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앞 모듈의 Complete가 현재 Starter가 되고, 현재 Complete가 다음 모듈로 넘어갑니다.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기반 AGV End-to-End 개발 커리큘럼 · M13 · Block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2377440"/>
            <a:ext cx="32461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5C66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2000" b="1">
                <a:solidFill>
                  <a:srgbClr val="5C6672"/>
                </a:solidFill>
                <a:latin typeface="Noto Sans CJK KR"/>
              </a:defRPr>
            </a:pPr>
            <a:r>
              <a:rPr/>
              <a:t>M12 Camera pipeline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968496" y="3035808"/>
            <a:ext cx="457200" cy="0"/>
          </a:xfrm>
          <a:prstGeom prst="line">
            <a:avLst/>
          </a:prstGeom>
          <a:ln w="38100">
            <a:solidFill>
              <a:srgbClr val="5C66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553712" y="2377440"/>
            <a:ext cx="32461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2000" b="1">
                <a:solidFill>
                  <a:srgbClr val="225B9B"/>
                </a:solidFill>
                <a:latin typeface="Noto Sans CJK KR"/>
              </a:defRPr>
            </a:pPr>
            <a:r>
              <a:rPr/>
              <a:t>M13</a:t>
            </a:r>
            <a:r>
              <a:rPr/>
              <a:t>2D LiDAR / LaserScan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808976" y="3035808"/>
            <a:ext cx="457199" cy="0"/>
          </a:xfrm>
          <a:prstGeom prst="line">
            <a:avLst/>
          </a:prstGeom>
          <a:ln w="38100">
            <a:solidFill>
              <a:srgbClr val="225B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8394192" y="2377440"/>
            <a:ext cx="32461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2A8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2000" b="1">
                <a:solidFill>
                  <a:srgbClr val="2A8B5A"/>
                </a:solidFill>
                <a:latin typeface="Noto Sans CJK KR"/>
              </a:defRPr>
            </a:pPr>
            <a:r>
              <a:rPr/>
              <a:t>M14 IMU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617720"/>
            <a:ext cx="10424160" cy="56692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22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이번 모듈의 인계: /scan frame·RViz point·/obstacle_distance 출력이 장애물 위치에 반응한다.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시작 상태를 먼저 맞춘다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실습 시작 전에 현재 폴더·이전 파일·실행 프로그램을 확인합니다.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기반 AGV End-to-End 개발 커리큘럼 · M13 · Block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시작    |    현재 폴더 ~/ros2_curri/my_agv_ws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1783080"/>
            <a:ext cx="10972800" cy="3429000"/>
          </a:xfrm>
          <a:prstGeom prst="roundRect">
            <a:avLst/>
          </a:prstGeom>
          <a:solidFill>
            <a:srgbClr val="F4F7FB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914400" y="2011680"/>
            <a:ext cx="10424160" cy="283464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122C4E"/>
                </a:solidFill>
                <a:latin typeface="Noto Sans CJK KR"/>
              </a:defRPr>
            </a:pPr>
            <a:r>
              <a:rPr/>
              <a:t>• 시작 상태: lidar_link가 있고 World에 벽·박스가 배치된 상태.</a:t>
            </a:r>
          </a:p>
          <a:p>
            <a:pPr>
              <a:spcAft>
                <a:spcPts val="800"/>
              </a:spcAft>
              <a:defRPr sz="1900">
                <a:solidFill>
                  <a:srgbClr val="122C4E"/>
                </a:solidFill>
                <a:latin typeface="Noto Sans CJK KR"/>
              </a:defRPr>
            </a:pPr>
            <a:r>
              <a:rPr/>
              <a:t>• 이전 Complete: M12 Camera pipeline</a:t>
            </a:r>
          </a:p>
          <a:p>
            <a:pPr>
              <a:spcAft>
                <a:spcPts val="800"/>
              </a:spcAft>
              <a:defRPr sz="1900">
                <a:solidFill>
                  <a:srgbClr val="122C4E"/>
                </a:solidFill>
                <a:latin typeface="Noto Sans CJK KR"/>
              </a:defRPr>
            </a:pPr>
            <a:r>
              <a:rPr/>
              <a:t>• 현재 폴더: ~/ros2_curri/my_agv_ws</a:t>
            </a:r>
          </a:p>
          <a:p>
            <a:pPr>
              <a:spcAft>
                <a:spcPts val="800"/>
              </a:spcAft>
              <a:defRPr sz="1900">
                <a:solidFill>
                  <a:srgbClr val="122C4E"/>
                </a:solidFill>
                <a:latin typeface="Noto Sans CJK KR"/>
              </a:defRPr>
            </a:pPr>
            <a:r>
              <a:rPr/>
              <a:t>• 새 터미널마다: source /opt/ros/jazzy/setup.bash → source install/setup.bash</a:t>
            </a:r>
          </a:p>
          <a:p>
            <a:pPr>
              <a:spcAft>
                <a:spcPts val="800"/>
              </a:spcAft>
              <a:defRPr sz="1900">
                <a:solidFill>
                  <a:srgbClr val="122C4E"/>
                </a:solidFill>
                <a:latin typeface="Noto Sans CJK KR"/>
              </a:defRPr>
            </a:pPr>
            <a:r>
              <a:rPr/>
              <a:t>• 파일 경로는 PPT와 Complete 폴더에서 같은 이름으로 유지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5532120"/>
            <a:ext cx="10515600" cy="3200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2A8B5A"/>
                </a:solidFill>
                <a:latin typeface="Noto Sans CJK KR"/>
              </a:defRPr>
            </a:pPr>
            <a:r>
              <a:rPr/>
              <a:t>확인: pwd가 ~/ros2_curri/my_agv_ws이고, 이전 모듈의 완료 조건을 한 문장으로 설명할 수 있으면 시작합니다.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이번 모듈의 눈으로 확인할 완료 조건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‘이해했다’가 아니라 실제로 보이는 결과를 기준으로 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기반 AGV End-to-End 개발 커리큘럼 · M13 · Block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700784"/>
            <a:ext cx="10744200" cy="1325880"/>
          </a:xfrm>
          <a:prstGeom prst="roundRect">
            <a:avLst/>
          </a:prstGeom>
          <a:solidFill>
            <a:srgbClr val="EEF7F1"/>
          </a:solidFill>
          <a:ln>
            <a:solidFill>
              <a:srgbClr val="A8D3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2500" b="1">
                <a:solidFill>
                  <a:srgbClr val="122C4E"/>
                </a:solidFill>
                <a:latin typeface="Noto Sans CJK KR"/>
              </a:defRPr>
            </a:pPr>
            <a:r>
              <a:rPr/>
              <a:t>LaserScan 범위 배열에서 전방 ±15° 유효 거리의 최소값을 계산한다.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3401568"/>
            <a:ext cx="10744200" cy="1325880"/>
          </a:xfrm>
          <a:prstGeom prst="roundRect">
            <a:avLst/>
          </a:prstGeom>
          <a:solidFill>
            <a:srgbClr val="F4F7FB"/>
          </a:solidFill>
          <a:ln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2200" b="1">
                <a:solidFill>
                  <a:srgbClr val="2A8B5A"/>
                </a:solidFill>
                <a:latin typeface="Noto Sans CJK KR"/>
              </a:defRPr>
            </a:pPr>
            <a:r>
              <a:rPr/>
              <a:t>완료 화면/결과</a:t>
            </a:r>
            <a:r>
              <a:rPr/>
              <a:t>/scan frame·RViz point·/obstacle_distance 출력이 장애물 위치에 반응한다.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5349240"/>
            <a:ext cx="10424160" cy="4114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800" b="0">
                <a:solidFill>
                  <a:srgbClr val="122C4E"/>
                </a:solidFill>
                <a:latin typeface="Noto Sans CJK KR"/>
              </a:defRPr>
            </a:pPr>
            <a:r>
              <a:rPr/>
              <a:t>종료 전에는 ‘무엇이 보이면 성공인가’를 terminal 또는 Gazebo/RViz 화면에서 반드시 확인합니다.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프로젝트에 이번 기능을 직접 추가한다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완성본을 먼저 복사하지 않습니다. 빈 workspace에 지금 필요한 폴더와 파일을 하나씩 만듭니다.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기반 AGV End-to-End 개발 커리큘럼 · M13 · Block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프로젝트 조립    |    현재 폴더 ~/ros2_curri/my_agv_ws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55648"/>
            <a:ext cx="10835640" cy="1033271"/>
          </a:xfrm>
          <a:prstGeom prst="roundRect">
            <a:avLst/>
          </a:prstGeom>
          <a:solidFill>
            <a:srgbClr val="F4F7FB"/>
          </a:solidFill>
          <a:ln>
            <a:solidFill>
              <a:srgbClr val="5C66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960120" y="1911095"/>
            <a:ext cx="19202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5C6672"/>
                </a:solidFill>
                <a:latin typeface="Noto Sans CJK KR"/>
              </a:defRPr>
            </a:pPr>
            <a:r>
              <a:rPr/>
              <a:t>이미 있는 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88920" y="1892807"/>
            <a:ext cx="8229600" cy="56692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122C4E"/>
                </a:solidFill>
                <a:latin typeface="Noto Sans CJK KR"/>
              </a:defRPr>
            </a:pPr>
            <a:r>
              <a:rPr/>
              <a:t>M12 Camera pipeline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81528"/>
            <a:ext cx="10835640" cy="1033271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960120" y="3236976"/>
            <a:ext cx="19202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225B9B"/>
                </a:solidFill>
                <a:latin typeface="Noto Sans CJK KR"/>
              </a:defRPr>
            </a:pPr>
            <a:r>
              <a:rPr/>
              <a:t>이번에 직접 만들 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88920" y="3218688"/>
            <a:ext cx="8229600" cy="56692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122C4E"/>
                </a:solidFill>
                <a:latin typeface="Noto Sans CJK KR"/>
              </a:defRPr>
            </a:pPr>
            <a:r>
              <a:rPr/>
              <a:t>LaserScan 범위 배열에서 전방 ±15° 유효 거리의 최소값을 계산한다.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407408"/>
            <a:ext cx="10835640" cy="1033271"/>
          </a:xfrm>
          <a:prstGeom prst="roundRect">
            <a:avLst/>
          </a:prstGeom>
          <a:solidFill>
            <a:srgbClr val="F4F7FB"/>
          </a:solidFill>
          <a:ln>
            <a:solidFill>
              <a:srgbClr val="2A8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960120" y="4562856"/>
            <a:ext cx="19202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2A8B5A"/>
                </a:solidFill>
                <a:latin typeface="Noto Sans CJK KR"/>
              </a:defRPr>
            </a:pPr>
            <a:r>
              <a:rPr/>
              <a:t>만들고 나서 확인할 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88920" y="4544568"/>
            <a:ext cx="8229600" cy="56692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122C4E"/>
                </a:solidFill>
                <a:latin typeface="Noto Sans CJK KR"/>
              </a:defRPr>
            </a:pPr>
            <a:r>
              <a:rPr/>
              <a:t>/scan frame·RViz point·/obstacle_distance 출력이 장애물 위치에 반응한다.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" y="5833872"/>
            <a:ext cx="10561320" cy="3657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DB7E22"/>
                </a:solidFill>
                <a:latin typeface="Noto Sans CJK KR"/>
              </a:defRPr>
            </a:pPr>
            <a:r>
              <a:rPr/>
              <a:t>이번 모듈에서는 3개 파일을 빈 상태에서 직접 만듭니다. 다음 슬라이드의 명령을 입력한 뒤에만 코드를 작성합니다.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먼저 이번 단계의 완료 모습을 본다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지금부터 폴더·파일·코드를 만들면 아래의 실제 결과에 도달합니다. 보이는 기준을 기억한 뒤 구현합니다.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기반 AGV End-to-End 개발 커리큘럼 · M13 · Block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4190" y="1389888"/>
            <a:ext cx="6420570" cy="46634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" y="6126480"/>
            <a:ext cx="106070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2A8B5A"/>
                </a:solidFill>
                <a:latin typeface="Noto Sans CJK KR"/>
              </a:defRPr>
            </a:pPr>
            <a:r>
              <a:rPr/>
              <a:t>목표 화면: 실제 GNOME Terminal: LaserScan frame·angle·range와 publish rate  |  나중에 확인할 것: frame_id, ±pi angle, range_min/max, average rate를 순서대로 읽습니다.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먼저 이번 단계의 완료 모습을 본다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지금부터 폴더·파일·코드를 만들면 아래의 실제 결과에 도달합니다. 보이는 기준을 기억한 뒤 구현합니다.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기반 AGV End-to-End 개발 커리큘럼 · M13 · Block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0639" y="1389888"/>
            <a:ext cx="6067672" cy="46634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" y="6126480"/>
            <a:ext cx="106070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2A8B5A"/>
                </a:solidFill>
                <a:latin typeface="Noto Sans CJK KR"/>
              </a:defRPr>
            </a:pPr>
            <a:r>
              <a:rPr/>
              <a:t>목표 화면: 실제 RViz2: LaserScan을 RobotModel·TF와 같은 Fixed Frame에서 연 화면  |  나중에 확인할 것: Displays에서 LaserScan이 켜져 있고 scan frame을 TF가 변환하는지 확인합니다.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핵심 흐름을 한 장으로 이해하기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상자와 화살표의 방향을 따라 데이터 또는 제어의 흐름을 읽습니다.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기반 AGV End-to-End 개발 커리큘럼 · M13 · Block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568195" y="2743200"/>
            <a:ext cx="2029968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1900" b="1">
                <a:solidFill>
                  <a:srgbClr val="122C4E"/>
                </a:solidFill>
                <a:latin typeface="Noto Sans CJK KR"/>
              </a:defRPr>
            </a:pPr>
            <a:r>
              <a:rPr/>
              <a:t>gpu_lidar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598164" y="3264408"/>
            <a:ext cx="283464" cy="0"/>
          </a:xfrm>
          <a:prstGeom prst="line">
            <a:avLst/>
          </a:prstGeom>
          <a:ln w="31750">
            <a:solidFill>
              <a:srgbClr val="225B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909060" y="2743200"/>
            <a:ext cx="2029968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1900" b="1">
                <a:solidFill>
                  <a:srgbClr val="122C4E"/>
                </a:solidFill>
                <a:latin typeface="Noto Sans CJK KR"/>
              </a:defRPr>
            </a:pPr>
            <a:r>
              <a:rPr/>
              <a:t>bridge</a:t>
            </a:r>
            <a:r>
              <a:rPr/>
              <a:t>/scan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939028" y="3264408"/>
            <a:ext cx="283464" cy="0"/>
          </a:xfrm>
          <a:prstGeom prst="line">
            <a:avLst/>
          </a:prstGeom>
          <a:ln w="31750">
            <a:solidFill>
              <a:srgbClr val="225B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249924" y="2743200"/>
            <a:ext cx="2029968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1900" b="1">
                <a:solidFill>
                  <a:srgbClr val="122C4E"/>
                </a:solidFill>
                <a:latin typeface="Noto Sans CJK KR"/>
              </a:defRPr>
            </a:pPr>
            <a:r>
              <a:rPr/>
              <a:t>lidar_processor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279892" y="3264408"/>
            <a:ext cx="283464" cy="0"/>
          </a:xfrm>
          <a:prstGeom prst="line">
            <a:avLst/>
          </a:prstGeom>
          <a:ln w="31750">
            <a:solidFill>
              <a:srgbClr val="225B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590788" y="2743200"/>
            <a:ext cx="2029968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1900" b="1">
                <a:solidFill>
                  <a:srgbClr val="122C4E"/>
                </a:solidFill>
                <a:latin typeface="Noto Sans CJK KR"/>
              </a:defRPr>
            </a:pPr>
            <a:r>
              <a:rPr/>
              <a:t>/obstacle_distance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800600"/>
            <a:ext cx="10332720" cy="5029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225B9B"/>
                </a:solidFill>
                <a:latin typeface="Noto Sans CJK KR"/>
              </a:defRPr>
            </a:pPr>
            <a:r>
              <a:rPr/>
              <a:t>기억할 한 문장: 앞 단계의 출력이 다음 단계의 입력이 되도록 topic·frame·파일 이름을 끝까지 유지합니다.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이번에 프로젝트 안에 새로 만드는 파일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아래 파일은 완성본을 복사하지 않고, 다음 슬라이드에서 폴더·빈 파일부터 직접 만듭니다.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기반 AGV End-to-End 개발 커리큘럼 · M13 · Block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600200"/>
            <a:ext cx="10789920" cy="4407408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rPr/>
              <a:t>~/ros2_curri/my_agv_ws/src/</a:t>
            </a:r>
            <a:r>
              <a:rPr/>
              <a:t>└── agv_gazebo/models/agv/model.sdf</a:t>
            </a:r>
            <a:r>
              <a:rPr/>
              <a:t>└── agv_gazebo/config/bridge.yaml</a:t>
            </a:r>
            <a:r>
              <a:rPr/>
              <a:t>└── agv_sensors/agv_sensors/lidar_processor.py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" y="6144768"/>
            <a:ext cx="103327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5C6672"/>
                </a:solidFill>
                <a:latin typeface="Noto Sans CJK KR"/>
              </a:defRPr>
            </a:pPr>
            <a:r>
              <a:rPr/>
              <a:t>파일 하나를 만들고 저장한 뒤에만 다음 파일로 넘어갑니다. Complete는 오류가 풀리지 않을 때만 비교합니다.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코드/설정이 실제로 만드는 것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파일을 입력하기 전에 ‘무엇을 만들고 어디서 볼지’를 먼저 연결합니다.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기반 AGV End-to-End 개발 커리큘럼 · M13 · Block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파일 역할    |    현재 폴더 ~/ros2_curri/my_agv_ws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27632"/>
            <a:ext cx="10972800" cy="2048256"/>
          </a:xfrm>
          <a:prstGeom prst="roundRect">
            <a:avLst/>
          </a:prstGeom>
          <a:solidFill>
            <a:srgbClr val="F4F7FB"/>
          </a:solidFill>
          <a:ln>
            <a:solidFill>
              <a:srgbClr val="CCD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850392" y="1764792"/>
            <a:ext cx="1042416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25B9B"/>
                </a:solidFill>
                <a:latin typeface="DejaVu Sans Mono"/>
              </a:defRPr>
            </a:pPr>
            <a:r>
              <a:rPr/>
              <a:t>~/ros2_curri/my_agv_ws/src/agv_gazebo/models/agv/model.sdf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130552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2A8B5A"/>
                </a:solidFill>
                <a:latin typeface="Noto Sans CJK KR"/>
              </a:defRPr>
            </a:pPr>
            <a:r>
              <a:rPr/>
              <a:t>만드는 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75104" y="2112264"/>
            <a:ext cx="91897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0">
                <a:solidFill>
                  <a:srgbClr val="122C4E"/>
                </a:solidFill>
                <a:latin typeface="Noto Sans CJK KR"/>
              </a:defRPr>
            </a:pPr>
            <a:r>
              <a:rPr/>
              <a:t>구동·카메라·LiDAR·IMU를 포함해 Gazebo가 시뮬레이션할 완성 AGV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505456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DB7E22"/>
                </a:solidFill>
                <a:latin typeface="Noto Sans CJK KR"/>
              </a:defRPr>
            </a:pPr>
            <a:r>
              <a:rPr/>
              <a:t>코드 읽기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75104" y="2487168"/>
            <a:ext cx="9189720" cy="30175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Noto Sans CJK KR"/>
              </a:defRPr>
            </a:pPr>
            <a:r>
              <a:rPr/>
              <a:t>link/joint 다음에 sensor와 DiffDrive plugin을 찾고, topic 이름을 bridge와 비교한다.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889504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225B9B"/>
                </a:solidFill>
                <a:latin typeface="Noto Sans CJK KR"/>
              </a:defRPr>
            </a:pPr>
            <a:r>
              <a:rPr/>
              <a:t>사용/확인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75104" y="2871216"/>
            <a:ext cx="9189720" cy="51206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rPr/>
              <a:t>사용: Gazebo launch 뒤 각 ROS topic을 확인한다.</a:t>
            </a:r>
            <a:r>
              <a:rPr/>
              <a:t>화면/출력: Gazebo의 AGV, /camera/image_raw, /scan, /imu/data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941063"/>
            <a:ext cx="10972800" cy="2048256"/>
          </a:xfrm>
          <a:prstGeom prst="roundRect">
            <a:avLst/>
          </a:prstGeom>
          <a:solidFill>
            <a:srgbClr val="F4F7FB"/>
          </a:solidFill>
          <a:ln>
            <a:solidFill>
              <a:srgbClr val="CCD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850392" y="4078224"/>
            <a:ext cx="1042416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25B9B"/>
                </a:solidFill>
                <a:latin typeface="DejaVu Sans Mono"/>
              </a:defRPr>
            </a:pPr>
            <a:r>
              <a:rPr/>
              <a:t>~/ros2_curri/my_agv_ws/src/agv_gazebo/config/bridge.yaml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443983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2A8B5A"/>
                </a:solidFill>
                <a:latin typeface="Noto Sans CJK KR"/>
              </a:defRPr>
            </a:pPr>
            <a:r>
              <a:rPr/>
              <a:t>만드는 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75104" y="4425696"/>
            <a:ext cx="91897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0">
                <a:solidFill>
                  <a:srgbClr val="122C4E"/>
                </a:solidFill>
                <a:latin typeface="Noto Sans CJK KR"/>
              </a:defRPr>
            </a:pPr>
            <a:r>
              <a:rPr/>
              <a:t>Gazebo Transport 메시지와 ROS 2 topic을 방향별로 연결하는 번역표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818888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DB7E22"/>
                </a:solidFill>
                <a:latin typeface="Noto Sans CJK KR"/>
              </a:defRPr>
            </a:pPr>
            <a:r>
              <a:rPr/>
              <a:t>코드 읽기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75104" y="4800600"/>
            <a:ext cx="9189720" cy="30175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Noto Sans CJK KR"/>
              </a:defRPr>
            </a:pPr>
            <a:r>
              <a:rPr/>
              <a:t>한 항목에서 ros_topic_name → type → direction을 세 줄씩 비교한다.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5202936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225B9B"/>
                </a:solidFill>
                <a:latin typeface="Noto Sans CJK KR"/>
              </a:defRPr>
            </a:pPr>
            <a:r>
              <a:rPr/>
              <a:t>사용/확인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75104" y="5184648"/>
            <a:ext cx="9189720" cy="51206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rPr/>
              <a:t>사용: parameter_bridge가 이 YAML을 읽도록 launch한다.</a:t>
            </a:r>
            <a:r>
              <a:rPr/>
              <a:t>화면/출력: ros2 topic info에서 보이는 type과 publisher 수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코드/설정이 실제로 만드는 것 (2/2)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파일을 입력하기 전에 ‘무엇을 만들고 어디서 볼지’를 먼저 연결합니다.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기반 AGV End-to-End 개발 커리큘럼 · M13 · Block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파일 역할    |    현재 폴더 ~/ros2_curri/my_agv_ws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27632"/>
            <a:ext cx="10972800" cy="2048256"/>
          </a:xfrm>
          <a:prstGeom prst="roundRect">
            <a:avLst/>
          </a:prstGeom>
          <a:solidFill>
            <a:srgbClr val="F4F7FB"/>
          </a:solidFill>
          <a:ln>
            <a:solidFill>
              <a:srgbClr val="CCD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850392" y="1764792"/>
            <a:ext cx="1042416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25B9B"/>
                </a:solidFill>
                <a:latin typeface="DejaVu Sans Mono"/>
              </a:defRPr>
            </a:pPr>
            <a:r>
              <a:rPr/>
              <a:t>~/ros2_curri/my_agv_ws/src/agv_sensors/agv_sensors/lidar_processor.py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130552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2A8B5A"/>
                </a:solidFill>
                <a:latin typeface="Noto Sans CJK KR"/>
              </a:defRPr>
            </a:pPr>
            <a:r>
              <a:rPr/>
              <a:t>만드는 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75104" y="2112264"/>
            <a:ext cx="91897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0">
                <a:solidFill>
                  <a:srgbClr val="122C4E"/>
                </a:solidFill>
                <a:latin typeface="Noto Sans CJK KR"/>
              </a:defRPr>
            </a:pPr>
            <a:r>
              <a:rPr/>
              <a:t>LaserScan의 전방 sector에서 유효 거리 최소값을 계산하는 안전 입력 노드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505456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DB7E22"/>
                </a:solidFill>
                <a:latin typeface="Noto Sans CJK KR"/>
              </a:defRPr>
            </a:pPr>
            <a:r>
              <a:rPr/>
              <a:t>코드 읽기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75104" y="2487168"/>
            <a:ext cx="9189720" cy="30175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Noto Sans CJK KR"/>
              </a:defRPr>
            </a:pPr>
            <a:r>
              <a:rPr/>
              <a:t>ranges 필터 → 각도 index → minimum → /obstacle_distance publish 순서로 읽는다.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889504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225B9B"/>
                </a:solidFill>
                <a:latin typeface="Noto Sans CJK KR"/>
              </a:defRPr>
            </a:pPr>
            <a:r>
              <a:rPr/>
              <a:t>사용/확인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75104" y="2871216"/>
            <a:ext cx="9189720" cy="51206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rPr/>
              <a:t>사용: launch 뒤 /scan과 /obstacle_distance를 별 터미널에서 본다.</a:t>
            </a:r>
            <a:r>
              <a:rPr/>
              <a:t>화면/출력: LiDAR terminal의 frame·range와 RViz LaserScan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코드를 ‘만드는 것 → 표시할 줄 → 바꾼 결과’로 읽는다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PDF 예시처럼 화면을 보기 전에 코드의 역할과 관찰 지점을 한 번 짚고 갑니다.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기반 AGV End-to-End 개발 커리큘럼 · M13 · Block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코드 해설    |    현재 폴더 ~/ros2_curri/my_agv_ws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664208"/>
            <a:ext cx="5321808" cy="1764792"/>
          </a:xfrm>
          <a:prstGeom prst="roundRect">
            <a:avLst/>
          </a:prstGeom>
          <a:solidFill>
            <a:srgbClr val="F4F7FB"/>
          </a:solidFill>
          <a:ln>
            <a:solidFill>
              <a:srgbClr val="2A8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859536" y="1828800"/>
            <a:ext cx="4892040" cy="2651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2A8B5A"/>
                </a:solidFill>
                <a:latin typeface="Noto Sans CJK KR"/>
              </a:defRPr>
            </a:pPr>
            <a:r>
              <a:rPr/>
              <a:t>1. 이 파일이 만드는 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240280"/>
            <a:ext cx="4846320" cy="9418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600" b="0">
                <a:solidFill>
                  <a:srgbClr val="122C4E"/>
                </a:solidFill>
                <a:latin typeface="Noto Sans CJK KR"/>
              </a:defRPr>
            </a:pPr>
            <a:r>
              <a:rPr/>
              <a:t>LiDAR의 ranges는 거리 배열이고, 각 원소의 방향은 angle_min + index × angle_increment입니다.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64208"/>
            <a:ext cx="5321808" cy="1764792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419088" y="1828800"/>
            <a:ext cx="4892040" cy="2651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225B9B"/>
                </a:solidFill>
                <a:latin typeface="Noto Sans CJK KR"/>
              </a:defRPr>
            </a:pPr>
            <a:r>
              <a:rPr/>
              <a:t>2. 먼저 찾을 코드/태그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2240280"/>
            <a:ext cx="4846320" cy="9418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600" b="0">
                <a:solidFill>
                  <a:srgbClr val="122C4E"/>
                </a:solidFill>
                <a:latin typeface="Noto Sans CJK KR"/>
              </a:defRPr>
            </a:pPr>
            <a:r>
              <a:rPr/>
              <a:t>&lt;samples&gt;, &lt;min_angle&gt;, &lt;max_angle&gt;, range_min/range_max, qos_profile_sensor_data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813048"/>
            <a:ext cx="5321808" cy="1764792"/>
          </a:xfrm>
          <a:prstGeom prst="roundRect">
            <a:avLst/>
          </a:prstGeom>
          <a:solidFill>
            <a:srgbClr val="F4F7FB"/>
          </a:solidFill>
          <a:ln>
            <a:solidFill>
              <a:srgbClr val="DB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859536" y="3977639"/>
            <a:ext cx="4892040" cy="2651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DB7E22"/>
                </a:solidFill>
                <a:latin typeface="Noto Sans CJK KR"/>
              </a:defRPr>
            </a:pPr>
            <a:r>
              <a:rPr/>
              <a:t>3. 값을 바꾸면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" y="4389120"/>
            <a:ext cx="4846320" cy="9418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600" b="0">
                <a:solidFill>
                  <a:srgbClr val="122C4E"/>
                </a:solidFill>
                <a:latin typeface="Noto Sans CJK KR"/>
              </a:defRPr>
            </a:pPr>
            <a:r>
              <a:rPr/>
              <a:t>front_half_angle_deg를 바꾸면 최소거리 판단에 포함되는 전방 sector가 바뀝니다.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813048"/>
            <a:ext cx="5321808" cy="1764792"/>
          </a:xfrm>
          <a:prstGeom prst="roundRect">
            <a:avLst/>
          </a:prstGeom>
          <a:solidFill>
            <a:srgbClr val="F4F7FB"/>
          </a:solidFill>
          <a:ln>
            <a:solidFill>
              <a:srgbClr val="BE3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6419088" y="3977639"/>
            <a:ext cx="4892040" cy="2651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BE3B3B"/>
                </a:solidFill>
                <a:latin typeface="Noto Sans CJK KR"/>
              </a:defRPr>
            </a:pPr>
            <a:r>
              <a:rPr/>
              <a:t>4. 실제로 보는 곳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9088" y="4389120"/>
            <a:ext cx="4846320" cy="9418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600" b="0">
                <a:solidFill>
                  <a:srgbClr val="122C4E"/>
                </a:solidFill>
                <a:latin typeface="Noto Sans CJK KR"/>
              </a:defRPr>
            </a:pPr>
            <a:r>
              <a:rPr/>
              <a:t>terminal에서 frame/range/rate를 보고 RViz LaserScan에서 공간 방향을 확인합니다.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6172200"/>
            <a:ext cx="1060704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200" b="1">
                <a:solidFill>
                  <a:srgbClr val="2A8B5A"/>
                </a:solidFill>
                <a:latin typeface="Noto Sans CJK KR"/>
              </a:defRPr>
            </a:pPr>
            <a:r>
              <a:rPr/>
              <a:t>다음 코드 슬라이드에서는 위의 태그/함수를 찾아 색으로 표시하며 한 줄씩 설명합니다.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1/3: 폴더를 만들고 빈 파일을 연다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파일을 먼저 만든 뒤, 다음 슬라이드의 코드 블록을 위에서 아래로 직접 입력합니다.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기반 AGV End-to-End 개발 커리큘럼 · M13 · Block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파일 생성 1/3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19072"/>
            <a:ext cx="141732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25B9B"/>
                </a:solidFill>
                <a:latin typeface="Noto Sans CJK KR"/>
              </a:defRPr>
            </a:pPr>
            <a:r>
              <a:rPr/>
              <a:t>이번 파일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719072"/>
            <a:ext cx="923544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DejaVu Sans Mono"/>
              </a:defRPr>
            </a:pPr>
            <a:r>
              <a:rPr/>
              <a:t>~/ros2_curri/my_agv_ws/src/agv_gazebo/models/agv/model.sdf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103120"/>
            <a:ext cx="141732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A8B5A"/>
                </a:solidFill>
                <a:latin typeface="Noto Sans CJK KR"/>
              </a:defRPr>
            </a:pPr>
            <a:r>
              <a:rPr/>
              <a:t>만드는 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2103120"/>
            <a:ext cx="923544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122C4E"/>
                </a:solidFill>
                <a:latin typeface="Noto Sans CJK KR"/>
              </a:defRPr>
            </a:pPr>
            <a:r>
              <a:rPr/>
              <a:t>구동·카메라·LiDAR·IMU를 포함해 Gazebo가 시뮬레이션할 완성 AGV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6656" y="2852928"/>
            <a:ext cx="10881360" cy="1682496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rPr/>
              <a:t>mkdir -p ~/ros2_curri/my_agv_ws/src/agv_gazebo/models/agv</a:t>
            </a:r>
          </a:p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rPr/>
              <a:t>nano ~/ros2_curri/my_agv_ws/src/agv_gazebo/models/agv/model.sdf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4901184"/>
            <a:ext cx="10241280" cy="32918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DB7E22"/>
                </a:solidFill>
                <a:latin typeface="Noto Sans CJK KR"/>
              </a:defRPr>
            </a:pPr>
            <a:r>
              <a:rPr/>
              <a:t>nano 저장: Ctrl+O → Enter → Ctrl+X  |  파일이 열리면 아직 비어 있는 것이 정상입니다.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5504688"/>
            <a:ext cx="10241280" cy="32918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2A8B5A"/>
                </a:solidFill>
                <a:latin typeface="Noto Sans CJK KR"/>
              </a:defRPr>
            </a:pPr>
            <a:r>
              <a:rPr/>
              <a:t>다음 단계의 확인 화면: Gazebo의 AGV, /camera/image_raw, /scan, /imu/data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1/3: 코드 읽기 (1/5)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짧은 실제 코드 조각을 먼저 읽고, 다음 슬라이드에서 같은 코드를 직접 입력합니다.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기반 AGV End-to-End 개발 커리큘럼 · M13 · Block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코드 해설 1/3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61848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25B9B"/>
                </a:solidFill>
                <a:latin typeface="DejaVu Sans Mono"/>
              </a:defRPr>
            </a:pPr>
            <a:r>
              <a:rPr/>
              <a:t>~/ros2_curri/my_agv_ws/src/agv_gazebo/models/agv/model.sdf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" y="193852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DB7E22"/>
                </a:solidFill>
                <a:latin typeface="Noto Sans CJK KR"/>
              </a:defRPr>
            </a:pPr>
            <a:r>
              <a:rPr/>
              <a:t>말로 먼저 답해 보세요: 이 줄은 무엇을 만들고, 실행하면 어디에서 확인할 수 있을까요?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359152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rPr/>
              <a:t>&lt;model name="agv"&gt;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2359152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5239512" y="2468880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rPr/>
              <a:t>1.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96128" y="2450592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rPr/>
              <a:t>뜻: 로봇 model 또는 Gazebo world의 가장 바깥 이름과 범위를 선언합니다.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96128" y="3108960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rPr/>
              <a:t>실행에서: 문법 검사와 Gazebo/RViz가 이 구조부터 읽기 시작합니다.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078224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rPr/>
              <a:t>&lt;link name="base_link"&gt;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0" y="4078224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5239512" y="4187952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rPr/>
              <a:t>2.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96128" y="4169663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rPr/>
              <a:t>뜻: 로봇의 몸체·바퀴처럼 실제로 존재하는 하나의 부품을 선언합니다.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96128" y="4828032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rPr/>
              <a:t>실행에서: RViz/Gazebo에서 이 부품이 별도 frame/물체로 보입니다.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6199632"/>
            <a:ext cx="10698480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5C6672"/>
                </a:solidFill>
                <a:latin typeface="Noto Sans CJK KR"/>
              </a:defRPr>
            </a:pPr>
            <a:r>
              <a:rPr/>
              <a:t>다음 코드 입력 슬라이드에서 이 줄을 발견하면, 방금 설명한 ‘뜻’과 ‘실행에서 보이는 변화’를 다시 말해 봅니다.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1/3: 코드 읽기 (2/5)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짧은 실제 코드 조각을 먼저 읽고, 다음 슬라이드에서 같은 코드를 직접 입력합니다.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기반 AGV End-to-End 개발 커리큘럼 · M13 · Block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코드 해설 1/3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61848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25B9B"/>
                </a:solidFill>
                <a:latin typeface="DejaVu Sans Mono"/>
              </a:defRPr>
            </a:pPr>
            <a:r>
              <a:rPr/>
              <a:t>~/ros2_curri/my_agv_ws/src/agv_gazebo/models/agv/model.sdf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" y="193852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DB7E22"/>
                </a:solidFill>
                <a:latin typeface="Noto Sans CJK KR"/>
              </a:defRPr>
            </a:pPr>
            <a:r>
              <a:rPr/>
              <a:t>말로 먼저 답해 보세요: 이 줄은 무엇을 만들고, 실행하면 어디에서 확인할 수 있을까요?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359152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rPr/>
              <a:t>&lt;inertial&gt;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2359152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5239512" y="2468880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rPr/>
              <a:t>1.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96128" y="2450592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rPr/>
              <a:t>뜻: 질량과 관성처럼 움직임에 직접 영향을 주는 물리값입니다.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96128" y="3108960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rPr/>
              <a:t>실행에서: Gazebo에서 가속·회전·접촉 반응이 달라집니다.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078224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rPr/>
              <a:t>&lt;visual name="body"&gt;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0" y="4078224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5239512" y="4187952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rPr/>
              <a:t>2.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96128" y="4169663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rPr/>
              <a:t>뜻: 사람이 화면에서 보는 모양·색·mesh를 설정합니다.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96128" y="4828032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rPr/>
              <a:t>실행에서: Gazebo/RViz 화면에서 해당 부품의 외형이 바뀝니다.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6199632"/>
            <a:ext cx="10698480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5C6672"/>
                </a:solidFill>
                <a:latin typeface="Noto Sans CJK KR"/>
              </a:defRPr>
            </a:pPr>
            <a:r>
              <a:rPr/>
              <a:t>다음 코드 입력 슬라이드에서 이 줄을 발견하면, 방금 설명한 ‘뜻’과 ‘실행에서 보이는 변화’를 다시 말해 봅니다.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1/3: 코드 읽기 (3/5)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짧은 실제 코드 조각을 먼저 읽고, 다음 슬라이드에서 같은 코드를 직접 입력합니다.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기반 AGV End-to-End 개발 커리큘럼 · M13 · Block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코드 해설 1/3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61848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25B9B"/>
                </a:solidFill>
                <a:latin typeface="DejaVu Sans Mono"/>
              </a:defRPr>
            </a:pPr>
            <a:r>
              <a:rPr/>
              <a:t>~/ros2_curri/my_agv_ws/src/agv_gazebo/models/agv/model.sdf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" y="193852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DB7E22"/>
                </a:solidFill>
                <a:latin typeface="Noto Sans CJK KR"/>
              </a:defRPr>
            </a:pPr>
            <a:r>
              <a:rPr/>
              <a:t>말로 먼저 답해 보세요: 이 줄은 무엇을 만들고, 실행하면 어디에서 확인할 수 있을까요?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359152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rPr/>
              <a:t>&lt;collision name="body_collision"&gt;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2359152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5239512" y="2468880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rPr/>
              <a:t>1.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96128" y="2450592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rPr/>
              <a:t>뜻: 물리 엔진이 부딪힘을 계산할 모양을 설정합니다.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96128" y="3108960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rPr/>
              <a:t>실행에서: 주행 중 장애물·바닥과의 접촉 결과가 이 구조를 따릅니다.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078224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rPr/>
              <a:t>&lt;sensor name="imu" type="imu"&gt;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0" y="4078224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5239512" y="4187952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rPr/>
              <a:t>2.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96128" y="4169663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rPr/>
              <a:t>뜻: Gazebo model에 camera·LiDAR·IMU처럼 데이터를 만드는 sensor를 붙입니다.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96128" y="4828032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rPr/>
              <a:t>실행에서: 시뮬레이터가 해당 sensor topic의 원본 데이터를 생성합니다.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6199632"/>
            <a:ext cx="10698480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5C6672"/>
                </a:solidFill>
                <a:latin typeface="Noto Sans CJK KR"/>
              </a:defRPr>
            </a:pPr>
            <a:r>
              <a:rPr/>
              <a:t>다음 코드 입력 슬라이드에서 이 줄을 발견하면, 방금 설명한 ‘뜻’과 ‘실행에서 보이는 변화’를 다시 말해 봅니다.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1/3: 코드 읽기 (4/5)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짧은 실제 코드 조각을 먼저 읽고, 다음 슬라이드에서 같은 코드를 직접 입력합니다.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기반 AGV End-to-End 개발 커리큘럼 · M13 · Block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코드 해설 1/3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61848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25B9B"/>
                </a:solidFill>
                <a:latin typeface="DejaVu Sans Mono"/>
              </a:defRPr>
            </a:pPr>
            <a:r>
              <a:rPr/>
              <a:t>~/ros2_curri/my_agv_ws/src/agv_gazebo/models/agv/model.sdf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" y="193852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DB7E22"/>
                </a:solidFill>
                <a:latin typeface="Noto Sans CJK KR"/>
              </a:defRPr>
            </a:pPr>
            <a:r>
              <a:rPr/>
              <a:t>말로 먼저 답해 보세요: 이 줄은 무엇을 만들고, 실행하면 어디에서 확인할 수 있을까요?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359152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rPr/>
              <a:t>&lt;topic&gt;/imu/data&lt;/topic&gt;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2359152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5239512" y="2468880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rPr/>
              <a:t>1.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96128" y="2450592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rPr/>
              <a:t>뜻: 데이터가 오가는 채널의 정확한 이름을 지정합니다.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96128" y="3108960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rPr/>
              <a:t>실행에서: SDF·bridge·node 세 곳의 이름이 같을 때 message가 연결됩니다.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078224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rPr/>
              <a:t>&lt;update_rate&gt;100&lt;/update_rate&gt;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0" y="4078224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5239512" y="4187952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rPr/>
              <a:t>2.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96128" y="4169663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rPr/>
              <a:t>뜻: sensor의 해상도·갱신 주기 같은 관찰 가능한 값을 정합니다.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96128" y="4828032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rPr/>
              <a:t>실행에서: 실행 뒤 image 크기 또는 `ros2 topic hz`가 이 값을 검증합니다.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6199632"/>
            <a:ext cx="10698480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5C6672"/>
                </a:solidFill>
                <a:latin typeface="Noto Sans CJK KR"/>
              </a:defRPr>
            </a:pPr>
            <a:r>
              <a:rPr/>
              <a:t>다음 코드 입력 슬라이드에서 이 줄을 발견하면, 방금 설명한 ‘뜻’과 ‘실행에서 보이는 변화’를 다시 말해 봅니다.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1/3: 코드 읽기 (5/5)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짧은 실제 코드 조각을 먼저 읽고, 다음 슬라이드에서 같은 코드를 직접 입력합니다.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기반 AGV End-to-End 개발 커리큘럼 · M13 · Block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코드 해설 1/3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61848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25B9B"/>
                </a:solidFill>
                <a:latin typeface="DejaVu Sans Mono"/>
              </a:defRPr>
            </a:pPr>
            <a:r>
              <a:rPr/>
              <a:t>~/ros2_curri/my_agv_ws/src/agv_gazebo/models/agv/model.sdf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" y="193852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DB7E22"/>
                </a:solidFill>
                <a:latin typeface="Noto Sans CJK KR"/>
              </a:defRPr>
            </a:pPr>
            <a:r>
              <a:rPr/>
              <a:t>말로 먼저 답해 보세요: 이 줄은 무엇을 만들고, 실행하면 어디에서 확인할 수 있을까요?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359152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rPr/>
              <a:t>&lt;joint name="left_wheel_joint" type="revolute"&gt;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2359152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5239512" y="2468880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rPr/>
              <a:t>1.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96128" y="2450592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rPr/>
              <a:t>뜻: 두 link를 어떤 축·방식으로 연결할지 정합니다.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96128" y="3108960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rPr/>
              <a:t>실행에서: joint 이름·축이 맞아야 바퀴와 센서 frame이 기대한 위치에 있습니다.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6199632"/>
            <a:ext cx="10698480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5C6672"/>
                </a:solidFill>
                <a:latin typeface="Noto Sans CJK KR"/>
              </a:defRPr>
            </a:pPr>
            <a:r>
              <a:rPr/>
              <a:t>다음 코드 입력 슬라이드에서 이 줄을 발견하면, 방금 설명한 ‘뜻’과 ‘실행에서 보이는 변화’를 다시 말해 봅니다.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1/3: 코드 입력 (1/24)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~/ros2_curri/my_agv_ws/src/agv_gazebo/models/agv/model.sdf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기반 AGV End-to-End 개발 커리큘럼 · M13 · Block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파일 1/3 · 입력 1/24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 블록이 하는 일: 파일의 root와 첫 model/link를 입력합니다. 태그 여닫는 순서를 그대로 유지합니다.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rPr/>
              <a:t>현재 열린 파일: ~/ros2_curri/my_agv_ws/src/agv_gazebo/models/agv/model.sdf</a:t>
            </a:r>
            <a:r>
              <a:rPr/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73152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&lt;?xml version="1.0" ?&gt;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&lt;sdf version="1.10"&gt;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&lt;model name="agv"&gt;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&lt;link name="base_link"&gt;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&lt;pose&gt;0 0 0.16 0 0 0&lt;/pose&gt;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입력 1/24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1/3: 코드 입력 (2/24)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~/ros2_curri/my_agv_ws/src/agv_gazebo/models/agv/model.sdf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기반 AGV End-to-End 개발 커리큘럼 · M13 · Block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파일 1/3 · 입력 2/24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 블록이 하는 일: 앞에서 만든 구조에 geometry·collision·sensor·joint를 하나씩 붙입니다.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rPr/>
              <a:t>현재 열린 파일: ~/ros2_curri/my_agv_ws/src/agv_gazebo/models/agv/model.sdf</a:t>
            </a:r>
            <a:r>
              <a:rPr/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73152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&lt;inertial&gt;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&lt;mass&gt;12.0&lt;/mass&gt;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&lt;inertia&gt;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&lt;ixx&gt;0.20&lt;/ixx&gt;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&lt;iyy&gt;0.40&lt;/iyy&gt;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&lt;izz&gt;0.50&lt;/izz&gt;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&lt;/inertia&gt;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&lt;/inertial&gt;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&lt;visual name="body"&gt;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입력 2/24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1/3: 코드 입력 (3/24)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~/ros2_curri/my_agv_ws/src/agv_gazebo/models/agv/model.sdf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기반 AGV End-to-End 개발 커리큘럼 · M13 · Block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파일 1/3 · 입력 3/24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 블록이 하는 일: 앞에서 만든 구조에 geometry·collision·sensor·joint를 하나씩 붙입니다.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rPr/>
              <a:t>현재 열린 파일: ~/ros2_curri/my_agv_ws/src/agv_gazebo/models/agv/model.sdf</a:t>
            </a:r>
            <a:r>
              <a:rPr/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73152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&lt;geometry&gt;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&lt;box&gt;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  &lt;size&gt;0.60 0.42 0.16&lt;/size&gt;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&lt;/box&gt;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&lt;/geometry&gt;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&lt;material&gt;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&lt;diffuse&gt;0.1 0.35 0.8 1&lt;/diffuse&gt;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&lt;/material&gt;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&lt;/visual&gt;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&lt;collision name="body_collision"&gt;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입력 3/24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1/3: 코드 입력 (4/24)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~/ros2_curri/my_agv_ws/src/agv_gazebo/models/agv/model.sdf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기반 AGV End-to-End 개발 커리큘럼 · M13 · Block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파일 1/3 · 입력 4/24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 블록이 하는 일: 앞에서 만든 구조에 geometry·collision·sensor·joint를 하나씩 붙입니다.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rPr/>
              <a:t>현재 열린 파일: ~/ros2_curri/my_agv_ws/src/agv_gazebo/models/agv/model.sdf</a:t>
            </a:r>
            <a:r>
              <a:rPr/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73152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&lt;geometry&gt;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&lt;box&gt;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  &lt;size&gt;0.60 0.42 0.16&lt;/size&gt;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&lt;/box&gt;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&lt;/geometry&gt;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&lt;/collision&gt;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&lt;sensor name="imu" type="imu"&gt;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&lt;topic&gt;/imu/data&lt;/topic&gt;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&lt;always_on&gt;true&lt;/always_on&gt;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&lt;update_rate&gt;100&lt;/update_rate&gt;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입력 4/24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1/3: 코드 입력 (5/24)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~/ros2_curri/my_agv_ws/src/agv_gazebo/models/agv/model.sdf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기반 AGV End-to-End 개발 커리큘럼 · M13 · Block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파일 1/3 · 입력 5/24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 블록이 하는 일: 앞에서 만든 구조에 geometry·collision·sensor·joint를 하나씩 붙입니다.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rPr/>
              <a:t>현재 열린 파일: ~/ros2_curri/my_agv_ws/src/agv_gazebo/models/agv/model.sdf</a:t>
            </a:r>
            <a:r>
              <a:rPr/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73152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&lt;imu&gt;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&lt;angular_velocity&gt;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  &lt;x&gt;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    &lt;noise type="gaussian"&gt;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      &lt;mean&gt;0&lt;/mean&gt;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      &lt;stddev&gt;0.001&lt;/stddev&gt;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    &lt;/noise&gt;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  &lt;/x&gt;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&lt;/angular_velocity&gt;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&lt;/imu&gt;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&lt;/sensor&gt;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입력 5/24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1/3: 코드 입력 (6/24)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~/ros2_curri/my_agv_ws/src/agv_gazebo/models/agv/model.sdf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기반 AGV End-to-End 개발 커리큘럼 · M13 · Block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파일 1/3 · 입력 6/24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 블록이 하는 일: 앞에서 만든 구조에 geometry·collision·sensor·joint를 하나씩 붙입니다.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rPr/>
              <a:t>현재 열린 파일: ~/ros2_curri/my_agv_ws/src/agv_gazebo/models/agv/model.sdf</a:t>
            </a:r>
            <a:r>
              <a:rPr/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73152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&lt;/link&gt;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&lt;link name="left_wheel_link"&gt;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&lt;pose relative_to="base_link"&gt;0 0.19 -0.08 1.5708 0 0&lt;/pose&gt;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&lt;inertial&gt;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&lt;mass&gt;0.6&lt;/mass&gt;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&lt;inertia&gt;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&lt;ixx&gt;0.002&lt;/ixx&gt;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&lt;iyy&gt;0.002&lt;/iyy&gt;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&lt;izz&gt;0.001&lt;/izz&gt;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입력 6/24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1/3: 코드 입력 (7/24)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~/ros2_curri/my_agv_ws/src/agv_gazebo/models/agv/model.sdf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기반 AGV End-to-End 개발 커리큘럼 · M13 · Block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파일 1/3 · 입력 7/24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 블록이 하는 일: 앞에서 만든 구조에 geometry·collision·sensor·joint를 하나씩 붙입니다.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rPr/>
              <a:t>현재 열린 파일: ~/ros2_curri/my_agv_ws/src/agv_gazebo/models/agv/model.sdf</a:t>
            </a:r>
            <a:r>
              <a:rPr/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73152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&lt;/inertia&gt;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&lt;/inertial&gt;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&lt;visual name="wheel"&gt;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&lt;geometry&gt;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&lt;cylinder&gt;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  &lt;radius&gt;0.08&lt;/radius&gt;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  &lt;length&gt;0.05&lt;/length&gt;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&lt;/cylinder&gt;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&lt;/geometry&gt;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&lt;/visual&gt;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&lt;collision name="wheel_collision"&gt;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&lt;geometry&gt;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입력 7/24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1/3: 코드 입력 (8/24)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~/ros2_curri/my_agv_ws/src/agv_gazebo/models/agv/model.sdf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기반 AGV End-to-End 개발 커리큘럼 · M13 · Block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파일 1/3 · 입력 8/24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 블록이 하는 일: 앞에서 만든 구조에 geometry·collision·sensor·joint를 하나씩 붙입니다.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rPr/>
              <a:t>현재 열린 파일: ~/ros2_curri/my_agv_ws/src/agv_gazebo/models/agv/model.sdf</a:t>
            </a:r>
            <a:r>
              <a:rPr/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73152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&lt;cylinder&gt;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  &lt;radius&gt;0.08&lt;/radius&gt;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  &lt;length&gt;0.05&lt;/length&gt;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&lt;/cylinder&gt;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&lt;/geometry&gt;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&lt;surface&gt;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&lt;friction&gt;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  &lt;ode&gt;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    &lt;mu&gt;1.0&lt;/mu&gt;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    &lt;mu2&gt;1.0&lt;/mu2&gt;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  &lt;/ode&gt;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&lt;/friction&gt;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입력 8/24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1/3: 코드 입력 (9/24)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~/ros2_curri/my_agv_ws/src/agv_gazebo/models/agv/model.sdf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기반 AGV End-to-End 개발 커리큘럼 · M13 · Block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파일 1/3 · 입력 9/24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 블록이 하는 일: 앞에서 만든 구조에 geometry·collision·sensor·joint를 하나씩 붙입니다.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rPr/>
              <a:t>현재 열린 파일: ~/ros2_curri/my_agv_ws/src/agv_gazebo/models/agv/model.sdf</a:t>
            </a:r>
            <a:r>
              <a:rPr/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73152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&lt;/surface&gt;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&lt;/collision&gt;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&lt;/link&gt;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&lt;link name="right_wheel_link"&gt;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&lt;pose relative_to="base_link"&gt;0 -0.19 -0.08 1.5708 0 0&lt;/pose&gt;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&lt;inertial&gt;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&lt;mass&gt;0.6&lt;/mass&gt;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&lt;inertia&gt;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&lt;ixx&gt;0.002&lt;/ixx&gt;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&lt;iyy&gt;0.002&lt;/iyy&gt;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입력 9/24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1/3: 코드 입력 (10/24)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~/ros2_curri/my_agv_ws/src/agv_gazebo/models/agv/model.sdf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기반 AGV End-to-End 개발 커리큘럼 · M13 · Block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파일 1/3 · 입력 10/24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 블록이 하는 일: 앞에서 만든 구조에 geometry·collision·sensor·joint를 하나씩 붙입니다.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rPr/>
              <a:t>현재 열린 파일: ~/ros2_curri/my_agv_ws/src/agv_gazebo/models/agv/model.sdf</a:t>
            </a:r>
            <a:r>
              <a:rPr/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73152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&lt;izz&gt;0.001&lt;/izz&gt;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&lt;/inertia&gt;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&lt;/inertial&gt;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&lt;visual name="wheel"&gt;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&lt;geometry&gt;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&lt;cylinder&gt;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  &lt;radius&gt;0.08&lt;/radius&gt;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  &lt;length&gt;0.05&lt;/length&gt;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&lt;/cylinder&gt;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&lt;/geometry&gt;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&lt;/visual&gt;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&lt;collision name="wheel_collision"&gt;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입력 10/24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1/3: 코드 입력 (11/24)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~/ros2_curri/my_agv_ws/src/agv_gazebo/models/agv/model.sdf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기반 AGV End-to-End 개발 커리큘럼 · M13 · Block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파일 1/3 · 입력 11/24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 블록이 하는 일: 앞에서 만든 구조에 geometry·collision·sensor·joint를 하나씩 붙입니다.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rPr/>
              <a:t>현재 열린 파일: ~/ros2_curri/my_agv_ws/src/agv_gazebo/models/agv/model.sdf</a:t>
            </a:r>
            <a:r>
              <a:rPr/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73152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&lt;geometry&gt;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&lt;cylinder&gt;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  &lt;radius&gt;0.08&lt;/radius&gt;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  &lt;length&gt;0.05&lt;/length&gt;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&lt;/cylinder&gt;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&lt;/geometry&gt;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&lt;surface&gt;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&lt;friction&gt;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  &lt;ode&gt;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    &lt;mu&gt;1.0&lt;/mu&gt;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    &lt;mu2&gt;1.0&lt;/mu2&gt;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  &lt;/ode&gt;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입력 11/24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1/3: 코드 입력 (12/24)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~/ros2_curri/my_agv_ws/src/agv_gazebo/models/agv/model.sdf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기반 AGV End-to-End 개발 커리큘럼 · M13 · Block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파일 1/3 · 입력 12/24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 블록이 하는 일: 앞에서 만든 구조에 geometry·collision·sensor·joint를 하나씩 붙입니다.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rPr/>
              <a:t>현재 열린 파일: ~/ros2_curri/my_agv_ws/src/agv_gazebo/models/agv/model.sdf</a:t>
            </a:r>
            <a:r>
              <a:rPr/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73152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&lt;/friction&gt;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&lt;/surface&gt;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&lt;/collision&gt;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&lt;/link&gt;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&lt;joint name="left_wheel_joint" type="revolute"&gt;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&lt;parent&gt;base_link&lt;/parent&gt;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&lt;child&gt;left_wheel_link&lt;/child&gt;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&lt;axis&gt;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&lt;xyz&gt;0 1 0&lt;/xyz&gt;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&lt;limit&gt;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입력 12/24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1/3: 코드 입력 (13/24)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~/ros2_curri/my_agv_ws/src/agv_gazebo/models/agv/model.sdf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기반 AGV End-to-End 개발 커리큘럼 · M13 · Block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파일 1/3 · 입력 13/24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 블록이 하는 일: 앞에서 만든 구조에 geometry·collision·sensor·joint를 하나씩 붙입니다.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rPr/>
              <a:t>현재 열린 파일: ~/ros2_curri/my_agv_ws/src/agv_gazebo/models/agv/model.sdf</a:t>
            </a:r>
            <a:r>
              <a:rPr/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73152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&lt;lower&gt;-1e16&lt;/lower&gt;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&lt;upper&gt;1e16&lt;/upper&gt;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&lt;/limit&gt;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&lt;/axis&gt;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&lt;/joint&gt;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&lt;joint name="right_wheel_joint" type="revolute"&gt;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&lt;parent&gt;base_link&lt;/parent&gt;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&lt;child&gt;right_wheel_link&lt;/child&gt;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&lt;axis&gt;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&lt;xyz&gt;0 1 0&lt;/xyz&gt;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입력 13/24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1/3: 코드 입력 (14/24)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~/ros2_curri/my_agv_ws/src/agv_gazebo/models/agv/model.sdf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기반 AGV End-to-End 개발 커리큘럼 · M13 · Block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파일 1/3 · 입력 14/24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 블록이 하는 일: 앞에서 만든 구조에 geometry·collision·sensor·joint를 하나씩 붙입니다.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rPr/>
              <a:t>현재 열린 파일: ~/ros2_curri/my_agv_ws/src/agv_gazebo/models/agv/model.sdf</a:t>
            </a:r>
            <a:r>
              <a:rPr/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73152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&lt;limit&gt;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&lt;lower&gt;-1e16&lt;/lower&gt;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&lt;upper&gt;1e16&lt;/upper&gt;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&lt;/limit&gt;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&lt;/axis&gt;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&lt;/joint&gt;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&lt;link name="caster_link"&gt;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&lt;pose relative_to="base_link"&gt;-0.24 0 -0.12 0 0 0&lt;/pose&gt;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&lt;inertial&gt;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&lt;mass&gt;0.15&lt;/mass&gt;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입력 14/24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1/3: 코드 입력 (15/24)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~/ros2_curri/my_agv_ws/src/agv_gazebo/models/agv/model.sdf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기반 AGV End-to-End 개발 커리큘럼 · M13 · Block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파일 1/3 · 입력 15/24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 블록이 하는 일: 앞에서 만든 구조에 geometry·collision·sensor·joint를 하나씩 붙입니다.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rPr/>
              <a:t>현재 열린 파일: ~/ros2_curri/my_agv_ws/src/agv_gazebo/models/agv/model.sdf</a:t>
            </a:r>
            <a:r>
              <a:rPr/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73152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&lt;inertia&gt;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&lt;ixx&gt;0.0001&lt;/ixx&gt;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&lt;iyy&gt;0.0001&lt;/iyy&gt;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&lt;izz&gt;0.0001&lt;/izz&gt;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&lt;/inertia&gt;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&lt;/inertial&gt;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&lt;visual name="caster"&gt;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&lt;geometry&gt;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&lt;sphere&gt;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  &lt;radius&gt;0.04&lt;/radius&gt;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&lt;/sphere&gt;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&lt;/geometry&gt;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입력 15/24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1/3: 코드 입력 (16/24)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~/ros2_curri/my_agv_ws/src/agv_gazebo/models/agv/model.sdf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기반 AGV End-to-End 개발 커리큘럼 · M13 · Block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파일 1/3 · 입력 16/24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 블록이 하는 일: 앞에서 만든 구조에 geometry·collision·sensor·joint를 하나씩 붙입니다.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rPr/>
              <a:t>현재 열린 파일: ~/ros2_curri/my_agv_ws/src/agv_gazebo/models/agv/model.sdf</a:t>
            </a:r>
            <a:r>
              <a:rPr/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73152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&lt;/visual&gt;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&lt;collision name="caster_collision"&gt;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&lt;geometry&gt;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&lt;sphere&gt;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  &lt;radius&gt;0.04&lt;/radius&gt;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&lt;/sphere&gt;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&lt;/geometry&gt;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&lt;/collision&gt;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&lt;/link&gt;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&lt;joint name="caster_joint" type="fixed"&gt;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입력 16/24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1/3: 코드 입력 (17/24)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~/ros2_curri/my_agv_ws/src/agv_gazebo/models/agv/model.sdf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기반 AGV End-to-End 개발 커리큘럼 · M13 · Block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파일 1/3 · 입력 17/24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 블록이 하는 일: 앞에서 만든 구조에 geometry·collision·sensor·joint를 하나씩 붙입니다.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rPr/>
              <a:t>현재 열린 파일: ~/ros2_curri/my_agv_ws/src/agv_gazebo/models/agv/model.sdf</a:t>
            </a:r>
            <a:r>
              <a:rPr/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73152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&lt;parent&gt;base_link&lt;/parent&gt;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&lt;child&gt;caster_link&lt;/child&gt;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&lt;/joint&gt;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&lt;link name="lidar_link"&gt;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&lt;pose relative_to="base_link"&gt;0.12 0 0.13 0 0 0&lt;/pose&gt;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&lt;visual name="housing"&gt;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&lt;geometry&gt;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&lt;cylinder&gt;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  &lt;radius&gt;0.045&lt;/radius&gt;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  &lt;length&gt;0.05&lt;/length&gt;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입력 17/24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1/3: 코드 입력 (18/24)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~/ros2_curri/my_agv_ws/src/agv_gazebo/models/agv/model.sdf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기반 AGV End-to-End 개발 커리큘럼 · M13 · Block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파일 1/3 · 입력 18/24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 블록이 하는 일: 앞에서 만든 구조에 geometry·collision·sensor·joint를 하나씩 붙입니다.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rPr/>
              <a:t>현재 열린 파일: ~/ros2_curri/my_agv_ws/src/agv_gazebo/models/agv/model.sdf</a:t>
            </a:r>
            <a:r>
              <a:rPr/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73152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&lt;/cylinder&gt;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&lt;/geometry&gt;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&lt;/visual&gt;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&lt;sensor name="lidar" type="gpu_lidar"&gt;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&lt;topic&gt;/scan&lt;/topic&gt;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&lt;always_on&gt;true&lt;/always_on&gt;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&lt;update_rate&gt;10&lt;/update_rate&gt;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&lt;visualize&gt;false&lt;/visualize&gt;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&lt;lidar&gt;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&lt;scan&gt;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  &lt;horizontal&gt;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    &lt;samples&gt;720&lt;/samples&gt;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입력 18/24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1/3: 코드 입력 (19/24)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~/ros2_curri/my_agv_ws/src/agv_gazebo/models/agv/model.sdf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기반 AGV End-to-End 개발 커리큘럼 · M13 · Block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파일 1/3 · 입력 19/24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 블록이 하는 일: 앞에서 만든 구조에 geometry·collision·sensor·joint를 하나씩 붙입니다.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rPr/>
              <a:t>현재 열린 파일: ~/ros2_curri/my_agv_ws/src/agv_gazebo/models/agv/model.sdf</a:t>
            </a:r>
            <a:r>
              <a:rPr/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73152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    &lt;resolution&gt;1&lt;/resolution&gt;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    &lt;min_angle&gt;-3.14159&lt;/min_angle&gt;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    &lt;max_angle&gt;3.14159&lt;/max_angle&gt;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  &lt;/horizontal&gt;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&lt;/scan&gt;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&lt;range&gt;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  &lt;min&gt;0.12&lt;/min&gt;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  &lt;max&gt;12.0&lt;/max&gt;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  &lt;resolution&gt;0.01&lt;/resolution&gt;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&lt;/range&gt;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&lt;/lidar&gt;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&lt;/sensor&gt;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입력 19/24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1/3: 코드 입력 (20/24)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~/ros2_curri/my_agv_ws/src/agv_gazebo/models/agv/model.sdf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기반 AGV End-to-End 개발 커리큘럼 · M13 · Block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파일 1/3 · 입력 20/24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 블록이 하는 일: 앞에서 만든 구조에 geometry·collision·sensor·joint를 하나씩 붙입니다.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rPr/>
              <a:t>현재 열린 파일: ~/ros2_curri/my_agv_ws/src/agv_gazebo/models/agv/model.sdf</a:t>
            </a:r>
            <a:r>
              <a:rPr/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73152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&lt;/link&gt;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&lt;joint name="lidar_joint" type="fixed"&gt;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&lt;parent&gt;base_link&lt;/parent&gt;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&lt;child&gt;lidar_link&lt;/child&gt;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&lt;/joint&gt;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&lt;link name="camera_link"&gt;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&lt;pose relative_to="base_link"&gt;0.30 0 0.10 0 0 0&lt;/pose&gt;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&lt;visual name="housing"&gt;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입력 20/24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1/3: 코드 입력 (21/24)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~/ros2_curri/my_agv_ws/src/agv_gazebo/models/agv/model.sdf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기반 AGV End-to-End 개발 커리큘럼 · M13 · Block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파일 1/3 · 입력 21/24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 블록이 하는 일: 앞에서 만든 구조에 geometry·collision·sensor·joint를 하나씩 붙입니다.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rPr/>
              <a:t>현재 열린 파일: ~/ros2_curri/my_agv_ws/src/agv_gazebo/models/agv/model.sdf</a:t>
            </a:r>
            <a:r>
              <a:rPr/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73152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&lt;geometry&gt;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&lt;box&gt;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  &lt;size&gt;0.05 0.08 0.05&lt;/size&gt;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&lt;/box&gt;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&lt;/geometry&gt;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&lt;/visual&gt;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&lt;sensor name="camera" type="camera"&gt;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&lt;topic&gt;/camera/image_raw&lt;/topic&gt;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&lt;always_on&gt;true&lt;/always_on&gt;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&lt;update_rate&gt;15&lt;/update_rate&gt;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&lt;camera&gt;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&lt;horizontal_fov&gt;1.047&lt;/horizontal_fov&gt;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입력 21/24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1/3: 코드 입력 (22/24)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~/ros2_curri/my_agv_ws/src/agv_gazebo/models/agv/model.sdf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기반 AGV End-to-End 개발 커리큘럼 · M13 · Block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파일 1/3 · 입력 22/24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 블록이 하는 일: 앞에서 만든 구조에 geometry·collision·sensor·joint를 하나씩 붙입니다.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rPr/>
              <a:t>현재 열린 파일: ~/ros2_curri/my_agv_ws/src/agv_gazebo/models/agv/model.sdf</a:t>
            </a:r>
            <a:r>
              <a:rPr/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73152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&lt;image&gt;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  &lt;width&gt;640&lt;/width&gt;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  &lt;height&gt;480&lt;/height&gt;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  &lt;format&gt;R8G8B8&lt;/format&gt;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&lt;/image&gt;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&lt;clip&gt;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  &lt;near&gt;0.1&lt;/near&gt;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  &lt;far&gt;20&lt;/far&gt;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&lt;/clip&gt;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&lt;/camera&gt;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&lt;/sensor&gt;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&lt;/link&gt;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입력 22/24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1/3: 코드 입력 (23/24)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~/ros2_curri/my_agv_ws/src/agv_gazebo/models/agv/model.sdf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기반 AGV End-to-End 개발 커리큘럼 · M13 · Block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파일 1/3 · 입력 23/24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 블록이 하는 일: 앞에서 만든 구조에 geometry·collision·sensor·joint를 하나씩 붙입니다.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rPr/>
              <a:t>현재 열린 파일: ~/ros2_curri/my_agv_ws/src/agv_gazebo/models/agv/model.sdf</a:t>
            </a:r>
            <a:r>
              <a:rPr/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73152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&lt;joint name="camera_joint" type="fixed"&gt;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&lt;parent&gt;base_link&lt;/parent&gt;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&lt;child&gt;camera_link&lt;/child&gt;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&lt;/joint&gt;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&lt;plugin filename="gz-sim-diff-drive-system" name="gz::sim::systems::DiffDrive"&gt;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&lt;left_joint&gt;left_wheel_joint&lt;/left_joint&gt;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&lt;right_joint&gt;right_wheel_joint&lt;/right_joint&gt;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&lt;wheel_separation&gt;0.38&lt;/wheel_separation&gt;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입력 23/24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1/3: 코드 입력 (24/24)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~/ros2_curri/my_agv_ws/src/agv_gazebo/models/agv/model.sdf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기반 AGV End-to-End 개발 커리큘럼 · M13 · Block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파일 1/3 · 입력 24/24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 블록이 하는 일: 마지막 joint·sensor·plugin과 닫는 태그를 입력해 구조를 완성합니다.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rPr/>
              <a:t>현재 열린 파일: ~/ros2_curri/my_agv_ws/src/agv_gazebo/models/agv/model.sdf</a:t>
            </a:r>
            <a:r>
              <a:rPr/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73152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&lt;wheel_radius&gt;0.08&lt;/wheel_radius&gt;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&lt;topic&gt;/cmd_vel&lt;/topic&gt;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&lt;odom_topic&gt;/odom&lt;/odom_topic&gt;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&lt;frame_id&gt;odom&lt;/frame_id&gt;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&lt;child_frame_id&gt;base_link&lt;/child_frame_id&gt;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&lt;/plugin&gt;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&lt;/model&gt;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&lt;/sdf&gt;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입력 24/24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2/3: 폴더를 만들고 빈 파일을 연다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파일을 먼저 만든 뒤, 다음 슬라이드의 코드 블록을 위에서 아래로 직접 입력합니다.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기반 AGV End-to-End 개발 커리큘럼 · M13 · Block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파일 생성 2/3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19072"/>
            <a:ext cx="141732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25B9B"/>
                </a:solidFill>
                <a:latin typeface="Noto Sans CJK KR"/>
              </a:defRPr>
            </a:pPr>
            <a:r>
              <a:rPr/>
              <a:t>이번 파일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719072"/>
            <a:ext cx="923544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DejaVu Sans Mono"/>
              </a:defRPr>
            </a:pPr>
            <a:r>
              <a:rPr/>
              <a:t>~/ros2_curri/my_agv_ws/src/agv_gazebo/config/bridge.yaml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103120"/>
            <a:ext cx="141732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A8B5A"/>
                </a:solidFill>
                <a:latin typeface="Noto Sans CJK KR"/>
              </a:defRPr>
            </a:pPr>
            <a:r>
              <a:rPr/>
              <a:t>만드는 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2103120"/>
            <a:ext cx="923544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122C4E"/>
                </a:solidFill>
                <a:latin typeface="Noto Sans CJK KR"/>
              </a:defRPr>
            </a:pPr>
            <a:r>
              <a:rPr/>
              <a:t>Gazebo Transport 메시지와 ROS 2 topic을 방향별로 연결하는 번역표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6656" y="2852928"/>
            <a:ext cx="10881360" cy="1682496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rPr/>
              <a:t>mkdir -p ~/ros2_curri/my_agv_ws/src/agv_gazebo/config</a:t>
            </a:r>
          </a:p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rPr/>
              <a:t>nano ~/ros2_curri/my_agv_ws/src/agv_gazebo/config/bridge.yaml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4901184"/>
            <a:ext cx="10241280" cy="32918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DB7E22"/>
                </a:solidFill>
                <a:latin typeface="Noto Sans CJK KR"/>
              </a:defRPr>
            </a:pPr>
            <a:r>
              <a:rPr/>
              <a:t>nano 저장: Ctrl+O → Enter → Ctrl+X  |  파일이 열리면 아직 비어 있는 것이 정상입니다.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5504688"/>
            <a:ext cx="10241280" cy="32918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2A8B5A"/>
                </a:solidFill>
                <a:latin typeface="Noto Sans CJK KR"/>
              </a:defRPr>
            </a:pPr>
            <a:r>
              <a:rPr/>
              <a:t>다음 단계의 확인 화면: ros2 topic info에서 보이는 type과 publisher 수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2/3: 코드 읽기 (1/1)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짧은 실제 코드 조각을 먼저 읽고, 다음 슬라이드에서 같은 코드를 직접 입력합니다.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기반 AGV End-to-End 개발 커리큘럼 · M13 · Block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코드 해설 2/3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61848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25B9B"/>
                </a:solidFill>
                <a:latin typeface="DejaVu Sans Mono"/>
              </a:defRPr>
            </a:pPr>
            <a:r>
              <a:rPr/>
              <a:t>~/ros2_curri/my_agv_ws/src/agv_gazebo/config/bridge.yaml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" y="193852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DB7E22"/>
                </a:solidFill>
                <a:latin typeface="Noto Sans CJK KR"/>
              </a:defRPr>
            </a:pPr>
            <a:r>
              <a:rPr/>
              <a:t>말로 먼저 답해 보세요: 이 줄은 무엇을 만들고, 실행하면 어디에서 확인할 수 있을까요?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359152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rPr/>
              <a:t>- ros_topic_name: "/cmd_vel"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2359152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5239512" y="2468880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rPr/>
              <a:t>1.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96128" y="2450592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rPr/>
              <a:t>뜻: 데이터가 오가는 채널의 정확한 이름을 지정합니다.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96128" y="3108960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rPr/>
              <a:t>실행에서: SDF·bridge·node 세 곳의 이름이 같을 때 message가 연결됩니다.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078224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rPr/>
              <a:t>ros_type_name: "geometry_msgs/msg/Twist"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0" y="4078224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5239512" y="4187952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rPr/>
              <a:t>2.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96128" y="4169663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rPr/>
              <a:t>뜻: 실행 코드와 분리한 설정 키와 값을 적습니다.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96128" y="4828032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rPr/>
              <a:t>실행에서: launch 뒤 parameter/topic 동작에서 이 값의 효과를 확인합니다.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6199632"/>
            <a:ext cx="10698480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5C6672"/>
                </a:solidFill>
                <a:latin typeface="Noto Sans CJK KR"/>
              </a:defRPr>
            </a:pPr>
            <a:r>
              <a:rPr/>
              <a:t>다음 코드 입력 슬라이드에서 이 줄을 발견하면, 방금 설명한 ‘뜻’과 ‘실행에서 보이는 변화’를 다시 말해 봅니다.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2/3: 코드 입력 (1/3)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~/ros2_curri/my_agv_ws/src/agv_gazebo/config/bridge.yaml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기반 AGV End-to-End 개발 커리큘럼 · M13 · Block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파일 2/3 · 입력 1/3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 블록이 하는 일: 들여쓰기와 key 이름을 그대로 입력합니다. 설정 이름은 launch·코드가 찾는 이름과 같아야 합니다.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rPr/>
              <a:t>현재 열린 파일: ~/ros2_curri/my_agv_ws/src/agv_gazebo/config/bridge.yaml</a:t>
            </a:r>
            <a:r>
              <a:rPr/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73152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- ros_topic_name: "/cmd_vel"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gz_topic_name: "/cmd_vel"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ros_type_name: "geometry_msgs/msg/Twist"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gz_type_name: "gz.msgs.Twist"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direction: ROS_TO_GZ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- ros_topic_name: "/odom"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gz_topic_name: "/odom"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ros_type_name: "nav_msgs/msg/Odometry"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gz_type_name: "gz.msgs.Odometry"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direction: GZ_TO_ROS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- ros_topic_name: "/scan"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gz_topic_name: "/scan"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입력 1/3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2/3: 코드 입력 (2/3)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~/ros2_curri/my_agv_ws/src/agv_gazebo/config/bridge.yaml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기반 AGV End-to-End 개발 커리큘럼 · M13 · Block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파일 2/3 · 입력 2/3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 블록이 하는 일: 들여쓰기와 key 이름을 그대로 입력합니다. 설정 이름은 launch·코드가 찾는 이름과 같아야 합니다.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rPr/>
              <a:t>현재 열린 파일: ~/ros2_curri/my_agv_ws/src/agv_gazebo/config/bridge.yaml</a:t>
            </a:r>
            <a:r>
              <a:rPr/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73152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ros_type_name: "sensor_msgs/msg/LaserScan"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gz_type_name: "gz.msgs.LaserScan"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direction: GZ_TO_ROS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- ros_topic_name: "/imu/data"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gz_topic_name: "/imu/data"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ros_type_name: "sensor_msgs/msg/Imu"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gz_type_name: "gz.msgs.IMU"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direction: GZ_TO_ROS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- ros_topic_name: "/camera/image_raw"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gz_topic_name: "/camera/image_raw"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ros_type_name: "sensor_msgs/msg/Image"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gz_type_name: "gz.msgs.Image"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입력 2/3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2/3: 코드 입력 (3/3)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~/ros2_curri/my_agv_ws/src/agv_gazebo/config/bridge.yaml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기반 AGV End-to-End 개발 커리큘럼 · M13 · Block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파일 2/3 · 입력 3/3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 블록이 하는 일: 들여쓰기와 key 이름을 그대로 입력합니다. 설정 이름은 launch·코드가 찾는 이름과 같아야 합니다.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rPr/>
              <a:t>현재 열린 파일: ~/ros2_curri/my_agv_ws/src/agv_gazebo/config/bridge.yaml</a:t>
            </a:r>
            <a:r>
              <a:rPr/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73152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direction: GZ_TO_ROS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- ros_topic_name: "/clock"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gz_topic_name: "/clock"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ros_type_name: "rosgraph_msgs/msg/Clock"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gz_type_name: "gz.msgs.Clock"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direction: GZ_TO_ROS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입력 3/3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3/3: 폴더를 만들고 빈 파일을 연다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파일을 먼저 만든 뒤, 다음 슬라이드의 코드 블록을 위에서 아래로 직접 입력합니다.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기반 AGV End-to-End 개발 커리큘럼 · M13 · Block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파일 생성 3/3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19072"/>
            <a:ext cx="141732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25B9B"/>
                </a:solidFill>
                <a:latin typeface="Noto Sans CJK KR"/>
              </a:defRPr>
            </a:pPr>
            <a:r>
              <a:rPr/>
              <a:t>이번 파일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719072"/>
            <a:ext cx="923544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DejaVu Sans Mono"/>
              </a:defRPr>
            </a:pPr>
            <a:r>
              <a:rPr/>
              <a:t>~/ros2_curri/my_agv_ws/src/agv_sensors/agv_sensors/lidar_processor.py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103120"/>
            <a:ext cx="141732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A8B5A"/>
                </a:solidFill>
                <a:latin typeface="Noto Sans CJK KR"/>
              </a:defRPr>
            </a:pPr>
            <a:r>
              <a:rPr/>
              <a:t>만드는 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2103120"/>
            <a:ext cx="923544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122C4E"/>
                </a:solidFill>
                <a:latin typeface="Noto Sans CJK KR"/>
              </a:defRPr>
            </a:pPr>
            <a:r>
              <a:rPr/>
              <a:t>LaserScan의 전방 sector에서 유효 거리 최소값을 계산하는 안전 입력 노드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6656" y="2852928"/>
            <a:ext cx="10881360" cy="1682496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rPr/>
              <a:t>mkdir -p ~/ros2_curri/my_agv_ws/src/agv_sensors/agv_sensors</a:t>
            </a:r>
          </a:p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rPr/>
              <a:t>nano ~/ros2_curri/my_agv_ws/src/agv_sensors/agv_sensors/lidar_processor.py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4901184"/>
            <a:ext cx="10241280" cy="32918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DB7E22"/>
                </a:solidFill>
                <a:latin typeface="Noto Sans CJK KR"/>
              </a:defRPr>
            </a:pPr>
            <a:r>
              <a:rPr/>
              <a:t>nano 저장: Ctrl+O → Enter → Ctrl+X  |  파일이 열리면 아직 비어 있는 것이 정상입니다.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5504688"/>
            <a:ext cx="10241280" cy="32918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2A8B5A"/>
                </a:solidFill>
                <a:latin typeface="Noto Sans CJK KR"/>
              </a:defRPr>
            </a:pPr>
            <a:r>
              <a:rPr/>
              <a:t>다음 단계의 확인 화면: LiDAR terminal의 frame·range와 RViz LaserScan</a:t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3/3: 코드 읽기 (1/5)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짧은 실제 코드 조각을 먼저 읽고, 다음 슬라이드에서 같은 코드를 직접 입력합니다.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기반 AGV End-to-End 개발 커리큘럼 · M13 · Block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코드 해설 3/3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61848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25B9B"/>
                </a:solidFill>
                <a:latin typeface="DejaVu Sans Mono"/>
              </a:defRPr>
            </a:pPr>
            <a:r>
              <a:rPr/>
              <a:t>~/ros2_curri/my_agv_ws/src/agv_sensors/agv_sensors/lidar_processor.py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" y="193852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DB7E22"/>
                </a:solidFill>
                <a:latin typeface="Noto Sans CJK KR"/>
              </a:defRPr>
            </a:pPr>
            <a:r>
              <a:rPr/>
              <a:t>말로 먼저 답해 보세요: 이 줄은 무엇을 만들고, 실행하면 어디에서 확인할 수 있을까요?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359152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rPr/>
              <a:t>import math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2359152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5239512" y="2468880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rPr/>
              <a:t>1.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96128" y="2450592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rPr/>
              <a:t>뜻: 다른 파일에 이미 있는 도구를 이 파일에서 쓰겠다고 가져옵니다.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96128" y="3108960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rPr/>
              <a:t>실행에서: 이 import가 빠지면 실행 전에 이름을 찾지 못했다는 오류가 납니다.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078224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rPr/>
              <a:t>class LidarProcessor(Node):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0" y="4078224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5239512" y="4187952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rPr/>
              <a:t>2.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96128" y="4169663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rPr/>
              <a:t>뜻: 이 Node가 가질 변수와 callback을 한 덩어리로 묶는 설계도입니다.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96128" y="4828032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rPr/>
              <a:t>실행에서: 아래 초기화·callback이 모두 이 node 한 개의 동작이 됩니다.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6199632"/>
            <a:ext cx="10698480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5C6672"/>
                </a:solidFill>
                <a:latin typeface="Noto Sans CJK KR"/>
              </a:defRPr>
            </a:pPr>
            <a:r>
              <a:rPr/>
              <a:t>다음 코드 입력 슬라이드에서 이 줄을 발견하면, 방금 설명한 ‘뜻’과 ‘실행에서 보이는 변화’를 다시 말해 봅니다.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3/3: 코드 읽기 (2/5)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짧은 실제 코드 조각을 먼저 읽고, 다음 슬라이드에서 같은 코드를 직접 입력합니다.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기반 AGV End-to-End 개발 커리큘럼 · M13 · Block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코드 해설 3/3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61848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25B9B"/>
                </a:solidFill>
                <a:latin typeface="DejaVu Sans Mono"/>
              </a:defRPr>
            </a:pPr>
            <a:r>
              <a:rPr/>
              <a:t>~/ros2_curri/my_agv_ws/src/agv_sensors/agv_sensors/lidar_processor.py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" y="193852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DB7E22"/>
                </a:solidFill>
                <a:latin typeface="Noto Sans CJK KR"/>
              </a:defRPr>
            </a:pPr>
            <a:r>
              <a:rPr/>
              <a:t>말로 먼저 답해 보세요: 이 줄은 무엇을 만들고, 실행하면 어디에서 확인할 수 있을까요?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359152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rPr/>
              <a:t>super().__init__('lidar_processor')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2359152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5239512" y="2468880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rPr/>
              <a:t>1.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96128" y="2450592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rPr/>
              <a:t>뜻: ROS graph에 표시될 node 이름을 실제로 정합니다.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96128" y="3108960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rPr/>
              <a:t>실행에서: 실행 후 `ros2 node list`에서 이 이름을 찾습니다.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078224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rPr/>
              <a:t>self.declare_parameter('front_half_angle_deg', 15.0)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0" y="4078224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5239512" y="4187952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rPr/>
              <a:t>2.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96128" y="4169663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rPr/>
              <a:t>뜻: 코드 밖에서 바꿀 값을 이름과 기본값으로 등록합니다.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96128" y="4828032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rPr/>
              <a:t>실행에서: launch/CLI parameter를 바꾸면 코드 수정 없이 동작이 달라집니다.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6199632"/>
            <a:ext cx="10698480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5C6672"/>
                </a:solidFill>
                <a:latin typeface="Noto Sans CJK KR"/>
              </a:defRPr>
            </a:pPr>
            <a:r>
              <a:rPr/>
              <a:t>다음 코드 입력 슬라이드에서 이 줄을 발견하면, 방금 설명한 ‘뜻’과 ‘실행에서 보이는 변화’를 다시 말해 봅니다.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3/3: 코드 읽기 (3/5)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짧은 실제 코드 조각을 먼저 읽고, 다음 슬라이드에서 같은 코드를 직접 입력합니다.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기반 AGV End-to-End 개발 커리큘럼 · M13 · Block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코드 해설 3/3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61848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25B9B"/>
                </a:solidFill>
                <a:latin typeface="DejaVu Sans Mono"/>
              </a:defRPr>
            </a:pPr>
            <a:r>
              <a:rPr/>
              <a:t>~/ros2_curri/my_agv_ws/src/agv_sensors/agv_sensors/lidar_processor.py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" y="193852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DB7E22"/>
                </a:solidFill>
                <a:latin typeface="Noto Sans CJK KR"/>
              </a:defRPr>
            </a:pPr>
            <a:r>
              <a:rPr/>
              <a:t>말로 먼저 답해 보세요: 이 줄은 무엇을 만들고, 실행하면 어디에서 확인할 수 있을까요?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359152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rPr/>
              <a:t>self.subscription = self.create_subscription(LaserScan,</a:t>
            </a:r>
            <a:r>
              <a:rPr/>
              <a:t>'/scan', self.callback,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2359152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5239512" y="2468880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rPr/>
              <a:t>1.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96128" y="2450592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rPr/>
              <a:t>뜻: 이 node가 지정 topic의 message를 받아 callback으로 넘깁니다.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96128" y="3108960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rPr/>
              <a:t>실행에서: 입력 topic을 publish하면 callback의 log 또는 출력이 바뀝니다.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078224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rPr/>
              <a:t>self.publisher = self.create_publisher(Float32,</a:t>
            </a:r>
            <a:r>
              <a:rPr/>
              <a:t>'/obstacle_distance', 10)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0" y="4078224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5239512" y="4187952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rPr/>
              <a:t>2.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96128" y="4169663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rPr/>
              <a:t>뜻: 이 node가 어떤 message를 어느 topic으로 내보낼지 만듭니다.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96128" y="4828032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rPr/>
              <a:t>실행에서: 실행 후 `ros2 topic info`에서 publisher 수가 늘어납니다.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6199632"/>
            <a:ext cx="10698480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5C6672"/>
                </a:solidFill>
                <a:latin typeface="Noto Sans CJK KR"/>
              </a:defRPr>
            </a:pPr>
            <a:r>
              <a:rPr/>
              <a:t>다음 코드 입력 슬라이드에서 이 줄을 발견하면, 방금 설명한 ‘뜻’과 ‘실행에서 보이는 변화’를 다시 말해 봅니다.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3/3: 코드 읽기 (4/5)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짧은 실제 코드 조각을 먼저 읽고, 다음 슬라이드에서 같은 코드를 직접 입력합니다.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기반 AGV End-to-End 개발 커리큘럼 · M13 · Block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코드 해설 3/3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61848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25B9B"/>
                </a:solidFill>
                <a:latin typeface="DejaVu Sans Mono"/>
              </a:defRPr>
            </a:pPr>
            <a:r>
              <a:rPr/>
              <a:t>~/ros2_curri/my_agv_ws/src/agv_sensors/agv_sensors/lidar_processor.py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" y="193852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DB7E22"/>
                </a:solidFill>
                <a:latin typeface="Noto Sans CJK KR"/>
              </a:defRPr>
            </a:pPr>
            <a:r>
              <a:rPr/>
              <a:t>말로 먼저 답해 보세요: 이 줄은 무엇을 만들고, 실행하면 어디에서 확인할 수 있을까요?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359152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rPr/>
              <a:t>def callback(self, scan):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2359152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5239512" y="2468880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rPr/>
              <a:t>1.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96128" y="2450592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rPr/>
              <a:t>뜻: 입력 message가 오거나 timer가 울릴 때 실행할 작은 기능 단위입니다.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96128" y="3108960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rPr/>
              <a:t>실행에서: 이 함수 안의 계산·publish가 실제 node의 반응이 됩니다.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078224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rPr/>
              <a:t>half_angle =</a:t>
            </a:r>
            <a:r>
              <a:rPr/>
              <a:t>math.radians(self.get_parameter('front_half_angle_deg').value)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0" y="4078224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5239512" y="4187952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rPr/>
              <a:t>2.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96128" y="4169663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rPr/>
              <a:t>뜻: 등록한 parameter의 현재 값을 읽어 실제 계산에 사용합니다.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96128" y="4828032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rPr/>
              <a:t>실행에서: `ros2 param get` 값이 node 동작에 반영됩니다.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6199632"/>
            <a:ext cx="10698480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5C6672"/>
                </a:solidFill>
                <a:latin typeface="Noto Sans CJK KR"/>
              </a:defRPr>
            </a:pPr>
            <a:r>
              <a:rPr/>
              <a:t>다음 코드 입력 슬라이드에서 이 줄을 발견하면, 방금 설명한 ‘뜻’과 ‘실행에서 보이는 변화’를 다시 말해 봅니다.</a:t>
            </a: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3/3: 코드 읽기 (5/5)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짧은 실제 코드 조각을 먼저 읽고, 다음 슬라이드에서 같은 코드를 직접 입력합니다.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기반 AGV End-to-End 개발 커리큘럼 · M13 · Block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코드 해설 3/3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61848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25B9B"/>
                </a:solidFill>
                <a:latin typeface="DejaVu Sans Mono"/>
              </a:defRPr>
            </a:pPr>
            <a:r>
              <a:rPr/>
              <a:t>~/ros2_curri/my_agv_ws/src/agv_sensors/agv_sensors/lidar_processor.py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" y="193852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DB7E22"/>
                </a:solidFill>
                <a:latin typeface="Noto Sans CJK KR"/>
              </a:defRPr>
            </a:pPr>
            <a:r>
              <a:rPr/>
              <a:t>말로 먼저 답해 보세요: 이 줄은 무엇을 만들고, 실행하면 어디에서 확인할 수 있을까요?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359152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rPr/>
              <a:t>self.publisher.publish(result)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2359152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5239512" y="2468880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rPr/>
              <a:t>1.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96128" y="2450592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rPr/>
              <a:t>뜻: 완성한 message를 지금 topic으로 한 번 전송합니다.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96128" y="3108960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rPr/>
              <a:t>실행에서: 다른 terminal의 `ros2 topic echo`에서 같은 값이 보입니다.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6199632"/>
            <a:ext cx="10698480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5C6672"/>
                </a:solidFill>
                <a:latin typeface="Noto Sans CJK KR"/>
              </a:defRPr>
            </a:pPr>
            <a:r>
              <a:rPr/>
              <a:t>다음 코드 입력 슬라이드에서 이 줄을 발견하면, 방금 설명한 ‘뜻’과 ‘실행에서 보이는 변화’를 다시 말해 봅니다.</a:t>
            </a: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3/3: 코드 입력 (1/3)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~/ros2_curri/my_agv_ws/src/agv_sensors/agv_sensors/lidar_processor.py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기반 AGV End-to-End 개발 커리큘럼 · M13 · Block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파일 3/3 · 입력 1/3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 블록이 하는 일: 필요한 ROS message와 Node 도구를 import하고, node의 입력·출력 이름을 먼저 정합니다.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rPr/>
              <a:t>현재 열린 파일: ~/ros2_curri/my_agv_ws/src/agv_sensors/agv_sensors/lidar_processor.py</a:t>
            </a:r>
            <a:r>
              <a:rPr/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73152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import math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import rclpy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from rclpy.node import Node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from rclpy.qos import qos_profile_sensor_data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from sensor_msgs.msg import LaserScan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from std_msgs.msg import Float32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class LidarProcessor(Node):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def __init__(self):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super().__init__('lidar_processor')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self.declare_parameter('front_half_angle_deg', 15.0)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입력 1/3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3/3: 코드 입력 (2/3)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~/ros2_curri/my_agv_ws/src/agv_sensors/agv_sensors/lidar_processor.py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기반 AGV End-to-End 개발 커리큘럼 · M13 · Block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파일 3/3 · 입력 2/3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 블록이 하는 일: 앞에서 만든 node에 처리 로직과 publish/subscription 연결을 한 덩어리씩 추가합니다.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rPr/>
              <a:t>현재 열린 파일: ~/ros2_curri/my_agv_ws/src/agv_sensors/agv_sensors/lidar_processor.py</a:t>
            </a:r>
            <a:r>
              <a:rPr/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73152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self.subscription = self.create_subscription(LaserScan, '/scan', self.callback,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  qos_profile_sensor_data)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self.publisher = self.create_publisher(Float32, '/obstacle_distance', 10)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def callback(self, scan):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half_angle = math.radians(self.get_parameter('front_half_angle_deg').value)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front_ranges = [distance for index,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  distance in enumerate(scan.ranges) if abs(scan.angle_min + index * scan.angle_increment) &lt;= half_angle and math.isfinite(distance)]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result = Float32(data=min(front_ranges) if front_ranges else float('inf'))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self.publisher.publish(result)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def main():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입력 2/3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3/3: 코드 입력 (3/3)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~/ros2_curri/my_agv_ws/src/agv_sensors/agv_sensors/lidar_processor.py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기반 AGV End-to-End 개발 커리큘럼 · M13 · Block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파일 3/3 · 입력 3/3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 블록이 하는 일: 마지막 callback·timer·main을 입력해 node가 실제로 시작하고 계속 동작하게 만듭니다.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rPr/>
              <a:t>현재 열린 파일: ~/ros2_curri/my_agv_ws/src/agv_sensors/agv_sensors/lidar_processor.py</a:t>
            </a:r>
            <a:r>
              <a:rPr/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73152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rclpy.init()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node = LidarProcessor()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try: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rclpy.spin(node)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except KeyboardInterrupt: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pass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finally: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node.destroy_node()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if rclpy.ok():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  rclpy.shutdown()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입력 3/3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뒤 실행 1/2: LiDAR 범위와 angle을 읽는다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방금 직접 만든 파일을 실행·검사하며 다음 파일로 넘어갈 기준을 만듭니다.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기반 AGV End-to-End 개발 커리큘럼 · M13 · Block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실행 1/2    |    현재 폴더 ~/ros2_curri/my_agv_ws    |    터미널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1719072"/>
            <a:ext cx="169164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225B9B"/>
                </a:solidFill>
                <a:latin typeface="Noto Sans CJK KR"/>
              </a:defRPr>
            </a:pPr>
            <a:r>
              <a:rPr/>
              <a:t>명령의 목적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" y="2002536"/>
            <a:ext cx="10789920" cy="51206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0">
                <a:solidFill>
                  <a:srgbClr val="122C4E"/>
                </a:solidFill>
                <a:latin typeface="Noto Sans CJK KR"/>
              </a:defRPr>
            </a:pPr>
            <a:r>
              <a:rPr/>
              <a:t>ranges의 index는 angle_min + index×angle_increment로 실제 각도가 된다.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" y="2816352"/>
            <a:ext cx="1083564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225B9B"/>
                </a:solidFill>
                <a:latin typeface="Noto Sans CJK KR"/>
              </a:defRPr>
            </a:pPr>
            <a:r>
              <a:rPr/>
              <a:t>터미널 1 — 아래 검은 블록은 명령만 복사합니다.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6656" y="3154680"/>
            <a:ext cx="10835640" cy="1938528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rPr/>
              <a:t>ros2 interface show sensor_msgs/msg/LaserScan</a:t>
            </a:r>
          </a:p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rPr/>
              <a:t>ros2 topic echo /scan --once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5276088"/>
            <a:ext cx="1056132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2A8B5A"/>
                </a:solidFill>
                <a:latin typeface="Noto Sans CJK KR"/>
              </a:defRPr>
            </a:pPr>
            <a:r>
              <a:rPr/>
              <a:t>터미널 1 역할: 다른 터미널의 실행 결과를 이 창에서 관찰·검증합니다.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5916168"/>
            <a:ext cx="1056132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122C4E"/>
                </a:solidFill>
                <a:latin typeface="Noto Sans CJK KR"/>
              </a:defRPr>
            </a:pPr>
            <a:r>
              <a:rPr/>
              <a:t>확인: 출력에서 topic·frame·파일 이름 또는 성공 메시지를 찾고, 맞지 않으면 다음 파일로 가지 않습니다.</a:t>
            </a: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뒤 실행 2/2: 전방 최소거리 노드를 실행한다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방금 직접 만든 파일을 실행·검사하며 다음 파일로 넘어갈 기준을 만듭니다.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기반 AGV End-to-End 개발 커리큘럼 · M13 · Block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실행 2/2    |    현재 폴더 ~/ros2_curri/my_agv_ws    |    터미널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1719072"/>
            <a:ext cx="169164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225B9B"/>
                </a:solidFill>
                <a:latin typeface="Noto Sans CJK KR"/>
              </a:defRPr>
            </a:pPr>
            <a:r>
              <a:rPr/>
              <a:t>명령의 목적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" y="2002536"/>
            <a:ext cx="10789920" cy="51206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0">
                <a:solidFill>
                  <a:srgbClr val="122C4E"/>
                </a:solidFill>
                <a:latin typeface="Noto Sans CJK KR"/>
              </a:defRPr>
            </a:pPr>
            <a:r>
              <a:rPr/>
              <a:t>inf·NaN은 충돌 판단에서 제외해야 안전한 최소값을 얻는다.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" y="2816352"/>
            <a:ext cx="1083564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225B9B"/>
                </a:solidFill>
                <a:latin typeface="Noto Sans CJK KR"/>
              </a:defRPr>
            </a:pPr>
            <a:r>
              <a:rPr/>
              <a:t>터미널 1 — 아래 검은 블록은 명령만 복사합니다.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6656" y="3154680"/>
            <a:ext cx="10835640" cy="1938528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rPr/>
              <a:t>source ~/ros2_curri/my_agv_ws/install/setup.bash</a:t>
            </a:r>
          </a:p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rPr/>
              <a:t>ros2 run agv_sensors lidar_processor</a:t>
            </a:r>
          </a:p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rPr/>
              <a:t>ros2 topic echo /obstacle_distance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5276088"/>
            <a:ext cx="1056132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2A8B5A"/>
                </a:solidFill>
                <a:latin typeface="Noto Sans CJK KR"/>
              </a:defRPr>
            </a:pPr>
            <a:r>
              <a:rPr/>
              <a:t>터미널 1 역할: 다른 터미널의 실행 결과를 이 창에서 관찰·검증합니다.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5916168"/>
            <a:ext cx="1056132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122C4E"/>
                </a:solidFill>
                <a:latin typeface="Noto Sans CJK KR"/>
              </a:defRPr>
            </a:pPr>
            <a:r>
              <a:rPr/>
              <a:t>확인: 출력에서 topic·frame·파일 이름 또는 성공 메시지를 찾고, 맞지 않으면 다음 파일로 가지 않습니다.</a:t>
            </a: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build → source → run 순서로 실행한다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새 파일 또는 수정 파일은 build와 source 뒤에만 실행 이름·설정에 반영됩니다.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기반 AGV End-to-End 개발 커리큘럼 · M13 · Block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실행    |    현재 폴더 ~/ros2_curri/my_agv_ws    |    터미널 1 + 2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1719072"/>
            <a:ext cx="169164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225B9B"/>
                </a:solidFill>
                <a:latin typeface="Noto Sans CJK KR"/>
              </a:defRPr>
            </a:pPr>
            <a:r>
              <a:rPr/>
              <a:t>명령의 목적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" y="2002536"/>
            <a:ext cx="10789920" cy="51206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0">
                <a:solidFill>
                  <a:srgbClr val="122C4E"/>
                </a:solidFill>
                <a:latin typeface="Noto Sans CJK KR"/>
              </a:defRPr>
            </a:pPr>
            <a:r>
              <a:rPr/>
              <a:t>명령 순서를 바꾸지 않습니다. build가 끝난 뒤 source하고, 마지막 명령으로 node·Gazebo·RViz를 실행합니다.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" y="2679192"/>
            <a:ext cx="10789920" cy="23774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400" b="1">
                <a:solidFill>
                  <a:srgbClr val="DB7E22"/>
                </a:solidFill>
                <a:latin typeface="Noto Sans CJK KR"/>
              </a:defRPr>
            </a:pPr>
            <a:r>
              <a:rPr/>
              <a:t>두 터미널은 동시에 필요합니다. 각 검은 블록에는 그대로 복사할 명령만 들어 있습니다.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" y="3017520"/>
            <a:ext cx="5138928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225B9B"/>
                </a:solidFill>
                <a:latin typeface="Noto Sans CJK KR"/>
              </a:defRPr>
            </a:pPr>
            <a:r>
              <a:rPr/>
              <a:t>터미널 1 — 명령만 복사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6656" y="3328416"/>
            <a:ext cx="5138928" cy="1700784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source /opt/ros/jazzy/setup.bash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source ~/ros2_curri/my_agv_ws/install/setup.bash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ros2 launch agv_bringup agv_sim.launch.py rviz:=false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5166360"/>
            <a:ext cx="4992624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300" b="1">
                <a:solidFill>
                  <a:srgbClr val="2A8B5A"/>
                </a:solidFill>
                <a:latin typeface="Noto Sans CJK KR"/>
              </a:defRPr>
            </a:pPr>
            <a:r>
              <a:rPr/>
              <a:t>터미널 1 역할: 시뮬레이터·bridge·node를 먼저 시작한 뒤 이 창은 종료하지 않고 둡니다.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90488" y="3017520"/>
            <a:ext cx="5138928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225B9B"/>
                </a:solidFill>
                <a:latin typeface="Noto Sans CJK KR"/>
              </a:defRPr>
            </a:pPr>
            <a:r>
              <a:rPr/>
              <a:t>터미널 2 — 명령만 복사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0488" y="3328416"/>
            <a:ext cx="5138928" cy="1700784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source /opt/ros/jazzy/setup.bash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source ~/ros2_curri/my_agv_ws/install/setup.bash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ros2 run agv_sensors lidar_processor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5166360"/>
            <a:ext cx="4992624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300" b="1">
                <a:solidFill>
                  <a:srgbClr val="2A8B5A"/>
                </a:solidFill>
                <a:latin typeface="Noto Sans CJK KR"/>
              </a:defRPr>
            </a:pPr>
            <a:r>
              <a:rPr/>
              <a:t>터미널 2 역할: 이 node를 실행합니다. 출력이 계속 나오는 동안 Ctrl+C로 종료하지 않습니다.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" y="5916168"/>
            <a:ext cx="1056132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122C4E"/>
                </a:solidFill>
                <a:latin typeface="Noto Sans CJK KR"/>
              </a:defRPr>
            </a:pPr>
            <a:r>
              <a:rPr/>
              <a:t>확인: /scan frame·RViz point·/obstacle_distance 출력이 장애물 위치에 반응한다.</a:t>
            </a: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정상 결과: 실제 환경에서 확인한 출력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실제 GNOME Terminal: LaserScan frame·angle·range와 publish rate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기반 AGV End-to-End 개발 커리큘럼 · M13 · Block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9770" y="1353312"/>
            <a:ext cx="6609411" cy="4800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" y="6144768"/>
            <a:ext cx="10607040" cy="31089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2A8B5A"/>
                </a:solidFill>
                <a:latin typeface="Noto Sans CJK KR"/>
              </a:defRPr>
            </a:pPr>
            <a:r>
              <a:rPr/>
              <a:t>화면에서 확인: frame_id, ±pi angle, range_min/max, average rate를 순서대로 읽습니다.</a:t>
            </a: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정상 결과: 실제 환경에서 확인한 출력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실제 RViz2: LaserScan을 RobotModel·TF와 같은 Fixed Frame에서 연 화면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기반 AGV End-to-End 개발 커리큘럼 · M13 · Block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1409" y="1353312"/>
            <a:ext cx="6246133" cy="4800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" y="6144768"/>
            <a:ext cx="10607040" cy="31089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2A8B5A"/>
                </a:solidFill>
                <a:latin typeface="Noto Sans CJK KR"/>
              </a:defRPr>
            </a:pPr>
            <a:r>
              <a:rPr/>
              <a:t>화면에서 확인: Displays에서 LaserScan이 켜져 있고 scan frame을 TF가 변환하는지 확인합니다.</a:t>
            </a: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정상 결과: 실제 환경에서 확인한 출력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실제 ROS 2 환경의 파일·패키지·구성 검증 로그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기반 AGV End-to-End 개발 커리큘럼 · M13 · Block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56" y="1884338"/>
            <a:ext cx="10607040" cy="373854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" y="6144768"/>
            <a:ext cx="10607040" cy="31089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2A8B5A"/>
                </a:solidFill>
                <a:latin typeface="Noto Sans CJK KR"/>
              </a:defRPr>
            </a:pPr>
            <a:r>
              <a:rPr/>
              <a:t>화면에서 확인: ① 명령/설정  ② 정상 출력 또는 화면  ③ 다음 검증 명령으로 재확인</a:t>
            </a: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객관적 검증 명령으로 완료를 확인한다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화면만 보지 말고 topic·frame·파일·parameter를 다시 확인합니다.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기반 AGV End-to-End 개발 커리큘럼 · M13 · Block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검증    |    현재 폴더 ~/ros2_curri/my_agv_ws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755648"/>
            <a:ext cx="10972800" cy="214884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rPr/>
              <a:t>ros2 topic info /scan</a:t>
            </a:r>
          </a:p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rPr/>
              <a:t>ros2 topic hz /scan</a:t>
            </a:r>
          </a:p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rPr/>
              <a:t>ros2 topic echo /obstacle_distance --once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4206240"/>
            <a:ext cx="10972800" cy="1554480"/>
          </a:xfrm>
          <a:prstGeom prst="roundRect">
            <a:avLst/>
          </a:prstGeom>
          <a:solidFill>
            <a:srgbClr val="F4F7FB"/>
          </a:solidFill>
          <a:ln>
            <a:solidFill>
              <a:srgbClr val="D1DF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800" b="1">
                <a:solidFill>
                  <a:srgbClr val="2A8B5A"/>
                </a:solidFill>
                <a:latin typeface="Noto Sans CJK KR"/>
              </a:defRPr>
            </a:pPr>
            <a:r>
              <a:rPr/>
              <a:t>완료 체크</a:t>
            </a:r>
            <a:r>
              <a:rPr/>
              <a:t>□ 명령이 오류 없이 실행된다.</a:t>
            </a:r>
            <a:r>
              <a:rPr/>
              <a:t>□ 기대한 파일·topic·frame·parameter 이름이 보인다.</a:t>
            </a:r>
            <a:r>
              <a:rPr/>
              <a:t>□ 값의 단위와 방향을 한 문장으로 설명할 수 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989320"/>
            <a:ext cx="10789920" cy="23774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22C4E"/>
                </a:solidFill>
                <a:latin typeface="Noto Sans CJK KR"/>
              </a:defRPr>
            </a:pPr>
            <a:r>
              <a:rPr/>
              <a:t>완료 조건: /scan frame·RViz point·/obstacle_distance 출력이 장애물 위치에 반응한다.</a:t>
            </a: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막히면: 증상 → 우선 확인 → 재검증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오류 메시지를 숨기지 않고 같은 순서로 점검합니다.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기반 AGV End-to-End 개발 커리큘럼 · M13 · Block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오류 대응    |    현재 폴더 ~/ros2_curri/my_agv_ws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" y="1755648"/>
            <a:ext cx="10972800" cy="1115568"/>
          </a:xfrm>
          <a:prstGeom prst="roundRect">
            <a:avLst/>
          </a:prstGeom>
          <a:solidFill>
            <a:srgbClr val="FFF7F4"/>
          </a:solidFill>
          <a:ln>
            <a:solidFill>
              <a:srgbClr val="EDB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896112" y="1901952"/>
            <a:ext cx="292608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BE3B3B"/>
                </a:solidFill>
                <a:latin typeface="Noto Sans CJK KR"/>
              </a:defRPr>
            </a:pPr>
            <a:r>
              <a:rPr/>
              <a:t>증상 1: /scan이 없음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94760" y="1883664"/>
            <a:ext cx="7543800" cy="62179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600" b="0">
                <a:solidFill>
                  <a:srgbClr val="122C4E"/>
                </a:solidFill>
                <a:latin typeface="Noto Sans CJK KR"/>
              </a:defRPr>
            </a:pPr>
            <a:r>
              <a:rPr/>
              <a:t>우선 확인: SDF sensor → bridge YAML → ROS topic 순서로 확인한다.</a:t>
            </a:r>
            <a:r>
              <a:rPr/>
              <a:t>수정 후: ros2 topic info /scan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" y="3172968"/>
            <a:ext cx="10972800" cy="1115568"/>
          </a:xfrm>
          <a:prstGeom prst="roundRect">
            <a:avLst/>
          </a:prstGeom>
          <a:solidFill>
            <a:srgbClr val="FFF7F4"/>
          </a:solidFill>
          <a:ln>
            <a:solidFill>
              <a:srgbClr val="EDB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896112" y="3319272"/>
            <a:ext cx="292608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BE3B3B"/>
                </a:solidFill>
                <a:latin typeface="Noto Sans CJK KR"/>
              </a:defRPr>
            </a:pPr>
            <a:r>
              <a:rPr/>
              <a:t>증상 2: 최소거리가 항상 inf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94760" y="3300984"/>
            <a:ext cx="7543800" cy="62179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600" b="0">
                <a:solidFill>
                  <a:srgbClr val="122C4E"/>
                </a:solidFill>
                <a:latin typeface="Noto Sans CJK KR"/>
              </a:defRPr>
            </a:pPr>
            <a:r>
              <a:rPr/>
              <a:t>우선 확인: 유효 range 필터와 sector index 계산을 확인한다.</a:t>
            </a:r>
            <a:r>
              <a:rPr/>
              <a:t>수정 후: ros2 topic info /scan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102352"/>
            <a:ext cx="10607040" cy="40233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800" b="1">
                <a:solidFill>
                  <a:srgbClr val="DB7E22"/>
                </a:solidFill>
                <a:latin typeface="Noto Sans CJK KR"/>
              </a:defRPr>
            </a:pPr>
            <a:r>
              <a:rPr/>
              <a:t>공통 순서: ① 현재 폴더 ② source ③ 파일 경로 ④ 이름/타입/단위 ⑤ build·source 후 재실행</a:t>
            </a: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막혔을 때만: Complete를 복구용으로 사용한다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이 슬라이드가 먼저가 아닙니다. 직접 입력·실행을 시도한 뒤에만 내 파일과 Complete를 비교합니다.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기반 AGV End-to-End 개발 커리큘럼 · M13 · Block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복구용 Complete    |    현재 폴더 ~/ros2_curri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664208"/>
            <a:ext cx="10698480" cy="40233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800" b="1">
                <a:solidFill>
                  <a:srgbClr val="DB7E22"/>
                </a:solidFill>
                <a:latin typeface="Noto Sans CJK KR"/>
              </a:defRPr>
            </a:pPr>
            <a:r>
              <a:rPr/>
              <a:t>권장 순서: ① 내 오류를 확인  ② Complete와 diff  ③ 꼭 필요할 때만 backup 후 복사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6656" y="2423160"/>
            <a:ext cx="10881360" cy="260604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cd ~/ros2_curri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diff -ru my_agv_ws/src blocks/D_sensors/M13_lidar_sensor/complete/agv_ws/src || true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cp -a my_agv_ws/src my_agv_ws/src_before_M13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cp -a blocks/D_sensors/M13_lidar_sensor/complete/agv_ws/src/. my_agv_ws/src/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cd my_agv_ws &amp;&amp; colcon build --symlink-install &amp;&amp; source install/setup.bash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5413248"/>
            <a:ext cx="10424160" cy="4297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700" b="1">
                <a:solidFill>
                  <a:srgbClr val="2A8B5A"/>
                </a:solidFill>
                <a:latin typeface="Noto Sans CJK KR"/>
              </a:defRPr>
            </a:pPr>
            <a:r>
              <a:rPr/>
              <a:t>복구 뒤에는 끝내지 말고, 내 파일과 Complete의 차이를 한 줄씩 설명한 뒤 다시 직접 입력해 봅니다.</a:t>
            </a: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미니 실습: 값 하나를 바꾸고 결과를 비교한다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정상 결과를 만든 뒤에는 한 번에 하나의 값만 바꿉니다.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기반 AGV End-to-End 개발 커리큘럼 · M13 · Block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미니 실습    |    현재 폴더 ~/ros2_curri/my_agv_ws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874519"/>
            <a:ext cx="10652760" cy="1993392"/>
          </a:xfrm>
          <a:prstGeom prst="roundRect">
            <a:avLst/>
          </a:prstGeom>
          <a:solidFill>
            <a:srgbClr val="FFF8EB"/>
          </a:solidFill>
          <a:ln>
            <a:solidFill>
              <a:srgbClr val="ECC6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2300" b="1">
                <a:solidFill>
                  <a:srgbClr val="122C4E"/>
                </a:solidFill>
                <a:latin typeface="Noto Sans CJK KR"/>
              </a:defRPr>
            </a:pPr>
            <a:r>
              <a:rPr/>
              <a:t>front_half_angle_deg를 15°와 45°로 각각 실행해 장애물 판정 영역이 어떻게 달라지는지 비교한다.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4590288"/>
            <a:ext cx="10241280" cy="5943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900" b="1">
                <a:solidFill>
                  <a:srgbClr val="DB7E22"/>
                </a:solidFill>
                <a:latin typeface="Noto Sans CJK KR"/>
              </a:defRPr>
            </a:pPr>
            <a:r>
              <a:rPr/>
              <a:t>기록할 것: 바꾼 값(단위) · 기대한 변화 · 실제 출력/화면 · 원래 값으로 되돌린 결과</a:t>
            </a: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내 프로젝트 체크포인트를 저장하고 다음 모듈로 넘긴다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Complete는 복구용 비교 기준이고, 다음 단계는 내가 직접 만든 workspace에서 계속합니다.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기반 AGV End-to-End 개발 커리큘럼 · M13 · Block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체크포인트    |    현재 폴더 ~/ros2_curri/my_agv_ws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737360"/>
            <a:ext cx="10972800" cy="3611880"/>
          </a:xfrm>
          <a:prstGeom prst="roundRect">
            <a:avLst/>
          </a:prstGeom>
          <a:solidFill>
            <a:srgbClr val="F4F7FB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896112" y="1993392"/>
            <a:ext cx="10332720" cy="297180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22C4E"/>
                </a:solidFill>
                <a:latin typeface="Noto Sans CJK KR"/>
              </a:defRPr>
            </a:pPr>
            <a:r>
              <a:rPr/>
              <a:t>• □ 완료 화면: /scan frame·RViz point·/obstacle_distance 출력이 장애물 위치에 반응한다.</a:t>
            </a:r>
          </a:p>
          <a:p>
            <a:pPr>
              <a:spcAft>
                <a:spcPts val="800"/>
              </a:spcAft>
              <a:defRPr sz="1800">
                <a:solidFill>
                  <a:srgbClr val="122C4E"/>
                </a:solidFill>
                <a:latin typeface="Noto Sans CJK KR"/>
              </a:defRPr>
            </a:pPr>
            <a:r>
              <a:rPr/>
              <a:t>• □ 막혔을 때 비교할 Complete: blocks/D_sensors/M13_lidar_sensor/complete/</a:t>
            </a:r>
          </a:p>
          <a:p>
            <a:pPr>
              <a:spcAft>
                <a:spcPts val="800"/>
              </a:spcAft>
              <a:defRPr sz="1800">
                <a:solidFill>
                  <a:srgbClr val="122C4E"/>
                </a:solidFill>
                <a:latin typeface="Noto Sans CJK KR"/>
              </a:defRPr>
            </a:pPr>
            <a:r>
              <a:rPr/>
              <a:t>• □ 정상 로그·캡처: logs/validation.log, screenshots/validation_terminal.png</a:t>
            </a:r>
          </a:p>
          <a:p>
            <a:pPr>
              <a:spcAft>
                <a:spcPts val="800"/>
              </a:spcAft>
              <a:defRPr sz="1800">
                <a:solidFill>
                  <a:srgbClr val="122C4E"/>
                </a:solidFill>
                <a:latin typeface="Noto Sans CJK KR"/>
              </a:defRPr>
            </a:pPr>
            <a:r>
              <a:rPr/>
              <a:t>• □ 버전 식별: CHECKSUM_or_TAG.txt의 SHA-256 manifest</a:t>
            </a:r>
          </a:p>
          <a:p>
            <a:pPr>
              <a:spcAft>
                <a:spcPts val="800"/>
              </a:spcAft>
              <a:defRPr sz="1800">
                <a:solidFill>
                  <a:srgbClr val="122C4E"/>
                </a:solidFill>
                <a:latin typeface="Noto Sans CJK KR"/>
              </a:defRPr>
            </a:pPr>
            <a:r>
              <a:rPr/>
              <a:t>• □ 다음 시작 조건: M14 IMU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5596128"/>
            <a:ext cx="10515600" cy="33832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700" b="1">
                <a:solidFill>
                  <a:srgbClr val="2A8B5A"/>
                </a:solidFill>
                <a:latin typeface="Noto Sans CJK KR"/>
              </a:defRPr>
            </a:pPr>
            <a:r>
              <a:rPr/>
              <a:t>다음 모듈을 시작하기 전, 내 src의 변경사항을 저장하고 현재 완료 조건을 다시 확인합니다.</a:t>
            </a: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공식 참고 자료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본문 단계는 링크를 열지 않아도 완료할 수 있으며, 링크는 개념을 더 확인할 때만 사용합니다.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기반 AGV End-to-End 개발 커리큘럼 · M13 · Block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54480"/>
            <a:ext cx="10972800" cy="4526280"/>
          </a:xfrm>
          <a:prstGeom prst="roundRect">
            <a:avLst/>
          </a:prstGeom>
          <a:solidFill>
            <a:srgbClr val="F4F7FB"/>
          </a:solidFill>
          <a:ln>
            <a:solidFill>
              <a:srgbClr val="D7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914400" y="1773936"/>
            <a:ext cx="384048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122C4E"/>
                </a:solidFill>
                <a:latin typeface="Noto Sans CJK KR"/>
              </a:defRPr>
            </a:pPr>
            <a:r>
              <a:rPr/>
              <a:t>ROS 2 Jazzy — Gazebo Simulation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48255"/>
            <a:ext cx="9966960" cy="47548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225B9B"/>
                </a:solidFill>
                <a:latin typeface="DejaVu Sans Mono"/>
              </a:defRPr>
            </a:pPr>
            <a:r>
              <a:rPr/>
              <a:t>https://docs.ros.org/en/jazzy/Tutorials/Advanced/Simulators/Gazebo/Simulation-Gazebo.html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852928"/>
            <a:ext cx="384048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122C4E"/>
                </a:solidFill>
                <a:latin typeface="Noto Sans CJK KR"/>
              </a:defRPr>
            </a:pPr>
            <a:r>
              <a:rPr/>
              <a:t>ROS 2 Jazzy — URDF / robot_state_publisher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127248"/>
            <a:ext cx="9966960" cy="47548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225B9B"/>
                </a:solidFill>
                <a:latin typeface="DejaVu Sans Mono"/>
              </a:defRPr>
            </a:pPr>
            <a:r>
              <a:rPr/>
              <a:t>https://docs.ros.org/en/jazzy/Tutorials/Intermediate/URDF/Using-URDF-with-Robot-State-Publisher-py.html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931920"/>
            <a:ext cx="384048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122C4E"/>
                </a:solidFill>
                <a:latin typeface="Noto Sans CJK KR"/>
              </a:defRPr>
            </a:pPr>
            <a:r>
              <a:rPr/>
              <a:t>Gazebo — ROS 2 Integration / ros_gz_bridge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206240"/>
            <a:ext cx="9966960" cy="47548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225B9B"/>
                </a:solidFill>
                <a:latin typeface="DejaVu Sans Mono"/>
              </a:defRPr>
            </a:pPr>
            <a:r>
              <a:rPr/>
              <a:t>https://gazebosim.org/docs/latest/ros2_integration/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010912"/>
            <a:ext cx="384048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122C4E"/>
                </a:solidFill>
                <a:latin typeface="Noto Sans CJK KR"/>
              </a:defRPr>
            </a:pPr>
            <a:r>
              <a:rPr/>
              <a:t>ROS 2 Jazzy — rosbag2 Recording and Playback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285232"/>
            <a:ext cx="9966960" cy="47548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225B9B"/>
                </a:solidFill>
                <a:latin typeface="DejaVu Sans Mono"/>
              </a:defRPr>
            </a:pPr>
            <a:r>
              <a:rPr/>
              <a:t>https://docs.ros.org/en/jazzy/Tutorials/Beginner-CLI-Tools/Recording-And-Playing-Back-Data/Recording-And-Playing-Back-Data.html</a:t>
            </a: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22C4E"/>
          </a:solidFill>
          <a:ln>
            <a:solidFill>
              <a:srgbClr val="122C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31089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Noto Sans CJK KR"/>
              </a:defRPr>
            </a:pPr>
            <a:r>
              <a:t>Block D · 3/4 · M14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515600" cy="6400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defRPr sz="3400" b="1">
                <a:solidFill>
                  <a:srgbClr val="122C4E"/>
                </a:solidFill>
                <a:latin typeface="Noto Sans CJK KR"/>
              </a:defRPr>
            </a:pPr>
            <a:r>
              <a:t>IMU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0120" y="3108960"/>
            <a:ext cx="10287000" cy="1325880"/>
          </a:xfrm>
          <a:prstGeom prst="round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900" b="1">
                <a:solidFill>
                  <a:srgbClr val="122C4E"/>
                </a:solidFill>
                <a:latin typeface="Noto Sans CJK KR"/>
              </a:defRPr>
            </a:pPr>
            <a:r>
              <a:t>M14의 독립 PPT 전체를 바로 다음 슬라이드부터 순서대로 진행합니다.</a:t>
            </a:r>
            <a:br/>
            <a:r>
              <a:t>이 Block 통합본에서도 Starter → 파일 작성 → 실행 → 검증 → 오류 대응 → Checkpoint 순서는 바뀌지 않습니다.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897880"/>
            <a:ext cx="1042416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defRPr sz="1500" b="1">
                <a:solidFill>
                  <a:srgbClr val="2A8B5A"/>
                </a:solidFill>
                <a:latin typeface="Noto Sans CJK KR"/>
              </a:defRPr>
            </a:pPr>
            <a:r>
              <a:t>모듈을 건너뛰지 말고, 이전 M의 Complete가 준비된 뒤 다음 M으로 이동합니다.</a:t>
            </a: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2C4E"/>
          </a:solidFill>
          <a:ln>
            <a:solidFill>
              <a:srgbClr val="122C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1400" b="1">
                <a:solidFill>
                  <a:srgbClr val="FFFFFF"/>
                </a:solidFill>
                <a:latin typeface="Noto Sans CJK KR"/>
              </a:defRPr>
            </a:pPr>
            <a:r>
              <a:rPr/>
              <a:t>ROS 2 기반 AGV End-to-End 개발 커리큘럼 · M14 · Block 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600200"/>
            <a:ext cx="10698480" cy="10058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3400" b="1">
                <a:solidFill>
                  <a:srgbClr val="122C4E"/>
                </a:solidFill>
                <a:latin typeface="Noto Sans CJK KR"/>
              </a:defRPr>
            </a:pPr>
            <a:r>
              <a:rPr/>
              <a:t>IMU Sensor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834640"/>
            <a:ext cx="10149840" cy="5029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2200" b="1">
                <a:solidFill>
                  <a:srgbClr val="2A8B5A"/>
                </a:solidFill>
                <a:latin typeface="Noto Sans CJK KR"/>
              </a:defRPr>
            </a:pPr>
            <a:r>
              <a:rPr/>
              <a:t>/imu/data의 z축 gyro 값과 noise 설정을 terminal에서 확인한다.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3822191"/>
            <a:ext cx="9418320" cy="1051560"/>
          </a:xfrm>
          <a:prstGeom prst="round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1800" b="1">
                <a:solidFill>
                  <a:srgbClr val="122C4E"/>
                </a:solidFill>
                <a:latin typeface="Noto Sans CJK KR"/>
              </a:defRPr>
            </a:pPr>
            <a:r>
              <a:rPr/>
              <a:t>기준 환경</a:t>
            </a:r>
            <a:r>
              <a:rPr/>
              <a:t>Ubuntu 24.04 LTS · ROS 2 Jazzy · Gazebo Harmonic · RViz2 · Python(rclpy)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080760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0">
                <a:solidFill>
                  <a:srgbClr val="5C6672"/>
                </a:solidFill>
                <a:latin typeface="Noto Sans CJK KR"/>
              </a:defRPr>
            </a:pPr>
            <a:r>
              <a:rPr/>
              <a:t>이 PPT에서 폴더 생성 → 빈 파일 열기 → 코드 입력·저장 → build/run → 검증을 직접 반복합니다.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기반 AGV End-to-End 개발 커리큘럼 · M14 · Block 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전체 과정에서 현재 위치를 확인한다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앞 모듈의 Complete가 현재 Starter가 되고, 현재 Complete가 다음 모듈로 넘어갑니다.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기반 AGV End-to-End 개발 커리큘럼 · M14 · Block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2377440"/>
            <a:ext cx="32461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5C66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2000" b="1">
                <a:solidFill>
                  <a:srgbClr val="5C6672"/>
                </a:solidFill>
                <a:latin typeface="Noto Sans CJK KR"/>
              </a:defRPr>
            </a:pPr>
            <a:r>
              <a:rPr/>
              <a:t>M13 /scan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968496" y="3035808"/>
            <a:ext cx="457200" cy="0"/>
          </a:xfrm>
          <a:prstGeom prst="line">
            <a:avLst/>
          </a:prstGeom>
          <a:ln w="38100">
            <a:solidFill>
              <a:srgbClr val="5C66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553712" y="2377440"/>
            <a:ext cx="32461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2000" b="1">
                <a:solidFill>
                  <a:srgbClr val="225B9B"/>
                </a:solidFill>
                <a:latin typeface="Noto Sans CJK KR"/>
              </a:defRPr>
            </a:pPr>
            <a:r>
              <a:rPr/>
              <a:t>M14</a:t>
            </a:r>
            <a:r>
              <a:rPr/>
              <a:t>IMU Sensor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808976" y="3035808"/>
            <a:ext cx="457199" cy="0"/>
          </a:xfrm>
          <a:prstGeom prst="line">
            <a:avLst/>
          </a:prstGeom>
          <a:ln w="38100">
            <a:solidFill>
              <a:srgbClr val="225B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8394192" y="2377440"/>
            <a:ext cx="32461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2A8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2000" b="1">
                <a:solidFill>
                  <a:srgbClr val="2A8B5A"/>
                </a:solidFill>
                <a:latin typeface="Noto Sans CJK KR"/>
              </a:defRPr>
            </a:pPr>
            <a:r>
              <a:rPr/>
              <a:t>M15 운영/QoS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617720"/>
            <a:ext cx="10424160" cy="56692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22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이번 모듈의 인계: /imu/data의 z축 gyro 값과 noise 설정을 terminal에서 확인한다.</a:t>
            </a: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시작 상태를 먼저 맞춘다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실습 시작 전에 현재 폴더·이전 파일·실행 프로그램을 확인합니다.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기반 AGV End-to-End 개발 커리큘럼 · M14 · Block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시작    |    현재 폴더 ~/ros2_curri/my_agv_ws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1783080"/>
            <a:ext cx="10972800" cy="3429000"/>
          </a:xfrm>
          <a:prstGeom prst="roundRect">
            <a:avLst/>
          </a:prstGeom>
          <a:solidFill>
            <a:srgbClr val="F4F7FB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914400" y="2011680"/>
            <a:ext cx="10424160" cy="283464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122C4E"/>
                </a:solidFill>
                <a:latin typeface="Noto Sans CJK KR"/>
              </a:defRPr>
            </a:pPr>
            <a:r>
              <a:rPr/>
              <a:t>• 시작 상태: IMU sensor가 base_link에 장착되어 있고 M09 주행이 가능한 상태.</a:t>
            </a:r>
          </a:p>
          <a:p>
            <a:pPr>
              <a:spcAft>
                <a:spcPts val="800"/>
              </a:spcAft>
              <a:defRPr sz="1900">
                <a:solidFill>
                  <a:srgbClr val="122C4E"/>
                </a:solidFill>
                <a:latin typeface="Noto Sans CJK KR"/>
              </a:defRPr>
            </a:pPr>
            <a:r>
              <a:rPr/>
              <a:t>• 이전 Complete: M13 /scan</a:t>
            </a:r>
          </a:p>
          <a:p>
            <a:pPr>
              <a:spcAft>
                <a:spcPts val="800"/>
              </a:spcAft>
              <a:defRPr sz="1900">
                <a:solidFill>
                  <a:srgbClr val="122C4E"/>
                </a:solidFill>
                <a:latin typeface="Noto Sans CJK KR"/>
              </a:defRPr>
            </a:pPr>
            <a:r>
              <a:rPr/>
              <a:t>• 현재 폴더: ~/ros2_curri/my_agv_ws</a:t>
            </a:r>
          </a:p>
          <a:p>
            <a:pPr>
              <a:spcAft>
                <a:spcPts val="800"/>
              </a:spcAft>
              <a:defRPr sz="1900">
                <a:solidFill>
                  <a:srgbClr val="122C4E"/>
                </a:solidFill>
                <a:latin typeface="Noto Sans CJK KR"/>
              </a:defRPr>
            </a:pPr>
            <a:r>
              <a:rPr/>
              <a:t>• 새 터미널마다: source /opt/ros/jazzy/setup.bash → source install/setup.bash</a:t>
            </a:r>
          </a:p>
          <a:p>
            <a:pPr>
              <a:spcAft>
                <a:spcPts val="800"/>
              </a:spcAft>
              <a:defRPr sz="1900">
                <a:solidFill>
                  <a:srgbClr val="122C4E"/>
                </a:solidFill>
                <a:latin typeface="Noto Sans CJK KR"/>
              </a:defRPr>
            </a:pPr>
            <a:r>
              <a:rPr/>
              <a:t>• 파일 경로는 PPT와 Complete 폴더에서 같은 이름으로 유지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5532120"/>
            <a:ext cx="10515600" cy="3200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2A8B5A"/>
                </a:solidFill>
                <a:latin typeface="Noto Sans CJK KR"/>
              </a:defRPr>
            </a:pPr>
            <a:r>
              <a:rPr/>
              <a:t>확인: pwd가 ~/ros2_curri/my_agv_ws이고, 이전 모듈의 완료 조건을 한 문장으로 설명할 수 있으면 시작합니다.</a:t>
            </a: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이번 모듈의 눈으로 확인할 완료 조건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‘이해했다’가 아니라 실제로 보이는 결과를 기준으로 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기반 AGV End-to-End 개발 커리큘럼 · M14 · Block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700784"/>
            <a:ext cx="10744200" cy="1325880"/>
          </a:xfrm>
          <a:prstGeom prst="roundRect">
            <a:avLst/>
          </a:prstGeom>
          <a:solidFill>
            <a:srgbClr val="EEF7F1"/>
          </a:solidFill>
          <a:ln>
            <a:solidFill>
              <a:srgbClr val="A8D3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2500" b="1">
                <a:solidFill>
                  <a:srgbClr val="122C4E"/>
                </a:solidFill>
                <a:latin typeface="Noto Sans CJK KR"/>
              </a:defRPr>
            </a:pPr>
            <a:r>
              <a:rPr/>
              <a:t>angular_velocity·linear_acceleration·frame_id를 AGV 회전과 가속의 좌표축으로 해석한다.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3401568"/>
            <a:ext cx="10744200" cy="1325880"/>
          </a:xfrm>
          <a:prstGeom prst="roundRect">
            <a:avLst/>
          </a:prstGeom>
          <a:solidFill>
            <a:srgbClr val="F4F7FB"/>
          </a:solidFill>
          <a:ln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2200" b="1">
                <a:solidFill>
                  <a:srgbClr val="2A8B5A"/>
                </a:solidFill>
                <a:latin typeface="Noto Sans CJK KR"/>
              </a:defRPr>
            </a:pPr>
            <a:r>
              <a:rPr/>
              <a:t>완료 화면/결과</a:t>
            </a:r>
            <a:r>
              <a:rPr/>
              <a:t>/imu/data의 z축 gyro 값과 noise 설정을 terminal에서 확인한다.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5349240"/>
            <a:ext cx="10424160" cy="4114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800" b="0">
                <a:solidFill>
                  <a:srgbClr val="122C4E"/>
                </a:solidFill>
                <a:latin typeface="Noto Sans CJK KR"/>
              </a:defRPr>
            </a:pPr>
            <a:r>
              <a:rPr/>
              <a:t>종료 전에는 ‘무엇이 보이면 성공인가’를 terminal 또는 Gazebo/RViz 화면에서 반드시 확인합니다.</a:t>
            </a: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프로젝트에 이번 기능을 직접 추가한다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완성본을 먼저 복사하지 않습니다. 빈 workspace에 지금 필요한 폴더와 파일을 하나씩 만듭니다.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기반 AGV End-to-End 개발 커리큘럼 · M14 · Block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프로젝트 조립    |    현재 폴더 ~/ros2_curri/my_agv_ws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55648"/>
            <a:ext cx="10835640" cy="1033271"/>
          </a:xfrm>
          <a:prstGeom prst="roundRect">
            <a:avLst/>
          </a:prstGeom>
          <a:solidFill>
            <a:srgbClr val="F4F7FB"/>
          </a:solidFill>
          <a:ln>
            <a:solidFill>
              <a:srgbClr val="5C66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960120" y="1911095"/>
            <a:ext cx="19202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5C6672"/>
                </a:solidFill>
                <a:latin typeface="Noto Sans CJK KR"/>
              </a:defRPr>
            </a:pPr>
            <a:r>
              <a:rPr/>
              <a:t>이미 있는 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88920" y="1892807"/>
            <a:ext cx="8229600" cy="56692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122C4E"/>
                </a:solidFill>
                <a:latin typeface="Noto Sans CJK KR"/>
              </a:defRPr>
            </a:pPr>
            <a:r>
              <a:rPr/>
              <a:t>M13 /scan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81528"/>
            <a:ext cx="10835640" cy="1033271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960120" y="3236976"/>
            <a:ext cx="19202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225B9B"/>
                </a:solidFill>
                <a:latin typeface="Noto Sans CJK KR"/>
              </a:defRPr>
            </a:pPr>
            <a:r>
              <a:rPr/>
              <a:t>이번에 직접 만들 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88920" y="3218688"/>
            <a:ext cx="8229600" cy="56692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122C4E"/>
                </a:solidFill>
                <a:latin typeface="Noto Sans CJK KR"/>
              </a:defRPr>
            </a:pPr>
            <a:r>
              <a:rPr/>
              <a:t>angular_velocity·linear_acceleration·frame_id를 AGV 회전과 가속의 좌표축으로 해석한다.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407408"/>
            <a:ext cx="10835640" cy="1033271"/>
          </a:xfrm>
          <a:prstGeom prst="roundRect">
            <a:avLst/>
          </a:prstGeom>
          <a:solidFill>
            <a:srgbClr val="F4F7FB"/>
          </a:solidFill>
          <a:ln>
            <a:solidFill>
              <a:srgbClr val="2A8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960120" y="4562856"/>
            <a:ext cx="19202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2A8B5A"/>
                </a:solidFill>
                <a:latin typeface="Noto Sans CJK KR"/>
              </a:defRPr>
            </a:pPr>
            <a:r>
              <a:rPr/>
              <a:t>만들고 나서 확인할 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88920" y="4544568"/>
            <a:ext cx="8229600" cy="56692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122C4E"/>
                </a:solidFill>
                <a:latin typeface="Noto Sans CJK KR"/>
              </a:defRPr>
            </a:pPr>
            <a:r>
              <a:rPr/>
              <a:t>/imu/data의 z축 gyro 값과 noise 설정을 terminal에서 확인한다.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" y="5833872"/>
            <a:ext cx="10561320" cy="3657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DB7E22"/>
                </a:solidFill>
                <a:latin typeface="Noto Sans CJK KR"/>
              </a:defRPr>
            </a:pPr>
            <a:r>
              <a:rPr/>
              <a:t>이번 모듈에서는 4개 파일을 빈 상태에서 직접 만듭니다. 다음 슬라이드의 명령을 입력한 뒤에만 코드를 작성합니다.</a:t>
            </a: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먼저 이번 단계의 완료 모습을 본다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지금부터 폴더·파일·코드를 만들면 아래의 실제 결과에 도달합니다. 보이는 기준을 기억한 뒤 구현합니다.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기반 AGV End-to-End 개발 커리큘럼 · M14 · Block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4190" y="1389888"/>
            <a:ext cx="6420570" cy="46634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" y="6126480"/>
            <a:ext cx="106070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2A8B5A"/>
                </a:solidFill>
                <a:latin typeface="Noto Sans CJK KR"/>
              </a:defRPr>
            </a:pPr>
            <a:r>
              <a:rPr/>
              <a:t>목표 화면: 실제 GNOME Terminal: /imu/data의 frame·필드와 publish rate  |  나중에 확인할 것: agv/base_link/imu frame과 angular_velocity·linear_acceleration 필드, average rate를 찾습니다.</a:t>
            </a: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핵심 흐름을 한 장으로 이해하기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상자와 화살표의 방향을 따라 데이터 또는 제어의 흐름을 읽습니다.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기반 AGV End-to-End 개발 커리큘럼 · M14 · Block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568195" y="2743200"/>
            <a:ext cx="2029968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1900" b="1">
                <a:solidFill>
                  <a:srgbClr val="122C4E"/>
                </a:solidFill>
                <a:latin typeface="Noto Sans CJK KR"/>
              </a:defRPr>
            </a:pPr>
            <a:r>
              <a:rPr/>
              <a:t>Gazebo IMU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598164" y="3264408"/>
            <a:ext cx="283464" cy="0"/>
          </a:xfrm>
          <a:prstGeom prst="line">
            <a:avLst/>
          </a:prstGeom>
          <a:ln w="31750">
            <a:solidFill>
              <a:srgbClr val="225B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909060" y="2743200"/>
            <a:ext cx="2029968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1900" b="1">
                <a:solidFill>
                  <a:srgbClr val="122C4E"/>
                </a:solidFill>
                <a:latin typeface="Noto Sans CJK KR"/>
              </a:defRPr>
            </a:pPr>
            <a:r>
              <a:rPr/>
              <a:t>bridge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939028" y="3264408"/>
            <a:ext cx="283464" cy="0"/>
          </a:xfrm>
          <a:prstGeom prst="line">
            <a:avLst/>
          </a:prstGeom>
          <a:ln w="31750">
            <a:solidFill>
              <a:srgbClr val="225B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249924" y="2743200"/>
            <a:ext cx="2029968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1900" b="1">
                <a:solidFill>
                  <a:srgbClr val="122C4E"/>
                </a:solidFill>
                <a:latin typeface="Noto Sans CJK KR"/>
              </a:defRPr>
            </a:pPr>
            <a:r>
              <a:rPr/>
              <a:t>/imu/data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279892" y="3264408"/>
            <a:ext cx="283464" cy="0"/>
          </a:xfrm>
          <a:prstGeom prst="line">
            <a:avLst/>
          </a:prstGeom>
          <a:ln w="31750">
            <a:solidFill>
              <a:srgbClr val="225B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590788" y="2743200"/>
            <a:ext cx="2029968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1900" b="1">
                <a:solidFill>
                  <a:srgbClr val="122C4E"/>
                </a:solidFill>
                <a:latin typeface="Noto Sans CJK KR"/>
              </a:defRPr>
            </a:pPr>
            <a:r>
              <a:rPr/>
              <a:t>imu_monitor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800600"/>
            <a:ext cx="10332720" cy="5029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225B9B"/>
                </a:solidFill>
                <a:latin typeface="Noto Sans CJK KR"/>
              </a:defRPr>
            </a:pPr>
            <a:r>
              <a:rPr/>
              <a:t>기억할 한 문장: 앞 단계의 출력이 다음 단계의 입력이 되도록 topic·frame·파일 이름을 끝까지 유지합니다.</a:t>
            </a: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이번에 프로젝트 안에 새로 만드는 파일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아래 파일은 완성본을 복사하지 않고, 다음 슬라이드에서 폴더·빈 파일부터 직접 만듭니다.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기반 AGV End-to-End 개발 커리큘럼 · M14 · Block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600200"/>
            <a:ext cx="10789920" cy="4407408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rPr/>
              <a:t>~/ros2_curri/my_agv_ws/src/</a:t>
            </a:r>
            <a:r>
              <a:rPr/>
              <a:t>└── agv_gazebo/models/agv/model.sdf</a:t>
            </a:r>
            <a:r>
              <a:rPr/>
              <a:t>└── agv_gazebo/worlds/warehouse.sdf</a:t>
            </a:r>
            <a:r>
              <a:rPr/>
              <a:t>└── agv_gazebo/config/bridge.yaml</a:t>
            </a:r>
            <a:r>
              <a:rPr/>
              <a:t>└── agv_sensors/agv_sensors/imu_monitor.py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" y="6144768"/>
            <a:ext cx="103327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5C6672"/>
                </a:solidFill>
                <a:latin typeface="Noto Sans CJK KR"/>
              </a:defRPr>
            </a:pPr>
            <a:r>
              <a:rPr/>
              <a:t>파일 하나를 만들고 저장한 뒤에만 다음 파일로 넘어갑니다. Complete는 오류가 풀리지 않을 때만 비교합니다.</a:t>
            </a:r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코드/설정이 실제로 만드는 것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파일을 입력하기 전에 ‘무엇을 만들고 어디서 볼지’를 먼저 연결합니다.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기반 AGV End-to-End 개발 커리큘럼 · M14 · Block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파일 역할    |    현재 폴더 ~/ros2_curri/my_agv_ws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27632"/>
            <a:ext cx="10972800" cy="2048256"/>
          </a:xfrm>
          <a:prstGeom prst="roundRect">
            <a:avLst/>
          </a:prstGeom>
          <a:solidFill>
            <a:srgbClr val="F4F7FB"/>
          </a:solidFill>
          <a:ln>
            <a:solidFill>
              <a:srgbClr val="CCD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850392" y="1764792"/>
            <a:ext cx="1042416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25B9B"/>
                </a:solidFill>
                <a:latin typeface="DejaVu Sans Mono"/>
              </a:defRPr>
            </a:pPr>
            <a:r>
              <a:rPr/>
              <a:t>~/ros2_curri/my_agv_ws/src/agv_gazebo/models/agv/model.sdf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130552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2A8B5A"/>
                </a:solidFill>
                <a:latin typeface="Noto Sans CJK KR"/>
              </a:defRPr>
            </a:pPr>
            <a:r>
              <a:rPr/>
              <a:t>만드는 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75104" y="2112264"/>
            <a:ext cx="91897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0">
                <a:solidFill>
                  <a:srgbClr val="122C4E"/>
                </a:solidFill>
                <a:latin typeface="Noto Sans CJK KR"/>
              </a:defRPr>
            </a:pPr>
            <a:r>
              <a:rPr/>
              <a:t>구동·카메라·LiDAR·IMU를 포함해 Gazebo가 시뮬레이션할 완성 AGV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505456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DB7E22"/>
                </a:solidFill>
                <a:latin typeface="Noto Sans CJK KR"/>
              </a:defRPr>
            </a:pPr>
            <a:r>
              <a:rPr/>
              <a:t>코드 읽기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75104" y="2487168"/>
            <a:ext cx="9189720" cy="30175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Noto Sans CJK KR"/>
              </a:defRPr>
            </a:pPr>
            <a:r>
              <a:rPr/>
              <a:t>link/joint 다음에 sensor와 DiffDrive plugin을 찾고, topic 이름을 bridge와 비교한다.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889504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225B9B"/>
                </a:solidFill>
                <a:latin typeface="Noto Sans CJK KR"/>
              </a:defRPr>
            </a:pPr>
            <a:r>
              <a:rPr/>
              <a:t>사용/확인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75104" y="2871216"/>
            <a:ext cx="9189720" cy="51206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rPr/>
              <a:t>사용: Gazebo launch 뒤 각 ROS topic을 확인한다.</a:t>
            </a:r>
            <a:r>
              <a:rPr/>
              <a:t>화면/출력: Gazebo의 AGV, /camera/image_raw, /scan, /imu/data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941063"/>
            <a:ext cx="10972800" cy="2048256"/>
          </a:xfrm>
          <a:prstGeom prst="roundRect">
            <a:avLst/>
          </a:prstGeom>
          <a:solidFill>
            <a:srgbClr val="F4F7FB"/>
          </a:solidFill>
          <a:ln>
            <a:solidFill>
              <a:srgbClr val="CCD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850392" y="4078224"/>
            <a:ext cx="1042416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25B9B"/>
                </a:solidFill>
                <a:latin typeface="DejaVu Sans Mono"/>
              </a:defRPr>
            </a:pPr>
            <a:r>
              <a:rPr/>
              <a:t>~/ros2_curri/my_agv_ws/src/agv_gazebo/worlds/warehouse.sdf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443983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2A8B5A"/>
                </a:solidFill>
                <a:latin typeface="Noto Sans CJK KR"/>
              </a:defRPr>
            </a:pPr>
            <a:r>
              <a:rPr/>
              <a:t>만드는 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75104" y="4425696"/>
            <a:ext cx="91897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0">
                <a:solidFill>
                  <a:srgbClr val="122C4E"/>
                </a:solidFill>
                <a:latin typeface="Noto Sans CJK KR"/>
              </a:defRPr>
            </a:pPr>
            <a:r>
              <a:rPr/>
              <a:t>센서·물리 system plugin과 warehouse 환경을 함께 여는 Gazebo World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818888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DB7E22"/>
                </a:solidFill>
                <a:latin typeface="Noto Sans CJK KR"/>
              </a:defRPr>
            </a:pPr>
            <a:r>
              <a:rPr/>
              <a:t>코드 읽기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75104" y="4800600"/>
            <a:ext cx="9189720" cy="30175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Noto Sans CJK KR"/>
              </a:defRPr>
            </a:pPr>
            <a:r>
              <a:rPr/>
              <a:t>Physics/Sensors/Imu plugin → 환경 → include AGV 순서로 읽는다.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5202936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225B9B"/>
                </a:solidFill>
                <a:latin typeface="Noto Sans CJK KR"/>
              </a:defRPr>
            </a:pPr>
            <a:r>
              <a:rPr/>
              <a:t>사용/확인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75104" y="5184648"/>
            <a:ext cx="9189720" cy="51206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rPr/>
              <a:t>사용: World를 다시 열면 Imu system이 /imu/data의 원천을 생성한다.</a:t>
            </a:r>
            <a:r>
              <a:rPr/>
              <a:t>화면/출력: Gazebo World와 IMU terminal의 frame_id·publish rate</a:t>
            </a:r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코드/설정이 실제로 만드는 것 (2/2)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파일을 입력하기 전에 ‘무엇을 만들고 어디서 볼지’를 먼저 연결합니다.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기반 AGV End-to-End 개발 커리큘럼 · M14 · Block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파일 역할    |    현재 폴더 ~/ros2_curri/my_agv_ws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27632"/>
            <a:ext cx="10972800" cy="2048256"/>
          </a:xfrm>
          <a:prstGeom prst="roundRect">
            <a:avLst/>
          </a:prstGeom>
          <a:solidFill>
            <a:srgbClr val="F4F7FB"/>
          </a:solidFill>
          <a:ln>
            <a:solidFill>
              <a:srgbClr val="CCD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850392" y="1764792"/>
            <a:ext cx="1042416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25B9B"/>
                </a:solidFill>
                <a:latin typeface="DejaVu Sans Mono"/>
              </a:defRPr>
            </a:pPr>
            <a:r>
              <a:rPr/>
              <a:t>~/ros2_curri/my_agv_ws/src/agv_gazebo/config/bridge.yaml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130552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2A8B5A"/>
                </a:solidFill>
                <a:latin typeface="Noto Sans CJK KR"/>
              </a:defRPr>
            </a:pPr>
            <a:r>
              <a:rPr/>
              <a:t>만드는 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75104" y="2112264"/>
            <a:ext cx="91897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0">
                <a:solidFill>
                  <a:srgbClr val="122C4E"/>
                </a:solidFill>
                <a:latin typeface="Noto Sans CJK KR"/>
              </a:defRPr>
            </a:pPr>
            <a:r>
              <a:rPr/>
              <a:t>Gazebo Transport 메시지와 ROS 2 topic을 방향별로 연결하는 번역표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505456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DB7E22"/>
                </a:solidFill>
                <a:latin typeface="Noto Sans CJK KR"/>
              </a:defRPr>
            </a:pPr>
            <a:r>
              <a:rPr/>
              <a:t>코드 읽기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75104" y="2487168"/>
            <a:ext cx="9189720" cy="30175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Noto Sans CJK KR"/>
              </a:defRPr>
            </a:pPr>
            <a:r>
              <a:rPr/>
              <a:t>한 항목에서 ros_topic_name → type → direction을 세 줄씩 비교한다.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889504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225B9B"/>
                </a:solidFill>
                <a:latin typeface="Noto Sans CJK KR"/>
              </a:defRPr>
            </a:pPr>
            <a:r>
              <a:rPr/>
              <a:t>사용/확인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75104" y="2871216"/>
            <a:ext cx="9189720" cy="51206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rPr/>
              <a:t>사용: parameter_bridge가 이 YAML을 읽도록 launch한다.</a:t>
            </a:r>
            <a:r>
              <a:rPr/>
              <a:t>화면/출력: ros2 topic info에서 보이는 type과 publisher 수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941063"/>
            <a:ext cx="10972800" cy="2048256"/>
          </a:xfrm>
          <a:prstGeom prst="roundRect">
            <a:avLst/>
          </a:prstGeom>
          <a:solidFill>
            <a:srgbClr val="F4F7FB"/>
          </a:solidFill>
          <a:ln>
            <a:solidFill>
              <a:srgbClr val="CCD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850392" y="4078224"/>
            <a:ext cx="1042416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25B9B"/>
                </a:solidFill>
                <a:latin typeface="DejaVu Sans Mono"/>
              </a:defRPr>
            </a:pPr>
            <a:r>
              <a:rPr/>
              <a:t>~/ros2_curri/my_agv_ws/src/agv_sensors/agv_sensors/imu_monitor.py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443983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2A8B5A"/>
                </a:solidFill>
                <a:latin typeface="Noto Sans CJK KR"/>
              </a:defRPr>
            </a:pPr>
            <a:r>
              <a:rPr/>
              <a:t>만드는 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75104" y="4425696"/>
            <a:ext cx="91897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0">
                <a:solidFill>
                  <a:srgbClr val="122C4E"/>
                </a:solidFill>
                <a:latin typeface="Noto Sans CJK KR"/>
              </a:defRPr>
            </a:pPr>
            <a:r>
              <a:rPr/>
              <a:t>IMU frame·각속도·가속도를 단위와 함께 출력하는 진단 노드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818888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DB7E22"/>
                </a:solidFill>
                <a:latin typeface="Noto Sans CJK KR"/>
              </a:defRPr>
            </a:pPr>
            <a:r>
              <a:rPr/>
              <a:t>코드 읽기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75104" y="4800600"/>
            <a:ext cx="9189720" cy="30175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Noto Sans CJK KR"/>
              </a:defRPr>
            </a:pPr>
            <a:r>
              <a:rPr/>
              <a:t>message header → angular_velocity → linear_acceleration 순서로 읽는다.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5202936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225B9B"/>
                </a:solidFill>
                <a:latin typeface="Noto Sans CJK KR"/>
              </a:defRPr>
            </a:pPr>
            <a:r>
              <a:rPr/>
              <a:t>사용/확인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75104" y="5184648"/>
            <a:ext cx="9189720" cy="51206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rPr/>
              <a:t>사용: 제자리 회전 명령과 함께 실행해 z축 부호를 비교한다.</a:t>
            </a:r>
            <a:r>
              <a:rPr/>
              <a:t>화면/출력: IMU terminal의 frame_id와 publish rate</a:t>
            </a:r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코드를 ‘만드는 것 → 표시할 줄 → 바꾼 결과’로 읽는다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PDF 예시처럼 화면을 보기 전에 코드의 역할과 관찰 지점을 한 번 짚고 갑니다.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기반 AGV End-to-End 개발 커리큘럼 · M14 · Block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코드 해설    |    현재 폴더 ~/ros2_curri/my_agv_ws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664208"/>
            <a:ext cx="5321808" cy="1764792"/>
          </a:xfrm>
          <a:prstGeom prst="roundRect">
            <a:avLst/>
          </a:prstGeom>
          <a:solidFill>
            <a:srgbClr val="F4F7FB"/>
          </a:solidFill>
          <a:ln>
            <a:solidFill>
              <a:srgbClr val="2A8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859536" y="1828800"/>
            <a:ext cx="4892040" cy="2651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2A8B5A"/>
                </a:solidFill>
                <a:latin typeface="Noto Sans CJK KR"/>
              </a:defRPr>
            </a:pPr>
            <a:r>
              <a:rPr/>
              <a:t>1. 이 파일이 만드는 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240280"/>
            <a:ext cx="4846320" cy="9418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600" b="0">
                <a:solidFill>
                  <a:srgbClr val="122C4E"/>
                </a:solidFill>
                <a:latin typeface="Noto Sans CJK KR"/>
              </a:defRPr>
            </a:pPr>
            <a:r>
              <a:rPr/>
              <a:t>IMU는 로봇 base에 붙은 좌표계에서 회전과 가속을 계속 발행하는 센서입니다.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64208"/>
            <a:ext cx="5321808" cy="1764792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419088" y="1828800"/>
            <a:ext cx="4892040" cy="2651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225B9B"/>
                </a:solidFill>
                <a:latin typeface="Noto Sans CJK KR"/>
              </a:defRPr>
            </a:pPr>
            <a:r>
              <a:rPr/>
              <a:t>2. 먼저 찾을 코드/태그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2240280"/>
            <a:ext cx="4846320" cy="9418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600" b="0">
                <a:solidFill>
                  <a:srgbClr val="122C4E"/>
                </a:solidFill>
                <a:latin typeface="Noto Sans CJK KR"/>
              </a:defRPr>
            </a:pPr>
            <a:r>
              <a:rPr/>
              <a:t>&lt;sensor name="imu"&gt;, update_rate, Imu system plugin, angular_velocity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813048"/>
            <a:ext cx="5321808" cy="1764792"/>
          </a:xfrm>
          <a:prstGeom prst="roundRect">
            <a:avLst/>
          </a:prstGeom>
          <a:solidFill>
            <a:srgbClr val="F4F7FB"/>
          </a:solidFill>
          <a:ln>
            <a:solidFill>
              <a:srgbClr val="DB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859536" y="3977639"/>
            <a:ext cx="4892040" cy="2651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DB7E22"/>
                </a:solidFill>
                <a:latin typeface="Noto Sans CJK KR"/>
              </a:defRPr>
            </a:pPr>
            <a:r>
              <a:rPr/>
              <a:t>3. 값을 바꾸면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" y="4389120"/>
            <a:ext cx="4846320" cy="9418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600" b="0">
                <a:solidFill>
                  <a:srgbClr val="122C4E"/>
                </a:solidFill>
                <a:latin typeface="Noto Sans CJK KR"/>
              </a:defRPr>
            </a:pPr>
            <a:r>
              <a:rPr/>
              <a:t>World의 gz-sim-imu-system이 없으면 sensor 태그가 있어도 실제 메시지가 나오지 않습니다.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813048"/>
            <a:ext cx="5321808" cy="1764792"/>
          </a:xfrm>
          <a:prstGeom prst="roundRect">
            <a:avLst/>
          </a:prstGeom>
          <a:solidFill>
            <a:srgbClr val="F4F7FB"/>
          </a:solidFill>
          <a:ln>
            <a:solidFill>
              <a:srgbClr val="BE3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6419088" y="3977639"/>
            <a:ext cx="4892040" cy="2651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BE3B3B"/>
                </a:solidFill>
                <a:latin typeface="Noto Sans CJK KR"/>
              </a:defRPr>
            </a:pPr>
            <a:r>
              <a:rPr/>
              <a:t>4. 실제로 보는 곳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9088" y="4389120"/>
            <a:ext cx="4846320" cy="9418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600" b="0">
                <a:solidFill>
                  <a:srgbClr val="122C4E"/>
                </a:solidFill>
                <a:latin typeface="Noto Sans CJK KR"/>
              </a:defRPr>
            </a:pPr>
            <a:r>
              <a:rPr/>
              <a:t>terminal의 agv/base_link/imu frame과 publish rate를 보고 제자리 회전 시 z축을 비교합니다.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6172200"/>
            <a:ext cx="1060704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200" b="1">
                <a:solidFill>
                  <a:srgbClr val="2A8B5A"/>
                </a:solidFill>
                <a:latin typeface="Noto Sans CJK KR"/>
              </a:defRPr>
            </a:pPr>
            <a:r>
              <a:rPr/>
              <a:t>다음 코드 슬라이드에서는 위의 태그/함수를 찾아 색으로 표시하며 한 줄씩 설명합니다.</a:t>
            </a:r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1/4: 폴더를 만들고 빈 파일을 연다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파일을 먼저 만든 뒤, 다음 슬라이드의 코드 블록을 위에서 아래로 직접 입력합니다.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기반 AGV End-to-End 개발 커리큘럼 · M14 · Block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파일 생성 1/4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19072"/>
            <a:ext cx="141732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25B9B"/>
                </a:solidFill>
                <a:latin typeface="Noto Sans CJK KR"/>
              </a:defRPr>
            </a:pPr>
            <a:r>
              <a:rPr/>
              <a:t>이번 파일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719072"/>
            <a:ext cx="923544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DejaVu Sans Mono"/>
              </a:defRPr>
            </a:pPr>
            <a:r>
              <a:rPr/>
              <a:t>~/ros2_curri/my_agv_ws/src/agv_gazebo/models/agv/model.sdf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103120"/>
            <a:ext cx="141732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A8B5A"/>
                </a:solidFill>
                <a:latin typeface="Noto Sans CJK KR"/>
              </a:defRPr>
            </a:pPr>
            <a:r>
              <a:rPr/>
              <a:t>만드는 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2103120"/>
            <a:ext cx="923544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122C4E"/>
                </a:solidFill>
                <a:latin typeface="Noto Sans CJK KR"/>
              </a:defRPr>
            </a:pPr>
            <a:r>
              <a:rPr/>
              <a:t>구동·카메라·LiDAR·IMU를 포함해 Gazebo가 시뮬레이션할 완성 AGV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6656" y="2852928"/>
            <a:ext cx="10881360" cy="1682496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rPr/>
              <a:t>mkdir -p ~/ros2_curri/my_agv_ws/src/agv_gazebo/models/agv</a:t>
            </a:r>
          </a:p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rPr/>
              <a:t>nano ~/ros2_curri/my_agv_ws/src/agv_gazebo/models/agv/model.sdf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4901184"/>
            <a:ext cx="10241280" cy="32918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DB7E22"/>
                </a:solidFill>
                <a:latin typeface="Noto Sans CJK KR"/>
              </a:defRPr>
            </a:pPr>
            <a:r>
              <a:rPr/>
              <a:t>nano 저장: Ctrl+O → Enter → Ctrl+X  |  파일이 열리면 아직 비어 있는 것이 정상입니다.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5504688"/>
            <a:ext cx="10241280" cy="32918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2A8B5A"/>
                </a:solidFill>
                <a:latin typeface="Noto Sans CJK KR"/>
              </a:defRPr>
            </a:pPr>
            <a:r>
              <a:rPr/>
              <a:t>다음 단계의 확인 화면: Gazebo의 AGV, /camera/image_raw, /scan, /imu/data</a:t>
            </a:r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1/4: 코드 읽기 (1/5)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짧은 실제 코드 조각을 먼저 읽고, 다음 슬라이드에서 같은 코드를 직접 입력합니다.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기반 AGV End-to-End 개발 커리큘럼 · M14 · Block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코드 해설 1/4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61848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25B9B"/>
                </a:solidFill>
                <a:latin typeface="DejaVu Sans Mono"/>
              </a:defRPr>
            </a:pPr>
            <a:r>
              <a:rPr/>
              <a:t>~/ros2_curri/my_agv_ws/src/agv_gazebo/models/agv/model.sdf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" y="193852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DB7E22"/>
                </a:solidFill>
                <a:latin typeface="Noto Sans CJK KR"/>
              </a:defRPr>
            </a:pPr>
            <a:r>
              <a:rPr/>
              <a:t>말로 먼저 답해 보세요: 이 줄은 무엇을 만들고, 실행하면 어디에서 확인할 수 있을까요?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359152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rPr/>
              <a:t>&lt;model name="agv"&gt;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2359152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5239512" y="2468880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rPr/>
              <a:t>1.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96128" y="2450592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rPr/>
              <a:t>뜻: 로봇 model 또는 Gazebo world의 가장 바깥 이름과 범위를 선언합니다.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96128" y="3108960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rPr/>
              <a:t>실행에서: 문법 검사와 Gazebo/RViz가 이 구조부터 읽기 시작합니다.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078224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rPr/>
              <a:t>&lt;link name="base_link"&gt;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0" y="4078224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5239512" y="4187952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rPr/>
              <a:t>2.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96128" y="4169663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rPr/>
              <a:t>뜻: 로봇의 몸체·바퀴처럼 실제로 존재하는 하나의 부품을 선언합니다.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96128" y="4828032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rPr/>
              <a:t>실행에서: RViz/Gazebo에서 이 부품이 별도 frame/물체로 보입니다.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6199632"/>
            <a:ext cx="10698480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5C6672"/>
                </a:solidFill>
                <a:latin typeface="Noto Sans CJK KR"/>
              </a:defRPr>
            </a:pPr>
            <a:r>
              <a:rPr/>
              <a:t>다음 코드 입력 슬라이드에서 이 줄을 발견하면, 방금 설명한 ‘뜻’과 ‘실행에서 보이는 변화’를 다시 말해 봅니다.</a:t>
            </a:r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1/4: 코드 읽기 (2/5)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짧은 실제 코드 조각을 먼저 읽고, 다음 슬라이드에서 같은 코드를 직접 입력합니다.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기반 AGV End-to-End 개발 커리큘럼 · M14 · Block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코드 해설 1/4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61848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25B9B"/>
                </a:solidFill>
                <a:latin typeface="DejaVu Sans Mono"/>
              </a:defRPr>
            </a:pPr>
            <a:r>
              <a:rPr/>
              <a:t>~/ros2_curri/my_agv_ws/src/agv_gazebo/models/agv/model.sdf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" y="193852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DB7E22"/>
                </a:solidFill>
                <a:latin typeface="Noto Sans CJK KR"/>
              </a:defRPr>
            </a:pPr>
            <a:r>
              <a:rPr/>
              <a:t>말로 먼저 답해 보세요: 이 줄은 무엇을 만들고, 실행하면 어디에서 확인할 수 있을까요?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359152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rPr/>
              <a:t>&lt;inertial&gt;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2359152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5239512" y="2468880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rPr/>
              <a:t>1.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96128" y="2450592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rPr/>
              <a:t>뜻: 질량과 관성처럼 움직임에 직접 영향을 주는 물리값입니다.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96128" y="3108960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rPr/>
              <a:t>실행에서: Gazebo에서 가속·회전·접촉 반응이 달라집니다.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078224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rPr/>
              <a:t>&lt;visual name="body"&gt;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0" y="4078224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5239512" y="4187952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rPr/>
              <a:t>2.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96128" y="4169663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rPr/>
              <a:t>뜻: 사람이 화면에서 보는 모양·색·mesh를 설정합니다.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96128" y="4828032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rPr/>
              <a:t>실행에서: Gazebo/RViz 화면에서 해당 부품의 외형이 바뀝니다.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6199632"/>
            <a:ext cx="10698480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5C6672"/>
                </a:solidFill>
                <a:latin typeface="Noto Sans CJK KR"/>
              </a:defRPr>
            </a:pPr>
            <a:r>
              <a:rPr/>
              <a:t>다음 코드 입력 슬라이드에서 이 줄을 발견하면, 방금 설명한 ‘뜻’과 ‘실행에서 보이는 변화’를 다시 말해 봅니다.</a:t>
            </a:r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1/4: 코드 읽기 (3/5)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짧은 실제 코드 조각을 먼저 읽고, 다음 슬라이드에서 같은 코드를 직접 입력합니다.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기반 AGV End-to-End 개발 커리큘럼 · M14 · Block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코드 해설 1/4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61848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25B9B"/>
                </a:solidFill>
                <a:latin typeface="DejaVu Sans Mono"/>
              </a:defRPr>
            </a:pPr>
            <a:r>
              <a:rPr/>
              <a:t>~/ros2_curri/my_agv_ws/src/agv_gazebo/models/agv/model.sdf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" y="193852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DB7E22"/>
                </a:solidFill>
                <a:latin typeface="Noto Sans CJK KR"/>
              </a:defRPr>
            </a:pPr>
            <a:r>
              <a:rPr/>
              <a:t>말로 먼저 답해 보세요: 이 줄은 무엇을 만들고, 실행하면 어디에서 확인할 수 있을까요?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359152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rPr/>
              <a:t>&lt;collision name="body_collision"&gt;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2359152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5239512" y="2468880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rPr/>
              <a:t>1.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96128" y="2450592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rPr/>
              <a:t>뜻: 물리 엔진이 부딪힘을 계산할 모양을 설정합니다.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96128" y="3108960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rPr/>
              <a:t>실행에서: 주행 중 장애물·바닥과의 접촉 결과가 이 구조를 따릅니다.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078224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rPr/>
              <a:t>&lt;sensor name="imu" type="imu"&gt;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0" y="4078224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5239512" y="4187952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rPr/>
              <a:t>2.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96128" y="4169663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rPr/>
              <a:t>뜻: Gazebo model에 camera·LiDAR·IMU처럼 데이터를 만드는 sensor를 붙입니다.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96128" y="4828032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rPr/>
              <a:t>실행에서: 시뮬레이터가 해당 sensor topic의 원본 데이터를 생성합니다.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6199632"/>
            <a:ext cx="10698480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5C6672"/>
                </a:solidFill>
                <a:latin typeface="Noto Sans CJK KR"/>
              </a:defRPr>
            </a:pPr>
            <a:r>
              <a:rPr/>
              <a:t>다음 코드 입력 슬라이드에서 이 줄을 발견하면, 방금 설명한 ‘뜻’과 ‘실행에서 보이는 변화’를 다시 말해 봅니다.</a:t>
            </a:r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1/4: 코드 읽기 (4/5)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짧은 실제 코드 조각을 먼저 읽고, 다음 슬라이드에서 같은 코드를 직접 입력합니다.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기반 AGV End-to-End 개발 커리큘럼 · M14 · Block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코드 해설 1/4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61848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25B9B"/>
                </a:solidFill>
                <a:latin typeface="DejaVu Sans Mono"/>
              </a:defRPr>
            </a:pPr>
            <a:r>
              <a:rPr/>
              <a:t>~/ros2_curri/my_agv_ws/src/agv_gazebo/models/agv/model.sdf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" y="193852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DB7E22"/>
                </a:solidFill>
                <a:latin typeface="Noto Sans CJK KR"/>
              </a:defRPr>
            </a:pPr>
            <a:r>
              <a:rPr/>
              <a:t>말로 먼저 답해 보세요: 이 줄은 무엇을 만들고, 실행하면 어디에서 확인할 수 있을까요?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359152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rPr/>
              <a:t>&lt;topic&gt;/imu/data&lt;/topic&gt;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2359152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5239512" y="2468880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rPr/>
              <a:t>1.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96128" y="2450592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rPr/>
              <a:t>뜻: 데이터가 오가는 채널의 정확한 이름을 지정합니다.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96128" y="3108960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rPr/>
              <a:t>실행에서: SDF·bridge·node 세 곳의 이름이 같을 때 message가 연결됩니다.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078224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rPr/>
              <a:t>&lt;update_rate&gt;100&lt;/update_rate&gt;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0" y="4078224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5239512" y="4187952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rPr/>
              <a:t>2.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96128" y="4169663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rPr/>
              <a:t>뜻: sensor의 해상도·갱신 주기 같은 관찰 가능한 값을 정합니다.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96128" y="4828032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rPr/>
              <a:t>실행에서: 실행 뒤 image 크기 또는 `ros2 topic hz`가 이 값을 검증합니다.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6199632"/>
            <a:ext cx="10698480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5C6672"/>
                </a:solidFill>
                <a:latin typeface="Noto Sans CJK KR"/>
              </a:defRPr>
            </a:pPr>
            <a:r>
              <a:rPr/>
              <a:t>다음 코드 입력 슬라이드에서 이 줄을 발견하면, 방금 설명한 ‘뜻’과 ‘실행에서 보이는 변화’를 다시 말해 봅니다.</a:t>
            </a:r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1/4: 코드 읽기 (5/5)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짧은 실제 코드 조각을 먼저 읽고, 다음 슬라이드에서 같은 코드를 직접 입력합니다.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기반 AGV End-to-End 개발 커리큘럼 · M14 · Block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코드 해설 1/4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61848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25B9B"/>
                </a:solidFill>
                <a:latin typeface="DejaVu Sans Mono"/>
              </a:defRPr>
            </a:pPr>
            <a:r>
              <a:rPr/>
              <a:t>~/ros2_curri/my_agv_ws/src/agv_gazebo/models/agv/model.sdf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" y="193852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DB7E22"/>
                </a:solidFill>
                <a:latin typeface="Noto Sans CJK KR"/>
              </a:defRPr>
            </a:pPr>
            <a:r>
              <a:rPr/>
              <a:t>말로 먼저 답해 보세요: 이 줄은 무엇을 만들고, 실행하면 어디에서 확인할 수 있을까요?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359152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rPr/>
              <a:t>&lt;joint name="left_wheel_joint" type="revolute"&gt;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2359152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5239512" y="2468880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rPr/>
              <a:t>1.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96128" y="2450592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rPr/>
              <a:t>뜻: 두 link를 어떤 축·방식으로 연결할지 정합니다.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96128" y="3108960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rPr/>
              <a:t>실행에서: joint 이름·축이 맞아야 바퀴와 센서 frame이 기대한 위치에 있습니다.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6199632"/>
            <a:ext cx="10698480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5C6672"/>
                </a:solidFill>
                <a:latin typeface="Noto Sans CJK KR"/>
              </a:defRPr>
            </a:pPr>
            <a:r>
              <a:rPr/>
              <a:t>다음 코드 입력 슬라이드에서 이 줄을 발견하면, 방금 설명한 ‘뜻’과 ‘실행에서 보이는 변화’를 다시 말해 봅니다.</a:t>
            </a:r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1/4: 코드 입력 (1/24)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~/ros2_curri/my_agv_ws/src/agv_gazebo/models/agv/model.sdf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기반 AGV End-to-End 개발 커리큘럼 · M14 · Block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파일 1/4 · 입력 1/24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 블록이 하는 일: 파일의 root와 첫 model/link를 입력합니다. 태그 여닫는 순서를 그대로 유지합니다.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rPr/>
              <a:t>현재 열린 파일: ~/ros2_curri/my_agv_ws/src/agv_gazebo/models/agv/model.sdf</a:t>
            </a:r>
            <a:r>
              <a:rPr/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73152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&lt;?xml version="1.0" ?&gt;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&lt;sdf version="1.10"&gt;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&lt;model name="agv"&gt;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&lt;link name="base_link"&gt;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&lt;pose&gt;0 0 0.16 0 0 0&lt;/pose&gt;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입력 1/24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1/4: 코드 입력 (2/24)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~/ros2_curri/my_agv_ws/src/agv_gazebo/models/agv/model.sdf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기반 AGV End-to-End 개발 커리큘럼 · M14 · Block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파일 1/4 · 입력 2/24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 블록이 하는 일: 앞에서 만든 구조에 geometry·collision·sensor·joint를 하나씩 붙입니다.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rPr/>
              <a:t>현재 열린 파일: ~/ros2_curri/my_agv_ws/src/agv_gazebo/models/agv/model.sdf</a:t>
            </a:r>
            <a:r>
              <a:rPr/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73152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&lt;inertial&gt;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&lt;mass&gt;12.0&lt;/mass&gt;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&lt;inertia&gt;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&lt;ixx&gt;0.20&lt;/ixx&gt;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&lt;iyy&gt;0.40&lt;/iyy&gt;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&lt;izz&gt;0.50&lt;/izz&gt;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&lt;/inertia&gt;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&lt;/inertial&gt;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&lt;visual name="body"&gt;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입력 2/24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1/4: 코드 입력 (3/24)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~/ros2_curri/my_agv_ws/src/agv_gazebo/models/agv/model.sdf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기반 AGV End-to-End 개발 커리큘럼 · M14 · Block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파일 1/4 · 입력 3/24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 블록이 하는 일: 앞에서 만든 구조에 geometry·collision·sensor·joint를 하나씩 붙입니다.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rPr/>
              <a:t>현재 열린 파일: ~/ros2_curri/my_agv_ws/src/agv_gazebo/models/agv/model.sdf</a:t>
            </a:r>
            <a:r>
              <a:rPr/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73152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&lt;geometry&gt;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&lt;box&gt;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  &lt;size&gt;0.60 0.42 0.16&lt;/size&gt;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&lt;/box&gt;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&lt;/geometry&gt;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&lt;material&gt;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&lt;diffuse&gt;0.1 0.35 0.8 1&lt;/diffuse&gt;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&lt;/material&gt;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&lt;/visual&gt;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&lt;collision name="body_collision"&gt;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입력 3/24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1/4: 코드 입력 (4/24)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~/ros2_curri/my_agv_ws/src/agv_gazebo/models/agv/model.sdf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기반 AGV End-to-End 개발 커리큘럼 · M14 · Block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파일 1/4 · 입력 4/24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 블록이 하는 일: 앞에서 만든 구조에 geometry·collision·sensor·joint를 하나씩 붙입니다.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rPr/>
              <a:t>현재 열린 파일: ~/ros2_curri/my_agv_ws/src/agv_gazebo/models/agv/model.sdf</a:t>
            </a:r>
            <a:r>
              <a:rPr/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73152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&lt;geometry&gt;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&lt;box&gt;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  &lt;size&gt;0.60 0.42 0.16&lt;/size&gt;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&lt;/box&gt;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&lt;/geometry&gt;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&lt;/collision&gt;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&lt;sensor name="imu" type="imu"&gt;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&lt;topic&gt;/imu/data&lt;/topic&gt;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&lt;always_on&gt;true&lt;/always_on&gt;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&lt;update_rate&gt;100&lt;/update_rate&gt;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입력 4/24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1/4: 코드 입력 (5/24)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~/ros2_curri/my_agv_ws/src/agv_gazebo/models/agv/model.sdf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기반 AGV End-to-End 개발 커리큘럼 · M14 · Block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파일 1/4 · 입력 5/24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 블록이 하는 일: 앞에서 만든 구조에 geometry·collision·sensor·joint를 하나씩 붙입니다.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rPr/>
              <a:t>현재 열린 파일: ~/ros2_curri/my_agv_ws/src/agv_gazebo/models/agv/model.sdf</a:t>
            </a:r>
            <a:r>
              <a:rPr/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73152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&lt;imu&gt;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&lt;angular_velocity&gt;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  &lt;x&gt;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    &lt;noise type="gaussian"&gt;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      &lt;mean&gt;0&lt;/mean&gt;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      &lt;stddev&gt;0.001&lt;/stddev&gt;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    &lt;/noise&gt;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  &lt;/x&gt;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&lt;/angular_velocity&gt;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&lt;/imu&gt;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&lt;/sensor&gt;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입력 5/24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1/4: 코드 입력 (6/24)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~/ros2_curri/my_agv_ws/src/agv_gazebo/models/agv/model.sdf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기반 AGV End-to-End 개발 커리큘럼 · M14 · Block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파일 1/4 · 입력 6/24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 블록이 하는 일: 앞에서 만든 구조에 geometry·collision·sensor·joint를 하나씩 붙입니다.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rPr/>
              <a:t>현재 열린 파일: ~/ros2_curri/my_agv_ws/src/agv_gazebo/models/agv/model.sdf</a:t>
            </a:r>
            <a:r>
              <a:rPr/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73152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&lt;/link&gt;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&lt;link name="left_wheel_link"&gt;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&lt;pose relative_to="base_link"&gt;0 0.19 -0.08 1.5708 0 0&lt;/pose&gt;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&lt;inertial&gt;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&lt;mass&gt;0.6&lt;/mass&gt;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&lt;inertia&gt;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&lt;ixx&gt;0.002&lt;/ixx&gt;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&lt;iyy&gt;0.002&lt;/iyy&gt;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&lt;izz&gt;0.001&lt;/izz&gt;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입력 6/24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1/4: 코드 입력 (7/24)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~/ros2_curri/my_agv_ws/src/agv_gazebo/models/agv/model.sdf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기반 AGV End-to-End 개발 커리큘럼 · M14 · Block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파일 1/4 · 입력 7/24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 블록이 하는 일: 앞에서 만든 구조에 geometry·collision·sensor·joint를 하나씩 붙입니다.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rPr/>
              <a:t>현재 열린 파일: ~/ros2_curri/my_agv_ws/src/agv_gazebo/models/agv/model.sdf</a:t>
            </a:r>
            <a:r>
              <a:rPr/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73152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&lt;/inertia&gt;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&lt;/inertial&gt;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&lt;visual name="wheel"&gt;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&lt;geometry&gt;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&lt;cylinder&gt;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  &lt;radius&gt;0.08&lt;/radius&gt;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  &lt;length&gt;0.05&lt;/length&gt;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&lt;/cylinder&gt;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&lt;/geometry&gt;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&lt;/visual&gt;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&lt;collision name="wheel_collision"&gt;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&lt;geometry&gt;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입력 7/24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1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1/4: 코드 입력 (8/24)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~/ros2_curri/my_agv_ws/src/agv_gazebo/models/agv/model.sdf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기반 AGV End-to-End 개발 커리큘럼 · M14 · Block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파일 1/4 · 입력 8/24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 블록이 하는 일: 앞에서 만든 구조에 geometry·collision·sensor·joint를 하나씩 붙입니다.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rPr/>
              <a:t>현재 열린 파일: ~/ros2_curri/my_agv_ws/src/agv_gazebo/models/agv/model.sdf</a:t>
            </a:r>
            <a:r>
              <a:rPr/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73152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&lt;cylinder&gt;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  &lt;radius&gt;0.08&lt;/radius&gt;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  &lt;length&gt;0.05&lt;/length&gt;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&lt;/cylinder&gt;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&lt;/geometry&gt;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&lt;surface&gt;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&lt;friction&gt;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  &lt;ode&gt;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    &lt;mu&gt;1.0&lt;/mu&gt;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    &lt;mu2&gt;1.0&lt;/mu2&gt;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  &lt;/ode&gt;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&lt;/friction&gt;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입력 8/24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1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1/4: 코드 입력 (9/24)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~/ros2_curri/my_agv_ws/src/agv_gazebo/models/agv/model.sdf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기반 AGV End-to-End 개발 커리큘럼 · M14 · Block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파일 1/4 · 입력 9/24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 블록이 하는 일: 앞에서 만든 구조에 geometry·collision·sensor·joint를 하나씩 붙입니다.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rPr/>
              <a:t>현재 열린 파일: ~/ros2_curri/my_agv_ws/src/agv_gazebo/models/agv/model.sdf</a:t>
            </a:r>
            <a:r>
              <a:rPr/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73152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&lt;/surface&gt;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&lt;/collision&gt;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&lt;/link&gt;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&lt;link name="right_wheel_link"&gt;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&lt;pose relative_to="base_link"&gt;0 -0.19 -0.08 1.5708 0 0&lt;/pose&gt;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&lt;inertial&gt;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&lt;mass&gt;0.6&lt;/mass&gt;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&lt;inertia&gt;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&lt;ixx&gt;0.002&lt;/ixx&gt;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&lt;iyy&gt;0.002&lt;/iyy&gt;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입력 9/24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1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1/4: 코드 입력 (10/24)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~/ros2_curri/my_agv_ws/src/agv_gazebo/models/agv/model.sdf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기반 AGV End-to-End 개발 커리큘럼 · M14 · Block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파일 1/4 · 입력 10/24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 블록이 하는 일: 앞에서 만든 구조에 geometry·collision·sensor·joint를 하나씩 붙입니다.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rPr/>
              <a:t>현재 열린 파일: ~/ros2_curri/my_agv_ws/src/agv_gazebo/models/agv/model.sdf</a:t>
            </a:r>
            <a:r>
              <a:rPr/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73152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&lt;izz&gt;0.001&lt;/izz&gt;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&lt;/inertia&gt;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&lt;/inertial&gt;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&lt;visual name="wheel"&gt;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&lt;geometry&gt;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&lt;cylinder&gt;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  &lt;radius&gt;0.08&lt;/radius&gt;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  &lt;length&gt;0.05&lt;/length&gt;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&lt;/cylinder&gt;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&lt;/geometry&gt;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&lt;/visual&gt;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&lt;collision name="wheel_collision"&gt;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입력 10/24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2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1/4: 코드 입력 (11/24)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~/ros2_curri/my_agv_ws/src/agv_gazebo/models/agv/model.sdf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기반 AGV End-to-End 개발 커리큘럼 · M14 · Block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파일 1/4 · 입력 11/24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 블록이 하는 일: 앞에서 만든 구조에 geometry·collision·sensor·joint를 하나씩 붙입니다.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rPr/>
              <a:t>현재 열린 파일: ~/ros2_curri/my_agv_ws/src/agv_gazebo/models/agv/model.sdf</a:t>
            </a:r>
            <a:r>
              <a:rPr/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73152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&lt;geometry&gt;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&lt;cylinder&gt;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  &lt;radius&gt;0.08&lt;/radius&gt;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  &lt;length&gt;0.05&lt;/length&gt;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&lt;/cylinder&gt;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&lt;/geometry&gt;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&lt;surface&gt;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&lt;friction&gt;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  &lt;ode&gt;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    &lt;mu&gt;1.0&lt;/mu&gt;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    &lt;mu2&gt;1.0&lt;/mu2&gt;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  &lt;/ode&gt;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입력 11/24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2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1/4: 코드 입력 (12/24)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~/ros2_curri/my_agv_ws/src/agv_gazebo/models/agv/model.sdf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기반 AGV End-to-End 개발 커리큘럼 · M14 · Block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파일 1/4 · 입력 12/24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 블록이 하는 일: 앞에서 만든 구조에 geometry·collision·sensor·joint를 하나씩 붙입니다.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rPr/>
              <a:t>현재 열린 파일: ~/ros2_curri/my_agv_ws/src/agv_gazebo/models/agv/model.sdf</a:t>
            </a:r>
            <a:r>
              <a:rPr/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73152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&lt;/friction&gt;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&lt;/surface&gt;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&lt;/collision&gt;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&lt;/link&gt;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&lt;joint name="left_wheel_joint" type="revolute"&gt;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&lt;parent&gt;base_link&lt;/parent&gt;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&lt;child&gt;left_wheel_link&lt;/child&gt;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&lt;axis&gt;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&lt;xyz&gt;0 1 0&lt;/xyz&gt;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&lt;limit&gt;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입력 12/24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2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1/4: 코드 입력 (13/24)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~/ros2_curri/my_agv_ws/src/agv_gazebo/models/agv/model.sdf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기반 AGV End-to-End 개발 커리큘럼 · M14 · Block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파일 1/4 · 입력 13/24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 블록이 하는 일: 앞에서 만든 구조에 geometry·collision·sensor·joint를 하나씩 붙입니다.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rPr/>
              <a:t>현재 열린 파일: ~/ros2_curri/my_agv_ws/src/agv_gazebo/models/agv/model.sdf</a:t>
            </a:r>
            <a:r>
              <a:rPr/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73152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&lt;lower&gt;-1e16&lt;/lower&gt;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&lt;upper&gt;1e16&lt;/upper&gt;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&lt;/limit&gt;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&lt;/axis&gt;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&lt;/joint&gt;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&lt;joint name="right_wheel_joint" type="revolute"&gt;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&lt;parent&gt;base_link&lt;/parent&gt;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&lt;child&gt;right_wheel_link&lt;/child&gt;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&lt;axis&gt;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&lt;xyz&gt;0 1 0&lt;/xyz&gt;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입력 13/24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2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1/4: 코드 입력 (14/24)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~/ros2_curri/my_agv_ws/src/agv_gazebo/models/agv/model.sdf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기반 AGV End-to-End 개발 커리큘럼 · M14 · Block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파일 1/4 · 입력 14/24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 블록이 하는 일: 앞에서 만든 구조에 geometry·collision·sensor·joint를 하나씩 붙입니다.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rPr/>
              <a:t>현재 열린 파일: ~/ros2_curri/my_agv_ws/src/agv_gazebo/models/agv/model.sdf</a:t>
            </a:r>
            <a:r>
              <a:rPr/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73152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&lt;limit&gt;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&lt;lower&gt;-1e16&lt;/lower&gt;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&lt;upper&gt;1e16&lt;/upper&gt;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&lt;/limit&gt;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&lt;/axis&gt;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&lt;/joint&gt;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&lt;link name="caster_link"&gt;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&lt;pose relative_to="base_link"&gt;-0.24 0 -0.12 0 0 0&lt;/pose&gt;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&lt;inertial&gt;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&lt;mass&gt;0.15&lt;/mass&gt;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입력 14/24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2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1/4: 코드 입력 (15/24)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~/ros2_curri/my_agv_ws/src/agv_gazebo/models/agv/model.sdf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기반 AGV End-to-End 개발 커리큘럼 · M14 · Block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파일 1/4 · 입력 15/24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 블록이 하는 일: 앞에서 만든 구조에 geometry·collision·sensor·joint를 하나씩 붙입니다.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rPr/>
              <a:t>현재 열린 파일: ~/ros2_curri/my_agv_ws/src/agv_gazebo/models/agv/model.sdf</a:t>
            </a:r>
            <a:r>
              <a:rPr/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73152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&lt;inertia&gt;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&lt;ixx&gt;0.0001&lt;/ixx&gt;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&lt;iyy&gt;0.0001&lt;/iyy&gt;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&lt;izz&gt;0.0001&lt;/izz&gt;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&lt;/inertia&gt;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&lt;/inertial&gt;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&lt;visual name="caster"&gt;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&lt;geometry&gt;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&lt;sphere&gt;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  &lt;radius&gt;0.04&lt;/radius&gt;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&lt;/sphere&gt;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&lt;/geometry&gt;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입력 15/24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2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1/4: 코드 입력 (16/24)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~/ros2_curri/my_agv_ws/src/agv_gazebo/models/agv/model.sdf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기반 AGV End-to-End 개발 커리큘럼 · M14 · Block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파일 1/4 · 입력 16/24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 블록이 하는 일: 앞에서 만든 구조에 geometry·collision·sensor·joint를 하나씩 붙입니다.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rPr/>
              <a:t>현재 열린 파일: ~/ros2_curri/my_agv_ws/src/agv_gazebo/models/agv/model.sdf</a:t>
            </a:r>
            <a:r>
              <a:rPr/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73152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&lt;/visual&gt;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&lt;collision name="caster_collision"&gt;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&lt;geometry&gt;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&lt;sphere&gt;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  &lt;radius&gt;0.04&lt;/radius&gt;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&lt;/sphere&gt;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&lt;/geometry&gt;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&lt;/collision&gt;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&lt;/link&gt;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&lt;joint name="caster_joint" type="fixed"&gt;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입력 16/24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2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1/4: 코드 입력 (17/24)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~/ros2_curri/my_agv_ws/src/agv_gazebo/models/agv/model.sdf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기반 AGV End-to-End 개발 커리큘럼 · M14 · Block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파일 1/4 · 입력 17/24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 블록이 하는 일: 앞에서 만든 구조에 geometry·collision·sensor·joint를 하나씩 붙입니다.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rPr/>
              <a:t>현재 열린 파일: ~/ros2_curri/my_agv_ws/src/agv_gazebo/models/agv/model.sdf</a:t>
            </a:r>
            <a:r>
              <a:rPr/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73152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&lt;parent&gt;base_link&lt;/parent&gt;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&lt;child&gt;caster_link&lt;/child&gt;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&lt;/joint&gt;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&lt;link name="lidar_link"&gt;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&lt;pose relative_to="base_link"&gt;0.12 0 0.13 0 0 0&lt;/pose&gt;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&lt;visual name="housing"&gt;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&lt;geometry&gt;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&lt;cylinder&gt;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  &lt;radius&gt;0.045&lt;/radius&gt;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  &lt;length&gt;0.05&lt;/length&gt;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입력 17/24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2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1/4: 코드 입력 (18/24)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~/ros2_curri/my_agv_ws/src/agv_gazebo/models/agv/model.sdf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기반 AGV End-to-End 개발 커리큘럼 · M14 · Block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파일 1/4 · 입력 18/24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 블록이 하는 일: 앞에서 만든 구조에 geometry·collision·sensor·joint를 하나씩 붙입니다.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rPr/>
              <a:t>현재 열린 파일: ~/ros2_curri/my_agv_ws/src/agv_gazebo/models/agv/model.sdf</a:t>
            </a:r>
            <a:r>
              <a:rPr/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73152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&lt;/cylinder&gt;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&lt;/geometry&gt;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&lt;/visual&gt;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&lt;sensor name="lidar" type="gpu_lidar"&gt;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&lt;topic&gt;/scan&lt;/topic&gt;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&lt;always_on&gt;true&lt;/always_on&gt;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&lt;update_rate&gt;10&lt;/update_rate&gt;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&lt;visualize&gt;false&lt;/visualize&gt;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&lt;lidar&gt;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&lt;scan&gt;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  &lt;horizontal&gt;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    &lt;samples&gt;720&lt;/samples&gt;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입력 18/24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2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1/4: 코드 입력 (19/24)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~/ros2_curri/my_agv_ws/src/agv_gazebo/models/agv/model.sdf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기반 AGV End-to-End 개발 커리큘럼 · M14 · Block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파일 1/4 · 입력 19/24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 블록이 하는 일: 앞에서 만든 구조에 geometry·collision·sensor·joint를 하나씩 붙입니다.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rPr/>
              <a:t>현재 열린 파일: ~/ros2_curri/my_agv_ws/src/agv_gazebo/models/agv/model.sdf</a:t>
            </a:r>
            <a:r>
              <a:rPr/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73152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    &lt;resolution&gt;1&lt;/resolution&gt;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    &lt;min_angle&gt;-3.14159&lt;/min_angle&gt;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    &lt;max_angle&gt;3.14159&lt;/max_angle&gt;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  &lt;/horizontal&gt;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&lt;/scan&gt;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&lt;range&gt;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  &lt;min&gt;0.12&lt;/min&gt;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  &lt;max&gt;12.0&lt;/max&gt;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  &lt;resolution&gt;0.01&lt;/resolution&gt;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&lt;/range&gt;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&lt;/lidar&gt;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&lt;/sensor&gt;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입력 19/24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2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1/4: 코드 입력 (20/24)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~/ros2_curri/my_agv_ws/src/agv_gazebo/models/agv/model.sdf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기반 AGV End-to-End 개발 커리큘럼 · M14 · Block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파일 1/4 · 입력 20/24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 블록이 하는 일: 앞에서 만든 구조에 geometry·collision·sensor·joint를 하나씩 붙입니다.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rPr/>
              <a:t>현재 열린 파일: ~/ros2_curri/my_agv_ws/src/agv_gazebo/models/agv/model.sdf</a:t>
            </a:r>
            <a:r>
              <a:rPr/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73152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&lt;/link&gt;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&lt;joint name="lidar_joint" type="fixed"&gt;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&lt;parent&gt;base_link&lt;/parent&gt;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&lt;child&gt;lidar_link&lt;/child&gt;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&lt;/joint&gt;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&lt;link name="camera_link"&gt;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&lt;pose relative_to="base_link"&gt;0.30 0 0.10 0 0 0&lt;/pose&gt;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&lt;visual name="housing"&gt;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입력 20/24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2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1/4: 코드 입력 (21/24)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~/ros2_curri/my_agv_ws/src/agv_gazebo/models/agv/model.sdf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기반 AGV End-to-End 개발 커리큘럼 · M14 · Block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파일 1/4 · 입력 21/24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 블록이 하는 일: 앞에서 만든 구조에 geometry·collision·sensor·joint를 하나씩 붙입니다.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rPr/>
              <a:t>현재 열린 파일: ~/ros2_curri/my_agv_ws/src/agv_gazebo/models/agv/model.sdf</a:t>
            </a:r>
            <a:r>
              <a:rPr/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73152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&lt;geometry&gt;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&lt;box&gt;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  &lt;size&gt;0.05 0.08 0.05&lt;/size&gt;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&lt;/box&gt;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&lt;/geometry&gt;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&lt;/visual&gt;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&lt;sensor name="camera" type="camera"&gt;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&lt;topic&gt;/camera/image_raw&lt;/topic&gt;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&lt;always_on&gt;true&lt;/always_on&gt;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&lt;update_rate&gt;15&lt;/update_rate&gt;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&lt;camera&gt;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&lt;horizontal_fov&gt;1.047&lt;/horizontal_fov&gt;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입력 21/24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2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1/4: 코드 입력 (22/24)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~/ros2_curri/my_agv_ws/src/agv_gazebo/models/agv/model.sdf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기반 AGV End-to-End 개발 커리큘럼 · M14 · Block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파일 1/4 · 입력 22/24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 블록이 하는 일: 앞에서 만든 구조에 geometry·collision·sensor·joint를 하나씩 붙입니다.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rPr/>
              <a:t>현재 열린 파일: ~/ros2_curri/my_agv_ws/src/agv_gazebo/models/agv/model.sdf</a:t>
            </a:r>
            <a:r>
              <a:rPr/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73152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&lt;image&gt;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  &lt;width&gt;640&lt;/width&gt;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  &lt;height&gt;480&lt;/height&gt;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  &lt;format&gt;R8G8B8&lt;/format&gt;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&lt;/image&gt;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&lt;clip&gt;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  &lt;near&gt;0.1&lt;/near&gt;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  &lt;far&gt;20&lt;/far&gt;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&lt;/clip&gt;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&lt;/camera&gt;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&lt;/sensor&gt;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&lt;/link&gt;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입력 22/24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2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1/4: 코드 입력 (23/24)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~/ros2_curri/my_agv_ws/src/agv_gazebo/models/agv/model.sdf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기반 AGV End-to-End 개발 커리큘럼 · M14 · Block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파일 1/4 · 입력 23/24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 블록이 하는 일: 앞에서 만든 구조에 geometry·collision·sensor·joint를 하나씩 붙입니다.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rPr/>
              <a:t>현재 열린 파일: ~/ros2_curri/my_agv_ws/src/agv_gazebo/models/agv/model.sdf</a:t>
            </a:r>
            <a:r>
              <a:rPr/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73152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&lt;joint name="camera_joint" type="fixed"&gt;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&lt;parent&gt;base_link&lt;/parent&gt;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&lt;child&gt;camera_link&lt;/child&gt;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&lt;/joint&gt;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&lt;plugin filename="gz-sim-diff-drive-system" name="gz::sim::systems::DiffDrive"&gt;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&lt;left_joint&gt;left_wheel_joint&lt;/left_joint&gt;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&lt;right_joint&gt;right_wheel_joint&lt;/right_joint&gt;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&lt;wheel_separation&gt;0.38&lt;/wheel_separation&gt;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입력 23/24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2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1/4: 코드 입력 (24/24)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~/ros2_curri/my_agv_ws/src/agv_gazebo/models/agv/model.sdf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기반 AGV End-to-End 개발 커리큘럼 · M14 · Block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파일 1/4 · 입력 24/24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 블록이 하는 일: 마지막 joint·sensor·plugin과 닫는 태그를 입력해 구조를 완성합니다.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rPr/>
              <a:t>현재 열린 파일: ~/ros2_curri/my_agv_ws/src/agv_gazebo/models/agv/model.sdf</a:t>
            </a:r>
            <a:r>
              <a:rPr/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73152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&lt;wheel_radius&gt;0.08&lt;/wheel_radius&gt;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&lt;topic&gt;/cmd_vel&lt;/topic&gt;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&lt;odom_topic&gt;/odom&lt;/odom_topic&gt;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&lt;frame_id&gt;odom&lt;/frame_id&gt;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&lt;child_frame_id&gt;base_link&lt;/child_frame_id&gt;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&lt;/plugin&gt;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&lt;/model&gt;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&lt;/sdf&gt;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입력 24/24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2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2/4: 폴더를 만들고 빈 파일을 연다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파일을 먼저 만든 뒤, 다음 슬라이드의 코드 블록을 위에서 아래로 직접 입력합니다.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기반 AGV End-to-End 개발 커리큘럼 · M14 · Block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파일 생성 2/4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19072"/>
            <a:ext cx="141732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25B9B"/>
                </a:solidFill>
                <a:latin typeface="Noto Sans CJK KR"/>
              </a:defRPr>
            </a:pPr>
            <a:r>
              <a:rPr/>
              <a:t>이번 파일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719072"/>
            <a:ext cx="923544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DejaVu Sans Mono"/>
              </a:defRPr>
            </a:pPr>
            <a:r>
              <a:rPr/>
              <a:t>~/ros2_curri/my_agv_ws/src/agv_gazebo/worlds/warehouse.sdf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103120"/>
            <a:ext cx="141732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A8B5A"/>
                </a:solidFill>
                <a:latin typeface="Noto Sans CJK KR"/>
              </a:defRPr>
            </a:pPr>
            <a:r>
              <a:rPr/>
              <a:t>만드는 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2103120"/>
            <a:ext cx="923544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122C4E"/>
                </a:solidFill>
                <a:latin typeface="Noto Sans CJK KR"/>
              </a:defRPr>
            </a:pPr>
            <a:r>
              <a:rPr/>
              <a:t>센서·물리 system plugin과 warehouse 환경을 함께 여는 Gazebo World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6656" y="2852928"/>
            <a:ext cx="10881360" cy="1682496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rPr/>
              <a:t>mkdir -p ~/ros2_curri/my_agv_ws/src/agv_gazebo/worlds</a:t>
            </a:r>
          </a:p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rPr/>
              <a:t>nano ~/ros2_curri/my_agv_ws/src/agv_gazebo/worlds/warehouse.sdf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4901184"/>
            <a:ext cx="10241280" cy="32918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DB7E22"/>
                </a:solidFill>
                <a:latin typeface="Noto Sans CJK KR"/>
              </a:defRPr>
            </a:pPr>
            <a:r>
              <a:rPr/>
              <a:t>nano 저장: Ctrl+O → Enter → Ctrl+X  |  파일이 열리면 아직 비어 있는 것이 정상입니다.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5504688"/>
            <a:ext cx="10241280" cy="32918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2A8B5A"/>
                </a:solidFill>
                <a:latin typeface="Noto Sans CJK KR"/>
              </a:defRPr>
            </a:pPr>
            <a:r>
              <a:rPr/>
              <a:t>다음 단계의 확인 화면: Gazebo World와 IMU terminal의 frame_id·publish rate</a:t>
            </a:r>
          </a:p>
        </p:txBody>
      </p:sp>
    </p:spTree>
  </p:cSld>
  <p:clrMapOvr>
    <a:masterClrMapping/>
  </p:clrMapOvr>
</p:sld>
</file>

<file path=ppt/slides/slide2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2/4: 코드 읽기 (1/3)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짧은 실제 코드 조각을 먼저 읽고, 다음 슬라이드에서 같은 코드를 직접 입력합니다.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기반 AGV End-to-End 개발 커리큘럼 · M14 · Block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코드 해설 2/4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61848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25B9B"/>
                </a:solidFill>
                <a:latin typeface="DejaVu Sans Mono"/>
              </a:defRPr>
            </a:pPr>
            <a:r>
              <a:rPr/>
              <a:t>~/ros2_curri/my_agv_ws/src/agv_gazebo/worlds/warehouse.sdf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" y="193852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DB7E22"/>
                </a:solidFill>
                <a:latin typeface="Noto Sans CJK KR"/>
              </a:defRPr>
            </a:pPr>
            <a:r>
              <a:rPr/>
              <a:t>말로 먼저 답해 보세요: 이 줄은 무엇을 만들고, 실행하면 어디에서 확인할 수 있을까요?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359152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rPr/>
              <a:t>&lt;world name="warehouse"&gt;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2359152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5239512" y="2468880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rPr/>
              <a:t>1.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96128" y="2450592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rPr/>
              <a:t>뜻: 로봇 model 또는 Gazebo world의 가장 바깥 이름과 범위를 선언합니다.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96128" y="3108960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rPr/>
              <a:t>실행에서: 문법 검사와 Gazebo/RViz가 이 구조부터 읽기 시작합니다.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078224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rPr/>
              <a:t>&lt;plugin filename="gz-sim-physics-system"</a:t>
            </a:r>
            <a:r>
              <a:rPr/>
              <a:t>name="gz::sim::systems::Physics"/&gt;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0" y="4078224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5239512" y="4187952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rPr/>
              <a:t>2.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96128" y="4169663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rPr/>
              <a:t>뜻: Gazebo에 구동·bridge·sensor 처리 기능을 연결하는 확장 코드입니다.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96128" y="4828032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rPr/>
              <a:t>실행에서: plugin 이름이 틀리면 model은 떠도 topic/구동 기능이 생기지 않습니다.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6199632"/>
            <a:ext cx="10698480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5C6672"/>
                </a:solidFill>
                <a:latin typeface="Noto Sans CJK KR"/>
              </a:defRPr>
            </a:pPr>
            <a:r>
              <a:rPr/>
              <a:t>다음 코드 입력 슬라이드에서 이 줄을 발견하면, 방금 설명한 ‘뜻’과 ‘실행에서 보이는 변화’를 다시 말해 봅니다.</a:t>
            </a:r>
          </a:p>
        </p:txBody>
      </p:sp>
    </p:spTree>
  </p:cSld>
  <p:clrMapOvr>
    <a:masterClrMapping/>
  </p:clrMapOvr>
</p:sld>
</file>

<file path=ppt/slides/slide2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2/4: 코드 읽기 (2/3)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짧은 실제 코드 조각을 먼저 읽고, 다음 슬라이드에서 같은 코드를 직접 입력합니다.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기반 AGV End-to-End 개발 커리큘럼 · M14 · Block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코드 해설 2/4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61848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25B9B"/>
                </a:solidFill>
                <a:latin typeface="DejaVu Sans Mono"/>
              </a:defRPr>
            </a:pPr>
            <a:r>
              <a:rPr/>
              <a:t>~/ros2_curri/my_agv_ws/src/agv_gazebo/worlds/warehouse.sdf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" y="193852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DB7E22"/>
                </a:solidFill>
                <a:latin typeface="Noto Sans CJK KR"/>
              </a:defRPr>
            </a:pPr>
            <a:r>
              <a:rPr/>
              <a:t>말로 먼저 답해 보세요: 이 줄은 무엇을 만들고, 실행하면 어디에서 확인할 수 있을까요?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359152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rPr/>
              <a:t>&lt;link name="link"&gt;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2359152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5239512" y="2468880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rPr/>
              <a:t>1.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96128" y="2450592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rPr/>
              <a:t>뜻: 로봇의 몸체·바퀴처럼 실제로 존재하는 하나의 부품을 선언합니다.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96128" y="3108960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rPr/>
              <a:t>실행에서: RViz/Gazebo에서 이 부품이 별도 frame/물체로 보입니다.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078224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rPr/>
              <a:t>&lt;collision name="collision"&gt;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0" y="4078224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5239512" y="4187952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rPr/>
              <a:t>2.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96128" y="4169663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rPr/>
              <a:t>뜻: 물리 엔진이 부딪힘을 계산할 모양을 설정합니다.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96128" y="4828032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rPr/>
              <a:t>실행에서: 주행 중 장애물·바닥과의 접촉 결과가 이 구조를 따릅니다.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6199632"/>
            <a:ext cx="10698480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5C6672"/>
                </a:solidFill>
                <a:latin typeface="Noto Sans CJK KR"/>
              </a:defRPr>
            </a:pPr>
            <a:r>
              <a:rPr/>
              <a:t>다음 코드 입력 슬라이드에서 이 줄을 발견하면, 방금 설명한 ‘뜻’과 ‘실행에서 보이는 변화’를 다시 말해 봅니다.</a:t>
            </a:r>
          </a:p>
        </p:txBody>
      </p:sp>
    </p:spTree>
  </p:cSld>
  <p:clrMapOvr>
    <a:masterClrMapping/>
  </p:clrMapOvr>
</p:sld>
</file>

<file path=ppt/slides/slide2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2/4: 코드 읽기 (3/3)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짧은 실제 코드 조각을 먼저 읽고, 다음 슬라이드에서 같은 코드를 직접 입력합니다.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기반 AGV End-to-End 개발 커리큘럼 · M14 · Block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코드 해설 2/4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61848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25B9B"/>
                </a:solidFill>
                <a:latin typeface="DejaVu Sans Mono"/>
              </a:defRPr>
            </a:pPr>
            <a:r>
              <a:rPr/>
              <a:t>~/ros2_curri/my_agv_ws/src/agv_gazebo/worlds/warehouse.sdf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" y="193852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DB7E22"/>
                </a:solidFill>
                <a:latin typeface="Noto Sans CJK KR"/>
              </a:defRPr>
            </a:pPr>
            <a:r>
              <a:rPr/>
              <a:t>말로 먼저 답해 보세요: 이 줄은 무엇을 만들고, 실행하면 어디에서 확인할 수 있을까요?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359152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rPr/>
              <a:t>&lt;visual name="visual"&gt;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2359152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5239512" y="2468880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rPr/>
              <a:t>1.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96128" y="2450592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rPr/>
              <a:t>뜻: 사람이 화면에서 보는 모양·색·mesh를 설정합니다.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96128" y="3108960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rPr/>
              <a:t>실행에서: Gazebo/RViz 화면에서 해당 부품의 외형이 바뀝니다.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078224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rPr/>
              <a:t>&lt;name&gt;agv&lt;/name&gt;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0" y="4078224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5239512" y="4187952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rPr/>
              <a:t>2.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96128" y="4169663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rPr/>
              <a:t>뜻: ROS 2가 이 폴더를 부를 공식 package 이름입니다.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96128" y="4828032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rPr/>
              <a:t>실행에서: build 뒤 `ros2 pkg prefix`가 이 이름으로 package를 찾습니다.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6199632"/>
            <a:ext cx="10698480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5C6672"/>
                </a:solidFill>
                <a:latin typeface="Noto Sans CJK KR"/>
              </a:defRPr>
            </a:pPr>
            <a:r>
              <a:rPr/>
              <a:t>다음 코드 입력 슬라이드에서 이 줄을 발견하면, 방금 설명한 ‘뜻’과 ‘실행에서 보이는 변화’를 다시 말해 봅니다.</a:t>
            </a:r>
          </a:p>
        </p:txBody>
      </p:sp>
    </p:spTree>
  </p:cSld>
  <p:clrMapOvr>
    <a:masterClrMapping/>
  </p:clrMapOvr>
</p:sld>
</file>

<file path=ppt/slides/slide2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2/4: 코드 입력 (1/11)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~/ros2_curri/my_agv_ws/src/agv_gazebo/worlds/warehouse.sdf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기반 AGV End-to-End 개발 커리큘럼 · M14 · Block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파일 2/4 · 입력 1/11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 블록이 하는 일: 파일의 root와 첫 model/link를 입력합니다. 태그 여닫는 순서를 그대로 유지합니다.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rPr/>
              <a:t>현재 열린 파일: ~/ros2_curri/my_agv_ws/src/agv_gazebo/worlds/warehouse.sdf</a:t>
            </a:r>
            <a:r>
              <a:rPr/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73152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&lt;?xml version="1.0" ?&gt;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&lt;sdf version="1.10"&gt;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&lt;world name="warehouse"&gt;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&lt;gravity&gt;0 0 -9.8&lt;/gravity&gt;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&lt;plugin filename="gz-sim-physics-system" name="gz::sim::systems::Physics"/&gt;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&lt;plugin filename="gz-sim-user-commands-system"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name="gz::sim::systems::UserCommands"/&gt;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&lt;plugin filename="gz-sim-scene-broadcaster-system"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입력 1/11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2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2/4: 코드 입력 (2/11)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~/ros2_curri/my_agv_ws/src/agv_gazebo/worlds/warehouse.sdf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기반 AGV End-to-End 개발 커리큘럼 · M14 · Block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파일 2/4 · 입력 2/11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 블록이 하는 일: 앞에서 만든 구조에 geometry·collision·sensor·joint를 하나씩 붙입니다.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rPr/>
              <a:t>현재 열린 파일: ~/ros2_curri/my_agv_ws/src/agv_gazebo/worlds/warehouse.sdf</a:t>
            </a:r>
            <a:r>
              <a:rPr/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73152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name="gz::sim::systems::SceneBroadcaster"/&gt;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&lt;plugin filename="gz-sim-imu-system" name="gz::sim::systems::Imu"/&gt;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&lt;plugin filename="gz-sim-sensors-system" name="gz::sim::systems::Sensors"/&gt;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&lt;light type="directional" name="sun"&gt;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&lt;pose&gt;0 0 10 0 0 0&lt;/pose&gt;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&lt;cast_shadows&gt;true&lt;/cast_shadows&gt;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&lt;direction&gt;-0.5 0.1 -0.9&lt;/direction&gt;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&lt;/light&gt;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입력 2/11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2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2/4: 코드 입력 (3/11)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~/ros2_curri/my_agv_ws/src/agv_gazebo/worlds/warehouse.sdf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기반 AGV End-to-End 개발 커리큘럼 · M14 · Block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파일 2/4 · 입력 3/11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 블록이 하는 일: 앞에서 만든 구조에 geometry·collision·sensor·joint를 하나씩 붙입니다.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rPr/>
              <a:t>현재 열린 파일: ~/ros2_curri/my_agv_ws/src/agv_gazebo/worlds/warehouse.sdf</a:t>
            </a:r>
            <a:r>
              <a:rPr/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73152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&lt;model name="ground"&gt;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&lt;static&gt;true&lt;/static&gt;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&lt;link name="link"&gt;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&lt;collision name="collision"&gt;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&lt;geometry&gt;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  &lt;plane&gt;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    &lt;normal&gt;0 0 1&lt;/normal&gt;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    &lt;size&gt;30 30&lt;/size&gt;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  &lt;/plane&gt;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&lt;/geometry&gt;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&lt;/collision&gt;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&lt;visual name="visual"&gt;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입력 3/11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2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2/4: 코드 입력 (4/11)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~/ros2_curri/my_agv_ws/src/agv_gazebo/worlds/warehouse.sdf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기반 AGV End-to-End 개발 커리큘럼 · M14 · Block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파일 2/4 · 입력 4/11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 블록이 하는 일: 앞에서 만든 구조에 geometry·collision·sensor·joint를 하나씩 붙입니다.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rPr/>
              <a:t>현재 열린 파일: ~/ros2_curri/my_agv_ws/src/agv_gazebo/worlds/warehouse.sdf</a:t>
            </a:r>
            <a:r>
              <a:rPr/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73152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&lt;geometry&gt;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  &lt;plane&gt;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    &lt;normal&gt;0 0 1&lt;/normal&gt;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    &lt;size&gt;30 30&lt;/size&gt;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  &lt;/plane&gt;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&lt;/geometry&gt;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&lt;material&gt;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  &lt;diffuse&gt;0.65 0.65 0.65 1&lt;/diffuse&gt;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&lt;/material&gt;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&lt;/visual&gt;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&lt;/link&gt;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&lt;/model&gt;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입력 4/11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2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2/4: 코드 입력 (5/11)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~/ros2_curri/my_agv_ws/src/agv_gazebo/worlds/warehouse.sdf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기반 AGV End-to-End 개발 커리큘럼 · M14 · Block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파일 2/4 · 입력 5/11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 블록이 하는 일: 앞에서 만든 구조에 geometry·collision·sensor·joint를 하나씩 붙입니다.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rPr/>
              <a:t>현재 열린 파일: ~/ros2_curri/my_agv_ws/src/agv_gazebo/worlds/warehouse.sdf</a:t>
            </a:r>
            <a:r>
              <a:rPr/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73152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&lt;model name="wall_north"&gt;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&lt;static&gt;true&lt;/static&gt;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&lt;pose&gt;0 4 1 0 0 0&lt;/pose&gt;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&lt;link name="link"&gt;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&lt;collision name="c"&gt;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&lt;geometry&gt;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  &lt;box&gt;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    &lt;size&gt;8 0.15 2&lt;/size&gt;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  &lt;/box&gt;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&lt;/geometry&gt;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입력 5/11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2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2/4: 코드 입력 (6/11)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~/ros2_curri/my_agv_ws/src/agv_gazebo/worlds/warehouse.sdf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기반 AGV End-to-End 개발 커리큘럼 · M14 · Block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파일 2/4 · 입력 6/11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 블록이 하는 일: 앞에서 만든 구조에 geometry·collision·sensor·joint를 하나씩 붙입니다.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rPr/>
              <a:t>현재 열린 파일: ~/ros2_curri/my_agv_ws/src/agv_gazebo/worlds/warehouse.sdf</a:t>
            </a:r>
            <a:r>
              <a:rPr/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73152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&lt;/collision&gt;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&lt;visual name="v"&gt;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&lt;geometry&gt;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  &lt;box&gt;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    &lt;size&gt;8 0.15 2&lt;/size&gt;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  &lt;/box&gt;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&lt;/geometry&gt;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&lt;/visual&gt;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&lt;/link&gt;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&lt;/model&gt;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입력 6/11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2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2/4: 코드 입력 (7/11)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~/ros2_curri/my_agv_ws/src/agv_gazebo/worlds/warehouse.sdf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기반 AGV End-to-End 개발 커리큘럼 · M14 · Block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파일 2/4 · 입력 7/11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 블록이 하는 일: 앞에서 만든 구조에 geometry·collision·sensor·joint를 하나씩 붙입니다.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rPr/>
              <a:t>현재 열린 파일: ~/ros2_curri/my_agv_ws/src/agv_gazebo/worlds/warehouse.sdf</a:t>
            </a:r>
            <a:r>
              <a:rPr/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73152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&lt;model name="obstacle"&gt;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&lt;static&gt;true&lt;/static&gt;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&lt;pose&gt;1.5 -1.0 0.4 0 0 0&lt;/pose&gt;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&lt;link name="link"&gt;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&lt;collision name="c"&gt;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&lt;geometry&gt;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  &lt;box&gt;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    &lt;size&gt;0.5 0.5 0.8&lt;/size&gt;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  &lt;/box&gt;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&lt;/geometry&gt;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&lt;/collision&gt;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&lt;visual name="v"&gt;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입력 7/11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2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2/4: 코드 입력 (8/11)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~/ros2_curri/my_agv_ws/src/agv_gazebo/worlds/warehouse.sdf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기반 AGV End-to-End 개발 커리큘럼 · M14 · Block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파일 2/4 · 입력 8/11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 블록이 하는 일: 앞에서 만든 구조에 geometry·collision·sensor·joint를 하나씩 붙입니다.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rPr/>
              <a:t>현재 열린 파일: ~/ros2_curri/my_agv_ws/src/agv_gazebo/worlds/warehouse.sdf</a:t>
            </a:r>
            <a:r>
              <a:rPr/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73152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&lt;geometry&gt;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  &lt;box&gt;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    &lt;size&gt;0.5 0.5 0.8&lt;/size&gt;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  &lt;/box&gt;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&lt;/geometry&gt;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&lt;material&gt;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  &lt;diffuse&gt;0.9 0.7 0.1 1&lt;/diffuse&gt;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&lt;/material&gt;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&lt;/visual&gt;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&lt;/link&gt;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&lt;/model&gt;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입력 8/11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2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2/4: 코드 입력 (9/11)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~/ros2_curri/my_agv_ws/src/agv_gazebo/worlds/warehouse.sdf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기반 AGV End-to-End 개발 커리큘럼 · M14 · Block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파일 2/4 · 입력 9/11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 블록이 하는 일: 앞에서 만든 구조에 geometry·collision·sensor·joint를 하나씩 붙입니다.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rPr/>
              <a:t>현재 열린 파일: ~/ros2_curri/my_agv_ws/src/agv_gazebo/worlds/warehouse.sdf</a:t>
            </a:r>
            <a:r>
              <a:rPr/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73152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&lt;model name="target"&gt;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&lt;static&gt;true&lt;/static&gt;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&lt;pose&gt;1.5 0 0.5 0 0 0&lt;/pose&gt;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&lt;link name="link"&gt;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&lt;collision name="c"&gt;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&lt;geometry&gt;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  &lt;box&gt;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    &lt;size&gt;0.25 0.25 1&lt;/size&gt;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  &lt;/box&gt;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&lt;/geometry&gt;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&lt;/collision&gt;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입력 9/11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2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2/4: 코드 입력 (10/11)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~/ros2_curri/my_agv_ws/src/agv_gazebo/worlds/warehouse.sdf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기반 AGV End-to-End 개발 커리큘럼 · M14 · Block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파일 2/4 · 입력 10/11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 블록이 하는 일: 앞에서 만든 구조에 geometry·collision·sensor·joint를 하나씩 붙입니다.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rPr/>
              <a:t>현재 열린 파일: ~/ros2_curri/my_agv_ws/src/agv_gazebo/worlds/warehouse.sdf</a:t>
            </a:r>
            <a:r>
              <a:rPr/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73152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&lt;visual name="v"&gt;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&lt;geometry&gt;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  &lt;box&gt;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    &lt;size&gt;0.25 0.25 1&lt;/size&gt;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  &lt;/box&gt;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&lt;/geometry&gt;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&lt;material&gt;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  &lt;diffuse&gt;0.9 0.05 0.05 1&lt;/diffuse&gt;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&lt;/material&gt;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&lt;/visual&gt;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&lt;/link&gt;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&lt;/model&gt;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입력 10/11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2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2/4: 코드 입력 (11/11)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~/ros2_curri/my_agv_ws/src/agv_gazebo/worlds/warehouse.sdf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기반 AGV End-to-End 개발 커리큘럼 · M14 · Block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파일 2/4 · 입력 11/11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 블록이 하는 일: 마지막 joint·sensor·plugin과 닫는 태그를 입력해 구조를 완성합니다.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rPr/>
              <a:t>현재 열린 파일: ~/ros2_curri/my_agv_ws/src/agv_gazebo/worlds/warehouse.sdf</a:t>
            </a:r>
            <a:r>
              <a:rPr/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73152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&lt;include&gt;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&lt;uri&gt;model://agv&lt;/uri&gt;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&lt;name&gt;agv&lt;/name&gt;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&lt;pose&gt;0 0 0.08 0 0 0&lt;/pose&gt;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&lt;/include&gt;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&lt;/world&gt;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&lt;/sdf&gt;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입력 11/11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2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3/4: 폴더를 만들고 빈 파일을 연다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파일을 먼저 만든 뒤, 다음 슬라이드의 코드 블록을 위에서 아래로 직접 입력합니다.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기반 AGV End-to-End 개발 커리큘럼 · M14 · Block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파일 생성 3/4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19072"/>
            <a:ext cx="141732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25B9B"/>
                </a:solidFill>
                <a:latin typeface="Noto Sans CJK KR"/>
              </a:defRPr>
            </a:pPr>
            <a:r>
              <a:rPr/>
              <a:t>이번 파일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719072"/>
            <a:ext cx="923544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DejaVu Sans Mono"/>
              </a:defRPr>
            </a:pPr>
            <a:r>
              <a:rPr/>
              <a:t>~/ros2_curri/my_agv_ws/src/agv_gazebo/config/bridge.yaml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103120"/>
            <a:ext cx="141732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A8B5A"/>
                </a:solidFill>
                <a:latin typeface="Noto Sans CJK KR"/>
              </a:defRPr>
            </a:pPr>
            <a:r>
              <a:rPr/>
              <a:t>만드는 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2103120"/>
            <a:ext cx="923544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122C4E"/>
                </a:solidFill>
                <a:latin typeface="Noto Sans CJK KR"/>
              </a:defRPr>
            </a:pPr>
            <a:r>
              <a:rPr/>
              <a:t>Gazebo Transport 메시지와 ROS 2 topic을 방향별로 연결하는 번역표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6656" y="2852928"/>
            <a:ext cx="10881360" cy="1682496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rPr/>
              <a:t>mkdir -p ~/ros2_curri/my_agv_ws/src/agv_gazebo/config</a:t>
            </a:r>
          </a:p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rPr/>
              <a:t>nano ~/ros2_curri/my_agv_ws/src/agv_gazebo/config/bridge.yaml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4901184"/>
            <a:ext cx="10241280" cy="32918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DB7E22"/>
                </a:solidFill>
                <a:latin typeface="Noto Sans CJK KR"/>
              </a:defRPr>
            </a:pPr>
            <a:r>
              <a:rPr/>
              <a:t>nano 저장: Ctrl+O → Enter → Ctrl+X  |  파일이 열리면 아직 비어 있는 것이 정상입니다.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5504688"/>
            <a:ext cx="10241280" cy="32918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2A8B5A"/>
                </a:solidFill>
                <a:latin typeface="Noto Sans CJK KR"/>
              </a:defRPr>
            </a:pPr>
            <a:r>
              <a:rPr/>
              <a:t>다음 단계의 확인 화면: ros2 topic info에서 보이는 type과 publisher 수</a:t>
            </a:r>
          </a:p>
        </p:txBody>
      </p:sp>
    </p:spTree>
  </p:cSld>
  <p:clrMapOvr>
    <a:masterClrMapping/>
  </p:clrMapOvr>
</p:sld>
</file>

<file path=ppt/slides/slide2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3/4: 코드 읽기 (1/1)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짧은 실제 코드 조각을 먼저 읽고, 다음 슬라이드에서 같은 코드를 직접 입력합니다.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기반 AGV End-to-End 개발 커리큘럼 · M14 · Block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코드 해설 3/4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61848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25B9B"/>
                </a:solidFill>
                <a:latin typeface="DejaVu Sans Mono"/>
              </a:defRPr>
            </a:pPr>
            <a:r>
              <a:rPr/>
              <a:t>~/ros2_curri/my_agv_ws/src/agv_gazebo/config/bridge.yaml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" y="193852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DB7E22"/>
                </a:solidFill>
                <a:latin typeface="Noto Sans CJK KR"/>
              </a:defRPr>
            </a:pPr>
            <a:r>
              <a:rPr/>
              <a:t>말로 먼저 답해 보세요: 이 줄은 무엇을 만들고, 실행하면 어디에서 확인할 수 있을까요?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359152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rPr/>
              <a:t>- ros_topic_name: "/cmd_vel"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2359152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5239512" y="2468880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rPr/>
              <a:t>1.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96128" y="2450592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rPr/>
              <a:t>뜻: 데이터가 오가는 채널의 정확한 이름을 지정합니다.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96128" y="3108960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rPr/>
              <a:t>실행에서: SDF·bridge·node 세 곳의 이름이 같을 때 message가 연결됩니다.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078224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rPr/>
              <a:t>ros_type_name: "geometry_msgs/msg/Twist"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0" y="4078224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5239512" y="4187952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rPr/>
              <a:t>2.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96128" y="4169663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rPr/>
              <a:t>뜻: 실행 코드와 분리한 설정 키와 값을 적습니다.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96128" y="4828032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rPr/>
              <a:t>실행에서: launch 뒤 parameter/topic 동작에서 이 값의 효과를 확인합니다.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6199632"/>
            <a:ext cx="10698480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5C6672"/>
                </a:solidFill>
                <a:latin typeface="Noto Sans CJK KR"/>
              </a:defRPr>
            </a:pPr>
            <a:r>
              <a:rPr/>
              <a:t>다음 코드 입력 슬라이드에서 이 줄을 발견하면, 방금 설명한 ‘뜻’과 ‘실행에서 보이는 변화’를 다시 말해 봅니다.</a:t>
            </a:r>
          </a:p>
        </p:txBody>
      </p:sp>
    </p:spTree>
  </p:cSld>
  <p:clrMapOvr>
    <a:masterClrMapping/>
  </p:clrMapOvr>
</p:sld>
</file>

<file path=ppt/slides/slide2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3/4: 코드 입력 (1/3)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~/ros2_curri/my_agv_ws/src/agv_gazebo/config/bridge.yaml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기반 AGV End-to-End 개발 커리큘럼 · M14 · Block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파일 3/4 · 입력 1/3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 블록이 하는 일: 들여쓰기와 key 이름을 그대로 입력합니다. 설정 이름은 launch·코드가 찾는 이름과 같아야 합니다.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rPr/>
              <a:t>현재 열린 파일: ~/ros2_curri/my_agv_ws/src/agv_gazebo/config/bridge.yaml</a:t>
            </a:r>
            <a:r>
              <a:rPr/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73152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- ros_topic_name: "/cmd_vel"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gz_topic_name: "/cmd_vel"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ros_type_name: "geometry_msgs/msg/Twist"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gz_type_name: "gz.msgs.Twist"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direction: ROS_TO_GZ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- ros_topic_name: "/odom"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gz_topic_name: "/odom"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ros_type_name: "nav_msgs/msg/Odometry"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gz_type_name: "gz.msgs.Odometry"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direction: GZ_TO_ROS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- ros_topic_name: "/scan"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gz_topic_name: "/scan"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입력 1/3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2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3/4: 코드 입력 (2/3)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~/ros2_curri/my_agv_ws/src/agv_gazebo/config/bridge.yaml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기반 AGV End-to-End 개발 커리큘럼 · M14 · Block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파일 3/4 · 입력 2/3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 블록이 하는 일: 들여쓰기와 key 이름을 그대로 입력합니다. 설정 이름은 launch·코드가 찾는 이름과 같아야 합니다.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rPr/>
              <a:t>현재 열린 파일: ~/ros2_curri/my_agv_ws/src/agv_gazebo/config/bridge.yaml</a:t>
            </a:r>
            <a:r>
              <a:rPr/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73152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ros_type_name: "sensor_msgs/msg/LaserScan"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gz_type_name: "gz.msgs.LaserScan"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direction: GZ_TO_ROS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- ros_topic_name: "/imu/data"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gz_topic_name: "/imu/data"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ros_type_name: "sensor_msgs/msg/Imu"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gz_type_name: "gz.msgs.IMU"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direction: GZ_TO_ROS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- ros_topic_name: "/camera/image_raw"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gz_topic_name: "/camera/image_raw"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ros_type_name: "sensor_msgs/msg/Image"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gz_type_name: "gz.msgs.Image"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입력 2/3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2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3/4: 코드 입력 (3/3)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~/ros2_curri/my_agv_ws/src/agv_gazebo/config/bridge.yaml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기반 AGV End-to-End 개발 커리큘럼 · M14 · Block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파일 3/4 · 입력 3/3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 블록이 하는 일: 들여쓰기와 key 이름을 그대로 입력합니다. 설정 이름은 launch·코드가 찾는 이름과 같아야 합니다.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rPr/>
              <a:t>현재 열린 파일: ~/ros2_curri/my_agv_ws/src/agv_gazebo/config/bridge.yaml</a:t>
            </a:r>
            <a:r>
              <a:rPr/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73152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direction: GZ_TO_ROS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- ros_topic_name: "/clock"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gz_topic_name: "/clock"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ros_type_name: "rosgraph_msgs/msg/Clock"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gz_type_name: "gz.msgs.Clock"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direction: GZ_TO_ROS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입력 3/3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2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4/4: 폴더를 만들고 빈 파일을 연다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파일을 먼저 만든 뒤, 다음 슬라이드의 코드 블록을 위에서 아래로 직접 입력합니다.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기반 AGV End-to-End 개발 커리큘럼 · M14 · Block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파일 생성 4/4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19072"/>
            <a:ext cx="141732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25B9B"/>
                </a:solidFill>
                <a:latin typeface="Noto Sans CJK KR"/>
              </a:defRPr>
            </a:pPr>
            <a:r>
              <a:rPr/>
              <a:t>이번 파일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719072"/>
            <a:ext cx="923544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DejaVu Sans Mono"/>
              </a:defRPr>
            </a:pPr>
            <a:r>
              <a:rPr/>
              <a:t>~/ros2_curri/my_agv_ws/src/agv_sensors/agv_sensors/imu_monitor.py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103120"/>
            <a:ext cx="141732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A8B5A"/>
                </a:solidFill>
                <a:latin typeface="Noto Sans CJK KR"/>
              </a:defRPr>
            </a:pPr>
            <a:r>
              <a:rPr/>
              <a:t>만드는 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2103120"/>
            <a:ext cx="923544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122C4E"/>
                </a:solidFill>
                <a:latin typeface="Noto Sans CJK KR"/>
              </a:defRPr>
            </a:pPr>
            <a:r>
              <a:rPr/>
              <a:t>IMU frame·각속도·가속도를 단위와 함께 출력하는 진단 노드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6656" y="2852928"/>
            <a:ext cx="10881360" cy="1682496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rPr/>
              <a:t>mkdir -p ~/ros2_curri/my_agv_ws/src/agv_sensors/agv_sensors</a:t>
            </a:r>
          </a:p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rPr/>
              <a:t>nano ~/ros2_curri/my_agv_ws/src/agv_sensors/agv_sensors/imu_monitor.py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4901184"/>
            <a:ext cx="10241280" cy="32918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DB7E22"/>
                </a:solidFill>
                <a:latin typeface="Noto Sans CJK KR"/>
              </a:defRPr>
            </a:pPr>
            <a:r>
              <a:rPr/>
              <a:t>nano 저장: Ctrl+O → Enter → Ctrl+X  |  파일이 열리면 아직 비어 있는 것이 정상입니다.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5504688"/>
            <a:ext cx="10241280" cy="32918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2A8B5A"/>
                </a:solidFill>
                <a:latin typeface="Noto Sans CJK KR"/>
              </a:defRPr>
            </a:pPr>
            <a:r>
              <a:rPr/>
              <a:t>다음 단계의 확인 화면: IMU terminal의 frame_id와 publish rate</a:t>
            </a:r>
          </a:p>
        </p:txBody>
      </p:sp>
    </p:spTree>
  </p:cSld>
  <p:clrMapOvr>
    <a:masterClrMapping/>
  </p:clrMapOvr>
</p:sld>
</file>

<file path=ppt/slides/slide2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4/4: 코드 읽기 (1/5)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짧은 실제 코드 조각을 먼저 읽고, 다음 슬라이드에서 같은 코드를 직접 입력합니다.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기반 AGV End-to-End 개발 커리큘럼 · M14 · Block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코드 해설 4/4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61848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25B9B"/>
                </a:solidFill>
                <a:latin typeface="DejaVu Sans Mono"/>
              </a:defRPr>
            </a:pPr>
            <a:r>
              <a:rPr/>
              <a:t>~/ros2_curri/my_agv_ws/src/agv_sensors/agv_sensors/imu_monitor.py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" y="193852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DB7E22"/>
                </a:solidFill>
                <a:latin typeface="Noto Sans CJK KR"/>
              </a:defRPr>
            </a:pPr>
            <a:r>
              <a:rPr/>
              <a:t>말로 먼저 답해 보세요: 이 줄은 무엇을 만들고, 실행하면 어디에서 확인할 수 있을까요?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359152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rPr/>
              <a:t>import rclpy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2359152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5239512" y="2468880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rPr/>
              <a:t>1.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96128" y="2450592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rPr/>
              <a:t>뜻: 다른 파일에 이미 있는 도구를 이 파일에서 쓰겠다고 가져옵니다.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96128" y="3108960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rPr/>
              <a:t>실행에서: 이 import가 빠지면 실행 전에 이름을 찾지 못했다는 오류가 납니다.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078224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rPr/>
              <a:t>class ImuMonitor(Node):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0" y="4078224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5239512" y="4187952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rPr/>
              <a:t>2.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96128" y="4169663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rPr/>
              <a:t>뜻: 이 Node가 가질 변수와 callback을 한 덩어리로 묶는 설계도입니다.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96128" y="4828032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rPr/>
              <a:t>실행에서: 아래 초기화·callback이 모두 이 node 한 개의 동작이 됩니다.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6199632"/>
            <a:ext cx="10698480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5C6672"/>
                </a:solidFill>
                <a:latin typeface="Noto Sans CJK KR"/>
              </a:defRPr>
            </a:pPr>
            <a:r>
              <a:rPr/>
              <a:t>다음 코드 입력 슬라이드에서 이 줄을 발견하면, 방금 설명한 ‘뜻’과 ‘실행에서 보이는 변화’를 다시 말해 봅니다.</a:t>
            </a:r>
          </a:p>
        </p:txBody>
      </p:sp>
    </p:spTree>
  </p:cSld>
  <p:clrMapOvr>
    <a:masterClrMapping/>
  </p:clrMapOvr>
</p:sld>
</file>

<file path=ppt/slides/slide2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4/4: 코드 읽기 (2/5)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짧은 실제 코드 조각을 먼저 읽고, 다음 슬라이드에서 같은 코드를 직접 입력합니다.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기반 AGV End-to-End 개발 커리큘럼 · M14 · Block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코드 해설 4/4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61848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25B9B"/>
                </a:solidFill>
                <a:latin typeface="DejaVu Sans Mono"/>
              </a:defRPr>
            </a:pPr>
            <a:r>
              <a:rPr/>
              <a:t>~/ros2_curri/my_agv_ws/src/agv_sensors/agv_sensors/imu_monitor.py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" y="193852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DB7E22"/>
                </a:solidFill>
                <a:latin typeface="Noto Sans CJK KR"/>
              </a:defRPr>
            </a:pPr>
            <a:r>
              <a:rPr/>
              <a:t>말로 먼저 답해 보세요: 이 줄은 무엇을 만들고, 실행하면 어디에서 확인할 수 있을까요?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359152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rPr/>
              <a:t>super().__init__('imu_monitor')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2359152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5239512" y="2468880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rPr/>
              <a:t>1.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96128" y="2450592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rPr/>
              <a:t>뜻: ROS graph에 표시될 node 이름을 실제로 정합니다.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96128" y="3108960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rPr/>
              <a:t>실행에서: 실행 후 `ros2 node list`에서 이 이름을 찾습니다.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078224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rPr/>
              <a:t>self.create_subscription(Imu, '/imu/data', self.callback,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0" y="4078224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5239512" y="4187952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rPr/>
              <a:t>2.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96128" y="4169663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rPr/>
              <a:t>뜻: 이 node가 지정 topic의 message를 받아 callback으로 넘깁니다.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96128" y="4828032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rPr/>
              <a:t>실행에서: 입력 topic을 publish하면 callback의 log 또는 출력이 바뀝니다.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6199632"/>
            <a:ext cx="10698480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5C6672"/>
                </a:solidFill>
                <a:latin typeface="Noto Sans CJK KR"/>
              </a:defRPr>
            </a:pPr>
            <a:r>
              <a:rPr/>
              <a:t>다음 코드 입력 슬라이드에서 이 줄을 발견하면, 방금 설명한 ‘뜻’과 ‘실행에서 보이는 변화’를 다시 말해 봅니다.</a:t>
            </a:r>
          </a:p>
        </p:txBody>
      </p:sp>
    </p:spTree>
  </p:cSld>
  <p:clrMapOvr>
    <a:masterClrMapping/>
  </p:clrMapOvr>
</p:sld>
</file>

<file path=ppt/slides/slide2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4/4: 코드 읽기 (3/5)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짧은 실제 코드 조각을 먼저 읽고, 다음 슬라이드에서 같은 코드를 직접 입력합니다.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기반 AGV End-to-End 개발 커리큘럼 · M14 · Block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코드 해설 4/4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61848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25B9B"/>
                </a:solidFill>
                <a:latin typeface="DejaVu Sans Mono"/>
              </a:defRPr>
            </a:pPr>
            <a:r>
              <a:rPr/>
              <a:t>~/ros2_curri/my_agv_ws/src/agv_sensors/agv_sensors/imu_monitor.py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" y="193852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DB7E22"/>
                </a:solidFill>
                <a:latin typeface="Noto Sans CJK KR"/>
              </a:defRPr>
            </a:pPr>
            <a:r>
              <a:rPr/>
              <a:t>말로 먼저 답해 보세요: 이 줄은 무엇을 만들고, 실행하면 어디에서 확인할 수 있을까요?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359152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rPr/>
              <a:t>def callback(self, message):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2359152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5239512" y="2468880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rPr/>
              <a:t>1.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96128" y="2450592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rPr/>
              <a:t>뜻: 입력 message가 오거나 timer가 울릴 때 실행할 작은 기능 단위입니다.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96128" y="3108960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rPr/>
              <a:t>실행에서: 이 함수 안의 계산·publish가 실제 node의 반응이 됩니다.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078224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rPr/>
              <a:t>self.get_logger().info('gyro z=%.3f rad/s, acceleration</a:t>
            </a:r>
            <a:r>
              <a:rPr/>
              <a:t>z=%.3f m/s²,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0" y="4078224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5239512" y="4187952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rPr/>
              <a:t>2.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96128" y="4169663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rPr/>
              <a:t>뜻: 현재 상태나 계산 결과를 사람이 볼 수 있게 terminal에 남깁니다.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96128" y="4828032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rPr/>
              <a:t>실행에서: node를 실행한 terminal에서 이 문장이 출력됩니다.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6199632"/>
            <a:ext cx="10698480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5C6672"/>
                </a:solidFill>
                <a:latin typeface="Noto Sans CJK KR"/>
              </a:defRPr>
            </a:pPr>
            <a:r>
              <a:rPr/>
              <a:t>다음 코드 입력 슬라이드에서 이 줄을 발견하면, 방금 설명한 ‘뜻’과 ‘실행에서 보이는 변화’를 다시 말해 봅니다.</a:t>
            </a:r>
          </a:p>
        </p:txBody>
      </p:sp>
    </p:spTree>
  </p:cSld>
  <p:clrMapOvr>
    <a:masterClrMapping/>
  </p:clrMapOvr>
</p:sld>
</file>

<file path=ppt/slides/slide2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4/4: 코드 읽기 (4/5)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짧은 실제 코드 조각을 먼저 읽고, 다음 슬라이드에서 같은 코드를 직접 입력합니다.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기반 AGV End-to-End 개발 커리큘럼 · M14 · Block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코드 해설 4/4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61848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25B9B"/>
                </a:solidFill>
                <a:latin typeface="DejaVu Sans Mono"/>
              </a:defRPr>
            </a:pPr>
            <a:r>
              <a:rPr/>
              <a:t>~/ros2_curri/my_agv_ws/src/agv_sensors/agv_sensors/imu_monitor.py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" y="193852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DB7E22"/>
                </a:solidFill>
                <a:latin typeface="Noto Sans CJK KR"/>
              </a:defRPr>
            </a:pPr>
            <a:r>
              <a:rPr/>
              <a:t>말로 먼저 답해 보세요: 이 줄은 무엇을 만들고, 실행하면 어디에서 확인할 수 있을까요?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359152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rPr/>
              <a:t>rclpy.init()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2359152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5239512" y="2468880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rPr/>
              <a:t>1.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96128" y="2450592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rPr/>
              <a:t>뜻: Python 프로그램을 ROS 2 통신에 참여시키는 첫 준비입니다.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96128" y="3108960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rPr/>
              <a:t>실행에서: 이 호출 전에는 node·publisher·subscription을 정상 생성할 수 없습니다.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078224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rPr/>
              <a:t>rclpy.spin(node)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0" y="4078224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5239512" y="4187952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rPr/>
              <a:t>2.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96128" y="4169663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rPr/>
              <a:t>뜻: 프로그램이 끝나지 않고 message와 timer를 계속 처리하게 합니다.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96128" y="4828032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rPr/>
              <a:t>실행에서: 이 줄이 있어야 실행 뒤 topic을 받고 publish를 계속합니다.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6199632"/>
            <a:ext cx="10698480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5C6672"/>
                </a:solidFill>
                <a:latin typeface="Noto Sans CJK KR"/>
              </a:defRPr>
            </a:pPr>
            <a:r>
              <a:rPr/>
              <a:t>다음 코드 입력 슬라이드에서 이 줄을 발견하면, 방금 설명한 ‘뜻’과 ‘실행에서 보이는 변화’를 다시 말해 봅니다.</a:t>
            </a:r>
          </a:p>
        </p:txBody>
      </p:sp>
    </p:spTree>
  </p:cSld>
  <p:clrMapOvr>
    <a:masterClrMapping/>
  </p:clrMapOvr>
</p:sld>
</file>

<file path=ppt/slides/slide2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4/4: 코드 읽기 (5/5)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짧은 실제 코드 조각을 먼저 읽고, 다음 슬라이드에서 같은 코드를 직접 입력합니다.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기반 AGV End-to-End 개발 커리큘럼 · M14 · Block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코드 해설 4/4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61848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25B9B"/>
                </a:solidFill>
                <a:latin typeface="DejaVu Sans Mono"/>
              </a:defRPr>
            </a:pPr>
            <a:r>
              <a:rPr/>
              <a:t>~/ros2_curri/my_agv_ws/src/agv_sensors/agv_sensors/imu_monitor.py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" y="193852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DB7E22"/>
                </a:solidFill>
                <a:latin typeface="Noto Sans CJK KR"/>
              </a:defRPr>
            </a:pPr>
            <a:r>
              <a:rPr/>
              <a:t>말로 먼저 답해 보세요: 이 줄은 무엇을 만들고, 실행하면 어디에서 확인할 수 있을까요?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359152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rPr/>
              <a:t>node.destroy_node()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2359152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5239512" y="2468880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rPr/>
              <a:t>1.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96128" y="2450592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rPr/>
              <a:t>뜻: node와 ROS 통신을 안전하게 닫는 마무리 단계입니다.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96128" y="3108960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rPr/>
              <a:t>실행에서: Ctrl+C 또는 종료 뒤 자원이 정리됩니다.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6199632"/>
            <a:ext cx="10698480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5C6672"/>
                </a:solidFill>
                <a:latin typeface="Noto Sans CJK KR"/>
              </a:defRPr>
            </a:pPr>
            <a:r>
              <a:rPr/>
              <a:t>다음 코드 입력 슬라이드에서 이 줄을 발견하면, 방금 설명한 ‘뜻’과 ‘실행에서 보이는 변화’를 다시 말해 봅니다.</a:t>
            </a:r>
          </a:p>
        </p:txBody>
      </p:sp>
    </p:spTree>
  </p:cSld>
  <p:clrMapOvr>
    <a:masterClrMapping/>
  </p:clrMapOvr>
</p:sld>
</file>

<file path=ppt/slides/slide2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4/4: 코드 입력 (1/3)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~/ros2_curri/my_agv_ws/src/agv_sensors/agv_sensors/imu_monitor.py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기반 AGV End-to-End 개발 커리큘럼 · M14 · Block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파일 4/4 · 입력 1/3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 블록이 하는 일: 필요한 ROS message와 Node 도구를 import하고, node의 입력·출력 이름을 먼저 정합니다.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rPr/>
              <a:t>현재 열린 파일: ~/ros2_curri/my_agv_ws/src/agv_sensors/agv_sensors/imu_monitor.py</a:t>
            </a:r>
            <a:r>
              <a:rPr/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73152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import rclpy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from rclpy.node import Node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from rclpy.qos import qos_profile_sensor_data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from sensor_msgs.msg import Imu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class ImuMonitor(Node):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def __init__(self):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super().__init__('imu_monitor')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self.create_subscription(Imu, '/imu/data', self.callback,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  qos_profile_sensor_data)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입력 1/3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2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4/4: 코드 입력 (2/3)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~/ros2_curri/my_agv_ws/src/agv_sensors/agv_sensors/imu_monitor.py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기반 AGV End-to-End 개발 커리큘럼 · M14 · Block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파일 4/4 · 입력 2/3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 블록이 하는 일: 앞에서 만든 node에 처리 로직과 publish/subscription 연결을 한 덩어리씩 추가합니다.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rPr/>
              <a:t>현재 열린 파일: ~/ros2_curri/my_agv_ws/src/agv_sensors/agv_sensors/imu_monitor.py</a:t>
            </a:r>
            <a:r>
              <a:rPr/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73152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def callback(self, message):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self.get_logger().info('gyro z=%.3f rad/s, acceleration z=%.3f m/s²,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  frame=%s' % (message.angular_velocity.z, message.linear_acceleration.z,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  message.header.frame_id), throttle_duration_sec=1.0)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def main():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rclpy.init()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node = ImuMonitor()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try: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rclpy.spin(node)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except KeyboardInterrupt: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pass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입력 2/3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2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4/4: 코드 입력 (3/3)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~/ros2_curri/my_agv_ws/src/agv_sensors/agv_sensors/imu_monitor.py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기반 AGV End-to-End 개발 커리큘럼 · M14 · Block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파일 4/4 · 입력 3/3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 블록이 하는 일: 마지막 callback·timer·main을 입력해 node가 실제로 시작하고 계속 동작하게 만듭니다.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rPr/>
              <a:t>현재 열린 파일: ~/ros2_curri/my_agv_ws/src/agv_sensors/agv_sensors/imu_monitor.py</a:t>
            </a:r>
            <a:r>
              <a:rPr/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73152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finally: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node.destroy_node()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if rclpy.ok():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  rclpy.shutdown()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입력 3/3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2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뒤 실행 1/2: Imu message 필드를 확인한다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방금 직접 만든 파일을 실행·검사하며 다음 파일로 넘어갈 기준을 만듭니다.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기반 AGV End-to-End 개발 커리큘럼 · M14 · Block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실행 1/2    |    현재 폴더 ~/ros2_curri/my_agv_ws    |    터미널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1719072"/>
            <a:ext cx="169164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225B9B"/>
                </a:solidFill>
                <a:latin typeface="Noto Sans CJK KR"/>
              </a:defRPr>
            </a:pPr>
            <a:r>
              <a:rPr/>
              <a:t>명령의 목적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" y="2002536"/>
            <a:ext cx="10789920" cy="51206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0">
                <a:solidFill>
                  <a:srgbClr val="122C4E"/>
                </a:solidFill>
                <a:latin typeface="Noto Sans CJK KR"/>
              </a:defRPr>
            </a:pPr>
            <a:r>
              <a:rPr/>
              <a:t>z축 angular velocity는 제자리 회전에서 가장 먼저 변화를 보인다.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" y="2816352"/>
            <a:ext cx="1083564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225B9B"/>
                </a:solidFill>
                <a:latin typeface="Noto Sans CJK KR"/>
              </a:defRPr>
            </a:pPr>
            <a:r>
              <a:rPr/>
              <a:t>터미널 1 — 아래 검은 블록은 명령만 복사합니다.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6656" y="3154680"/>
            <a:ext cx="10835640" cy="1938528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rPr/>
              <a:t>ros2 interface show sensor_msgs/msg/Imu</a:t>
            </a:r>
          </a:p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rPr/>
              <a:t>ros2 topic echo /imu/data --once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5276088"/>
            <a:ext cx="1056132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2A8B5A"/>
                </a:solidFill>
                <a:latin typeface="Noto Sans CJK KR"/>
              </a:defRPr>
            </a:pPr>
            <a:r>
              <a:rPr/>
              <a:t>터미널 1 역할: 다른 터미널의 실행 결과를 이 창에서 관찰·검증합니다.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5916168"/>
            <a:ext cx="1056132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122C4E"/>
                </a:solidFill>
                <a:latin typeface="Noto Sans CJK KR"/>
              </a:defRPr>
            </a:pPr>
            <a:r>
              <a:rPr/>
              <a:t>확인: 출력에서 topic·frame·파일 이름 또는 성공 메시지를 찾고, 맞지 않으면 다음 파일로 가지 않습니다.</a:t>
            </a:r>
          </a:p>
        </p:txBody>
      </p:sp>
    </p:spTree>
  </p:cSld>
  <p:clrMapOvr>
    <a:masterClrMapping/>
  </p:clrMapOvr>
</p:sld>
</file>

<file path=ppt/slides/slide2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뒤 실행 2/2: IMU monitor를 실행한다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방금 직접 만든 파일을 실행·검사하며 다음 파일로 넘어갈 기준을 만듭니다.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기반 AGV End-to-End 개발 커리큘럼 · M14 · Block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실행 2/2    |    현재 폴더 ~/ros2_curri/my_agv_ws    |    터미널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1719072"/>
            <a:ext cx="169164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225B9B"/>
                </a:solidFill>
                <a:latin typeface="Noto Sans CJK KR"/>
              </a:defRPr>
            </a:pPr>
            <a:r>
              <a:rPr/>
              <a:t>명령의 목적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" y="2002536"/>
            <a:ext cx="10789920" cy="51206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0">
                <a:solidFill>
                  <a:srgbClr val="122C4E"/>
                </a:solidFill>
                <a:latin typeface="Noto Sans CJK KR"/>
              </a:defRPr>
            </a:pPr>
            <a:r>
              <a:rPr/>
              <a:t>출력에 단위와 frame을 함께 남기면 축 오류를 찾기 쉽다.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" y="2816352"/>
            <a:ext cx="1083564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225B9B"/>
                </a:solidFill>
                <a:latin typeface="Noto Sans CJK KR"/>
              </a:defRPr>
            </a:pPr>
            <a:r>
              <a:rPr/>
              <a:t>터미널 1 — 아래 검은 블록은 명령만 복사합니다.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6656" y="3154680"/>
            <a:ext cx="10835640" cy="1938528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rPr/>
              <a:t>source ~/ros2_curri/my_agv_ws/install/setup.bash</a:t>
            </a:r>
          </a:p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rPr/>
              <a:t>ros2 run agv_sensors imu_monitor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5276088"/>
            <a:ext cx="1056132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2A8B5A"/>
                </a:solidFill>
                <a:latin typeface="Noto Sans CJK KR"/>
              </a:defRPr>
            </a:pPr>
            <a:r>
              <a:rPr/>
              <a:t>터미널 1 역할: 이 node를 실행합니다. 출력이 계속 나오는 동안 Ctrl+C로 종료하지 않습니다.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5916168"/>
            <a:ext cx="1056132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122C4E"/>
                </a:solidFill>
                <a:latin typeface="Noto Sans CJK KR"/>
              </a:defRPr>
            </a:pPr>
            <a:r>
              <a:rPr/>
              <a:t>확인: 출력에서 topic·frame·파일 이름 또는 성공 메시지를 찾고, 맞지 않으면 다음 파일로 가지 않습니다.</a:t>
            </a:r>
          </a:p>
        </p:txBody>
      </p:sp>
    </p:spTree>
  </p:cSld>
  <p:clrMapOvr>
    <a:masterClrMapping/>
  </p:clrMapOvr>
</p:sld>
</file>

<file path=ppt/slides/slide2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build → source → run 순서로 실행한다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새 파일 또는 수정 파일은 build와 source 뒤에만 실행 이름·설정에 반영됩니다.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기반 AGV End-to-End 개발 커리큘럼 · M14 · Block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실행    |    현재 폴더 ~/ros2_curri/my_agv_ws    |    터미널 1 + 2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1719072"/>
            <a:ext cx="169164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225B9B"/>
                </a:solidFill>
                <a:latin typeface="Noto Sans CJK KR"/>
              </a:defRPr>
            </a:pPr>
            <a:r>
              <a:rPr/>
              <a:t>명령의 목적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" y="2002536"/>
            <a:ext cx="10789920" cy="51206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0">
                <a:solidFill>
                  <a:srgbClr val="122C4E"/>
                </a:solidFill>
                <a:latin typeface="Noto Sans CJK KR"/>
              </a:defRPr>
            </a:pPr>
            <a:r>
              <a:rPr/>
              <a:t>명령 순서를 바꾸지 않습니다. build가 끝난 뒤 source하고, 마지막 명령으로 node·Gazebo·RViz를 실행합니다.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" y="2679192"/>
            <a:ext cx="10789920" cy="23774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400" b="1">
                <a:solidFill>
                  <a:srgbClr val="DB7E22"/>
                </a:solidFill>
                <a:latin typeface="Noto Sans CJK KR"/>
              </a:defRPr>
            </a:pPr>
            <a:r>
              <a:rPr/>
              <a:t>두 터미널은 동시에 필요합니다. 각 검은 블록에는 그대로 복사할 명령만 들어 있습니다.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" y="3017520"/>
            <a:ext cx="5138928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225B9B"/>
                </a:solidFill>
                <a:latin typeface="Noto Sans CJK KR"/>
              </a:defRPr>
            </a:pPr>
            <a:r>
              <a:rPr/>
              <a:t>터미널 1 — 명령만 복사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6656" y="3328416"/>
            <a:ext cx="5138928" cy="1700784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source /opt/ros/jazzy/setup.bash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source ~/ros2_curri/my_agv_ws/install/setup.bash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ros2 launch agv_bringup agv_sim.launch.py rviz:=false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5166360"/>
            <a:ext cx="4992624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300" b="1">
                <a:solidFill>
                  <a:srgbClr val="2A8B5A"/>
                </a:solidFill>
                <a:latin typeface="Noto Sans CJK KR"/>
              </a:defRPr>
            </a:pPr>
            <a:r>
              <a:rPr/>
              <a:t>터미널 1 역할: 시뮬레이터·bridge·node를 먼저 시작한 뒤 이 창은 종료하지 않고 둡니다.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90488" y="3017520"/>
            <a:ext cx="5138928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225B9B"/>
                </a:solidFill>
                <a:latin typeface="Noto Sans CJK KR"/>
              </a:defRPr>
            </a:pPr>
            <a:r>
              <a:rPr/>
              <a:t>터미널 2 — 명령만 복사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0488" y="3328416"/>
            <a:ext cx="5138928" cy="1700784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source /opt/ros/jazzy/setup.bash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source ~/ros2_curri/my_agv_ws/install/setup.bash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ros2 run agv_sensors imu_monitor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5166360"/>
            <a:ext cx="4992624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300" b="1">
                <a:solidFill>
                  <a:srgbClr val="2A8B5A"/>
                </a:solidFill>
                <a:latin typeface="Noto Sans CJK KR"/>
              </a:defRPr>
            </a:pPr>
            <a:r>
              <a:rPr/>
              <a:t>터미널 2 역할: 이 node를 실행합니다. 출력이 계속 나오는 동안 Ctrl+C로 종료하지 않습니다.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" y="5916168"/>
            <a:ext cx="1056132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122C4E"/>
                </a:solidFill>
                <a:latin typeface="Noto Sans CJK KR"/>
              </a:defRPr>
            </a:pPr>
            <a:r>
              <a:rPr/>
              <a:t>확인: /imu/data의 z축 gyro 값과 noise 설정을 terminal에서 확인한다.</a:t>
            </a:r>
          </a:p>
        </p:txBody>
      </p:sp>
    </p:spTree>
  </p:cSld>
  <p:clrMapOvr>
    <a:masterClrMapping/>
  </p:clrMapOvr>
</p:sld>
</file>

<file path=ppt/slides/slide2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정상 결과: 실제 환경에서 확인한 출력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실제 GNOME Terminal: /imu/data의 frame·필드와 publish rate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기반 AGV End-to-End 개발 커리큘럼 · M14 · Block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9770" y="1353312"/>
            <a:ext cx="6609411" cy="4800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" y="6144768"/>
            <a:ext cx="10607040" cy="31089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2A8B5A"/>
                </a:solidFill>
                <a:latin typeface="Noto Sans CJK KR"/>
              </a:defRPr>
            </a:pPr>
            <a:r>
              <a:rPr/>
              <a:t>화면에서 확인: agv/base_link/imu frame과 angular_velocity·linear_acceleration 필드, average rate를 찾습니다.</a:t>
            </a:r>
          </a:p>
        </p:txBody>
      </p:sp>
    </p:spTree>
  </p:cSld>
  <p:clrMapOvr>
    <a:masterClrMapping/>
  </p:clrMapOvr>
</p:sld>
</file>

<file path=ppt/slides/slide2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정상 결과: 실제 환경에서 확인한 출력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실제 ROS 2 환경의 파일·패키지·구성 검증 로그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기반 AGV End-to-End 개발 커리큘럼 · M14 · Block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8886" y="1353312"/>
            <a:ext cx="9311179" cy="4800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" y="6144768"/>
            <a:ext cx="10607040" cy="31089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2A8B5A"/>
                </a:solidFill>
                <a:latin typeface="Noto Sans CJK KR"/>
              </a:defRPr>
            </a:pPr>
            <a:r>
              <a:rPr/>
              <a:t>화면에서 확인: ① 명령/설정  ② 정상 출력 또는 화면  ③ 다음 검증 명령으로 재확인</a:t>
            </a:r>
          </a:p>
        </p:txBody>
      </p:sp>
    </p:spTree>
  </p:cSld>
  <p:clrMapOvr>
    <a:masterClrMapping/>
  </p:clrMapOvr>
</p:sld>
</file>

<file path=ppt/slides/slide2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객관적 검증 명령으로 완료를 확인한다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화면만 보지 말고 topic·frame·파일·parameter를 다시 확인합니다.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기반 AGV End-to-End 개발 커리큘럼 · M14 · Block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검증    |    현재 폴더 ~/ros2_curri/my_agv_ws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755648"/>
            <a:ext cx="10972800" cy="214884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rPr/>
              <a:t>ros2 topic info /imu/data</a:t>
            </a:r>
          </a:p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rPr/>
              <a:t>ros2 topic hz /imu/data</a:t>
            </a:r>
          </a:p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rPr/>
              <a:t>ros2 topic echo /imu/data --once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4206240"/>
            <a:ext cx="10972800" cy="1554480"/>
          </a:xfrm>
          <a:prstGeom prst="roundRect">
            <a:avLst/>
          </a:prstGeom>
          <a:solidFill>
            <a:srgbClr val="F4F7FB"/>
          </a:solidFill>
          <a:ln>
            <a:solidFill>
              <a:srgbClr val="D1DF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800" b="1">
                <a:solidFill>
                  <a:srgbClr val="2A8B5A"/>
                </a:solidFill>
                <a:latin typeface="Noto Sans CJK KR"/>
              </a:defRPr>
            </a:pPr>
            <a:r>
              <a:rPr/>
              <a:t>완료 체크</a:t>
            </a:r>
            <a:r>
              <a:rPr/>
              <a:t>□ 명령이 오류 없이 실행된다.</a:t>
            </a:r>
            <a:r>
              <a:rPr/>
              <a:t>□ 기대한 파일·topic·frame·parameter 이름이 보인다.</a:t>
            </a:r>
            <a:r>
              <a:rPr/>
              <a:t>□ 값의 단위와 방향을 한 문장으로 설명할 수 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989320"/>
            <a:ext cx="10789920" cy="23774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22C4E"/>
                </a:solidFill>
                <a:latin typeface="Noto Sans CJK KR"/>
              </a:defRPr>
            </a:pPr>
            <a:r>
              <a:rPr/>
              <a:t>완료 조건: /imu/data의 z축 gyro 값과 noise 설정을 terminal에서 확인한다.</a:t>
            </a:r>
          </a:p>
        </p:txBody>
      </p:sp>
    </p:spTree>
  </p:cSld>
  <p:clrMapOvr>
    <a:masterClrMapping/>
  </p:clrMapOvr>
</p:sld>
</file>

<file path=ppt/slides/slide2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막히면: 증상 → 우선 확인 → 재검증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오류 메시지를 숨기지 않고 같은 순서로 점검합니다.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기반 AGV End-to-End 개발 커리큘럼 · M14 · Block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오류 대응    |    현재 폴더 ~/ros2_curri/my_agv_ws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" y="1755648"/>
            <a:ext cx="10972800" cy="1115568"/>
          </a:xfrm>
          <a:prstGeom prst="roundRect">
            <a:avLst/>
          </a:prstGeom>
          <a:solidFill>
            <a:srgbClr val="FFF7F4"/>
          </a:solidFill>
          <a:ln>
            <a:solidFill>
              <a:srgbClr val="EDB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896112" y="1901952"/>
            <a:ext cx="292608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BE3B3B"/>
                </a:solidFill>
                <a:latin typeface="Noto Sans CJK KR"/>
              </a:defRPr>
            </a:pPr>
            <a:r>
              <a:rPr/>
              <a:t>증상 1: 값 축이 예상과 다름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94760" y="1883664"/>
            <a:ext cx="7543800" cy="62179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600" b="0">
                <a:solidFill>
                  <a:srgbClr val="122C4E"/>
                </a:solidFill>
                <a:latin typeface="Noto Sans CJK KR"/>
              </a:defRPr>
            </a:pPr>
            <a:r>
              <a:rPr/>
              <a:t>우선 확인: imu_link 축·origin rpy·header.frame_id를 확인한다.</a:t>
            </a:r>
            <a:r>
              <a:rPr/>
              <a:t>수정 후: ros2 topic info /imu/data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" y="3172968"/>
            <a:ext cx="10972800" cy="1115568"/>
          </a:xfrm>
          <a:prstGeom prst="roundRect">
            <a:avLst/>
          </a:prstGeom>
          <a:solidFill>
            <a:srgbClr val="FFF7F4"/>
          </a:solidFill>
          <a:ln>
            <a:solidFill>
              <a:srgbClr val="EDB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896112" y="3319272"/>
            <a:ext cx="292608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BE3B3B"/>
                </a:solidFill>
                <a:latin typeface="Noto Sans CJK KR"/>
              </a:defRPr>
            </a:pPr>
            <a:r>
              <a:rPr/>
              <a:t>증상 2: 값이 지나치게 요동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94760" y="3300984"/>
            <a:ext cx="7543800" cy="62179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600" b="0">
                <a:solidFill>
                  <a:srgbClr val="122C4E"/>
                </a:solidFill>
                <a:latin typeface="Noto Sans CJK KR"/>
              </a:defRPr>
            </a:pPr>
            <a:r>
              <a:rPr/>
              <a:t>우선 확인: noise/bias·update_rate·시뮬레이션 부하를 확인한다.</a:t>
            </a:r>
            <a:r>
              <a:rPr/>
              <a:t>수정 후: ros2 topic info /imu/data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102352"/>
            <a:ext cx="10607040" cy="40233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800" b="1">
                <a:solidFill>
                  <a:srgbClr val="DB7E22"/>
                </a:solidFill>
                <a:latin typeface="Noto Sans CJK KR"/>
              </a:defRPr>
            </a:pPr>
            <a:r>
              <a:rPr/>
              <a:t>공통 순서: ① 현재 폴더 ② source ③ 파일 경로 ④ 이름/타입/단위 ⑤ build·source 후 재실행</a:t>
            </a:r>
          </a:p>
        </p:txBody>
      </p:sp>
    </p:spTree>
  </p:cSld>
  <p:clrMapOvr>
    <a:masterClrMapping/>
  </p:clrMapOvr>
</p:sld>
</file>

<file path=ppt/slides/slide2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막혔을 때만: Complete를 복구용으로 사용한다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이 슬라이드가 먼저가 아닙니다. 직접 입력·실행을 시도한 뒤에만 내 파일과 Complete를 비교합니다.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기반 AGV End-to-End 개발 커리큘럼 · M14 · Block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복구용 Complete    |    현재 폴더 ~/ros2_curri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664208"/>
            <a:ext cx="10698480" cy="40233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800" b="1">
                <a:solidFill>
                  <a:srgbClr val="DB7E22"/>
                </a:solidFill>
                <a:latin typeface="Noto Sans CJK KR"/>
              </a:defRPr>
            </a:pPr>
            <a:r>
              <a:rPr/>
              <a:t>권장 순서: ① 내 오류를 확인  ② Complete와 diff  ③ 꼭 필요할 때만 backup 후 복사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6656" y="2423160"/>
            <a:ext cx="10881360" cy="260604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cd ~/ros2_curri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diff -ru my_agv_ws/src blocks/D_sensors/M14_imu_sensor/complete/agv_ws/src || true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cp -a my_agv_ws/src my_agv_ws/src_before_M14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cp -a blocks/D_sensors/M14_imu_sensor/complete/agv_ws/src/. my_agv_ws/src/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cd my_agv_ws &amp;&amp; colcon build --symlink-install &amp;&amp; source install/setup.bash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5413248"/>
            <a:ext cx="10424160" cy="4297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700" b="1">
                <a:solidFill>
                  <a:srgbClr val="2A8B5A"/>
                </a:solidFill>
                <a:latin typeface="Noto Sans CJK KR"/>
              </a:defRPr>
            </a:pPr>
            <a:r>
              <a:rPr/>
              <a:t>복구 뒤에는 끝내지 말고, 내 파일과 Complete의 차이를 한 줄씩 설명한 뒤 다시 직접 입력해 봅니다.</a:t>
            </a:r>
          </a:p>
        </p:txBody>
      </p:sp>
    </p:spTree>
  </p:cSld>
  <p:clrMapOvr>
    <a:masterClrMapping/>
  </p:clrMapOvr>
</p:sld>
</file>

<file path=ppt/slides/slide2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미니 실습: 값 하나를 바꾸고 결과를 비교한다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정상 결과를 만든 뒤에는 한 번에 하나의 값만 바꿉니다.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기반 AGV End-to-End 개발 커리큘럼 · M14 · Block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미니 실습    |    현재 폴더 ~/ros2_curri/my_agv_ws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874519"/>
            <a:ext cx="10652760" cy="1993392"/>
          </a:xfrm>
          <a:prstGeom prst="roundRect">
            <a:avLst/>
          </a:prstGeom>
          <a:solidFill>
            <a:srgbClr val="FFF8EB"/>
          </a:solidFill>
          <a:ln>
            <a:solidFill>
              <a:srgbClr val="ECC6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2300" b="1">
                <a:solidFill>
                  <a:srgbClr val="122C4E"/>
                </a:solidFill>
                <a:latin typeface="Noto Sans CJK KR"/>
              </a:defRPr>
            </a:pPr>
            <a:r>
              <a:rPr/>
              <a:t>정지·직진·제자리 회전에서 angular_velocity.z를 각각 기록하고 부호가 어느 동작에서 바뀌는지 설명한다.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4590288"/>
            <a:ext cx="10241280" cy="5943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900" b="1">
                <a:solidFill>
                  <a:srgbClr val="DB7E22"/>
                </a:solidFill>
                <a:latin typeface="Noto Sans CJK KR"/>
              </a:defRPr>
            </a:pPr>
            <a:r>
              <a:rPr/>
              <a:t>기록할 것: 바꾼 값(단위) · 기대한 변화 · 실제 출력/화면 · 원래 값으로 되돌린 결과</a:t>
            </a:r>
          </a:p>
        </p:txBody>
      </p:sp>
    </p:spTree>
  </p:cSld>
  <p:clrMapOvr>
    <a:masterClrMapping/>
  </p:clrMapOvr>
</p:sld>
</file>

<file path=ppt/slides/slide2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내 프로젝트 체크포인트를 저장하고 다음 모듈로 넘긴다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Complete는 복구용 비교 기준이고, 다음 단계는 내가 직접 만든 workspace에서 계속합니다.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기반 AGV End-to-End 개발 커리큘럼 · M14 · Block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체크포인트    |    현재 폴더 ~/ros2_curri/my_agv_ws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737360"/>
            <a:ext cx="10972800" cy="3611880"/>
          </a:xfrm>
          <a:prstGeom prst="roundRect">
            <a:avLst/>
          </a:prstGeom>
          <a:solidFill>
            <a:srgbClr val="F4F7FB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896112" y="1993392"/>
            <a:ext cx="10332720" cy="297180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22C4E"/>
                </a:solidFill>
                <a:latin typeface="Noto Sans CJK KR"/>
              </a:defRPr>
            </a:pPr>
            <a:r>
              <a:rPr/>
              <a:t>• □ 완료 화면: /imu/data의 z축 gyro 값과 noise 설정을 terminal에서 확인한다.</a:t>
            </a:r>
          </a:p>
          <a:p>
            <a:pPr>
              <a:spcAft>
                <a:spcPts val="800"/>
              </a:spcAft>
              <a:defRPr sz="1800">
                <a:solidFill>
                  <a:srgbClr val="122C4E"/>
                </a:solidFill>
                <a:latin typeface="Noto Sans CJK KR"/>
              </a:defRPr>
            </a:pPr>
            <a:r>
              <a:rPr/>
              <a:t>• □ 막혔을 때 비교할 Complete: blocks/D_sensors/M14_imu_sensor/complete/</a:t>
            </a:r>
          </a:p>
          <a:p>
            <a:pPr>
              <a:spcAft>
                <a:spcPts val="800"/>
              </a:spcAft>
              <a:defRPr sz="1800">
                <a:solidFill>
                  <a:srgbClr val="122C4E"/>
                </a:solidFill>
                <a:latin typeface="Noto Sans CJK KR"/>
              </a:defRPr>
            </a:pPr>
            <a:r>
              <a:rPr/>
              <a:t>• □ 정상 로그·캡처: logs/validation.log, screenshots/validation_terminal.png</a:t>
            </a:r>
          </a:p>
          <a:p>
            <a:pPr>
              <a:spcAft>
                <a:spcPts val="800"/>
              </a:spcAft>
              <a:defRPr sz="1800">
                <a:solidFill>
                  <a:srgbClr val="122C4E"/>
                </a:solidFill>
                <a:latin typeface="Noto Sans CJK KR"/>
              </a:defRPr>
            </a:pPr>
            <a:r>
              <a:rPr/>
              <a:t>• □ 버전 식별: CHECKSUM_or_TAG.txt의 SHA-256 manifest</a:t>
            </a:r>
          </a:p>
          <a:p>
            <a:pPr>
              <a:spcAft>
                <a:spcPts val="800"/>
              </a:spcAft>
              <a:defRPr sz="1800">
                <a:solidFill>
                  <a:srgbClr val="122C4E"/>
                </a:solidFill>
                <a:latin typeface="Noto Sans CJK KR"/>
              </a:defRPr>
            </a:pPr>
            <a:r>
              <a:rPr/>
              <a:t>• □ 다음 시작 조건: M15 운영/QoS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5596128"/>
            <a:ext cx="10515600" cy="33832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700" b="1">
                <a:solidFill>
                  <a:srgbClr val="2A8B5A"/>
                </a:solidFill>
                <a:latin typeface="Noto Sans CJK KR"/>
              </a:defRPr>
            </a:pPr>
            <a:r>
              <a:rPr/>
              <a:t>다음 모듈을 시작하기 전, 내 src의 변경사항을 저장하고 현재 완료 조건을 다시 확인합니다.</a:t>
            </a:r>
          </a:p>
        </p:txBody>
      </p:sp>
    </p:spTree>
  </p:cSld>
  <p:clrMapOvr>
    <a:masterClrMapping/>
  </p:clrMapOvr>
</p:sld>
</file>

<file path=ppt/slides/slide2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공식 참고 자료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본문 단계는 링크를 열지 않아도 완료할 수 있으며, 링크는 개념을 더 확인할 때만 사용합니다.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기반 AGV End-to-End 개발 커리큘럼 · M14 · Block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54480"/>
            <a:ext cx="10972800" cy="4526280"/>
          </a:xfrm>
          <a:prstGeom prst="roundRect">
            <a:avLst/>
          </a:prstGeom>
          <a:solidFill>
            <a:srgbClr val="F4F7FB"/>
          </a:solidFill>
          <a:ln>
            <a:solidFill>
              <a:srgbClr val="D7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914400" y="1773936"/>
            <a:ext cx="384048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122C4E"/>
                </a:solidFill>
                <a:latin typeface="Noto Sans CJK KR"/>
              </a:defRPr>
            </a:pPr>
            <a:r>
              <a:rPr/>
              <a:t>ROS 2 Jazzy — Gazebo Simulation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48255"/>
            <a:ext cx="9966960" cy="47548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225B9B"/>
                </a:solidFill>
                <a:latin typeface="DejaVu Sans Mono"/>
              </a:defRPr>
            </a:pPr>
            <a:r>
              <a:rPr/>
              <a:t>https://docs.ros.org/en/jazzy/Tutorials/Advanced/Simulators/Gazebo/Simulation-Gazebo.html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852928"/>
            <a:ext cx="384048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122C4E"/>
                </a:solidFill>
                <a:latin typeface="Noto Sans CJK KR"/>
              </a:defRPr>
            </a:pPr>
            <a:r>
              <a:rPr/>
              <a:t>ROS 2 Jazzy — URDF / robot_state_publisher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127248"/>
            <a:ext cx="9966960" cy="47548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225B9B"/>
                </a:solidFill>
                <a:latin typeface="DejaVu Sans Mono"/>
              </a:defRPr>
            </a:pPr>
            <a:r>
              <a:rPr/>
              <a:t>https://docs.ros.org/en/jazzy/Tutorials/Intermediate/URDF/Using-URDF-with-Robot-State-Publisher-py.html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931920"/>
            <a:ext cx="384048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122C4E"/>
                </a:solidFill>
                <a:latin typeface="Noto Sans CJK KR"/>
              </a:defRPr>
            </a:pPr>
            <a:r>
              <a:rPr/>
              <a:t>Gazebo — ROS 2 Integration / ros_gz_bridge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206240"/>
            <a:ext cx="9966960" cy="47548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225B9B"/>
                </a:solidFill>
                <a:latin typeface="DejaVu Sans Mono"/>
              </a:defRPr>
            </a:pPr>
            <a:r>
              <a:rPr/>
              <a:t>https://gazebosim.org/docs/latest/ros2_integration/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010912"/>
            <a:ext cx="384048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122C4E"/>
                </a:solidFill>
                <a:latin typeface="Noto Sans CJK KR"/>
              </a:defRPr>
            </a:pPr>
            <a:r>
              <a:rPr/>
              <a:t>ROS 2 Jazzy — rosbag2 Recording and Playback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285232"/>
            <a:ext cx="9966960" cy="47548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225B9B"/>
                </a:solidFill>
                <a:latin typeface="DejaVu Sans Mono"/>
              </a:defRPr>
            </a:pPr>
            <a:r>
              <a:rPr/>
              <a:t>https://docs.ros.org/en/jazzy/Tutorials/Beginner-CLI-Tools/Recording-And-Playing-Back-Data/Recording-And-Playing-Back-Data.html</a:t>
            </a:r>
          </a:p>
        </p:txBody>
      </p:sp>
    </p:spTree>
  </p:cSld>
  <p:clrMapOvr>
    <a:masterClrMapping/>
  </p:clrMapOvr>
</p:sld>
</file>

<file path=ppt/slides/slide2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22C4E"/>
          </a:solidFill>
          <a:ln>
            <a:solidFill>
              <a:srgbClr val="122C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31089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Noto Sans CJK KR"/>
              </a:defRPr>
            </a:pPr>
            <a:r>
              <a:t>Block D · 4/4 · M15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515600" cy="6400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defRPr sz="3400" b="1">
                <a:solidFill>
                  <a:srgbClr val="122C4E"/>
                </a:solidFill>
                <a:latin typeface="Noto Sans CJK KR"/>
              </a:defRPr>
            </a:pPr>
            <a:r>
              <a:t>QoS·sim time·운영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0120" y="3108960"/>
            <a:ext cx="10287000" cy="1325880"/>
          </a:xfrm>
          <a:prstGeom prst="round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900" b="1">
                <a:solidFill>
                  <a:srgbClr val="122C4E"/>
                </a:solidFill>
                <a:latin typeface="Noto Sans CJK KR"/>
              </a:defRPr>
            </a:pPr>
            <a:r>
              <a:t>M15의 독립 PPT 전체를 바로 다음 슬라이드부터 순서대로 진행합니다.</a:t>
            </a:r>
            <a:br/>
            <a:r>
              <a:t>이 Block 통합본에서도 Starter → 파일 작성 → 실행 → 검증 → 오류 대응 → Checkpoint 순서는 바뀌지 않습니다.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897880"/>
            <a:ext cx="1042416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defRPr sz="1500" b="1">
                <a:solidFill>
                  <a:srgbClr val="2A8B5A"/>
                </a:solidFill>
                <a:latin typeface="Noto Sans CJK KR"/>
              </a:defRPr>
            </a:pPr>
            <a:r>
              <a:t>모듈을 건너뛰지 말고, 이전 M의 Complete가 준비된 뒤 다음 M으로 이동합니다.</a:t>
            </a:r>
          </a:p>
        </p:txBody>
      </p:sp>
    </p:spTree>
  </p:cSld>
  <p:clrMapOvr>
    <a:masterClrMapping/>
  </p:clrMapOvr>
</p:sld>
</file>

<file path=ppt/slides/slide2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2C4E"/>
          </a:solidFill>
          <a:ln>
            <a:solidFill>
              <a:srgbClr val="122C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1400" b="1">
                <a:solidFill>
                  <a:srgbClr val="FFFFFF"/>
                </a:solidFill>
                <a:latin typeface="Noto Sans CJK KR"/>
              </a:defRPr>
            </a:pPr>
            <a:r>
              <a:rPr/>
              <a:t>ROS 2 기반 AGV End-to-End 개발 커리큘럼 · M15 · Block 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600200"/>
            <a:ext cx="10698480" cy="10058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3400" b="1">
                <a:solidFill>
                  <a:srgbClr val="122C4E"/>
                </a:solidFill>
                <a:latin typeface="Noto Sans CJK KR"/>
              </a:defRPr>
            </a:pPr>
            <a:r>
              <a:rPr/>
              <a:t>센서 운영과 동기화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834640"/>
            <a:ext cx="10149840" cy="5029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2200" b="1">
                <a:solidFill>
                  <a:srgbClr val="2A8B5A"/>
                </a:solidFill>
                <a:latin typeface="Noto Sans CJK KR"/>
              </a:defRPr>
            </a:pPr>
            <a:r>
              <a:rPr/>
              <a:t>모든 sensor 노드가 같은 시뮬레이션 시간과 기대 publish rate를 사용한다.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3822191"/>
            <a:ext cx="9418320" cy="1051560"/>
          </a:xfrm>
          <a:prstGeom prst="round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1800" b="1">
                <a:solidFill>
                  <a:srgbClr val="122C4E"/>
                </a:solidFill>
                <a:latin typeface="Noto Sans CJK KR"/>
              </a:defRPr>
            </a:pPr>
            <a:r>
              <a:rPr/>
              <a:t>기준 환경</a:t>
            </a:r>
            <a:r>
              <a:rPr/>
              <a:t>Ubuntu 24.04 LTS · ROS 2 Jazzy · Gazebo Harmonic · RViz2 · Python(rclpy)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080760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0">
                <a:solidFill>
                  <a:srgbClr val="5C6672"/>
                </a:solidFill>
                <a:latin typeface="Noto Sans CJK KR"/>
              </a:defRPr>
            </a:pPr>
            <a:r>
              <a:rPr/>
              <a:t>이 PPT에서 폴더 생성 → 빈 파일 열기 → 코드 입력·저장 → build/run → 검증을 직접 반복합니다.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기반 AGV End-to-End 개발 커리큘럼 · M15 · Block 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</p:spTree>
  </p:cSld>
  <p:clrMapOvr>
    <a:masterClrMapping/>
  </p:clrMapOvr>
</p:sld>
</file>

<file path=ppt/slides/slide2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전체 과정에서 현재 위치를 확인한다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앞 모듈의 Complete가 현재 Starter가 되고, 현재 Complete가 다음 모듈로 넘어갑니다.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기반 AGV End-to-End 개발 커리큘럼 · M15 · Block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2377440"/>
            <a:ext cx="32461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5C66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2000" b="1">
                <a:solidFill>
                  <a:srgbClr val="5C6672"/>
                </a:solidFill>
                <a:latin typeface="Noto Sans CJK KR"/>
              </a:defRPr>
            </a:pPr>
            <a:r>
              <a:rPr/>
              <a:t>M12~M14 센서 topic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968496" y="3035808"/>
            <a:ext cx="457200" cy="0"/>
          </a:xfrm>
          <a:prstGeom prst="line">
            <a:avLst/>
          </a:prstGeom>
          <a:ln w="38100">
            <a:solidFill>
              <a:srgbClr val="5C66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553712" y="2377440"/>
            <a:ext cx="32461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2000" b="1">
                <a:solidFill>
                  <a:srgbClr val="225B9B"/>
                </a:solidFill>
                <a:latin typeface="Noto Sans CJK KR"/>
              </a:defRPr>
            </a:pPr>
            <a:r>
              <a:rPr/>
              <a:t>M15</a:t>
            </a:r>
            <a:r>
              <a:rPr/>
              <a:t>센서 운영과 동기화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808976" y="3035808"/>
            <a:ext cx="457199" cy="0"/>
          </a:xfrm>
          <a:prstGeom prst="line">
            <a:avLst/>
          </a:prstGeom>
          <a:ln w="38100">
            <a:solidFill>
              <a:srgbClr val="225B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8394192" y="2377440"/>
            <a:ext cx="32461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2A8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2000" b="1">
                <a:solidFill>
                  <a:srgbClr val="2A8B5A"/>
                </a:solidFill>
                <a:latin typeface="Noto Sans CJK KR"/>
              </a:defRPr>
            </a:pPr>
            <a:r>
              <a:rPr/>
              <a:t>M16 제어 interface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617720"/>
            <a:ext cx="10424160" cy="56692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22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이번 모듈의 인계: 모든 sensor 노드가 같은 시뮬레이션 시간과 기대 publish rate를 사용한다.</a:t>
            </a:r>
          </a:p>
        </p:txBody>
      </p:sp>
    </p:spTree>
  </p:cSld>
  <p:clrMapOvr>
    <a:masterClrMapping/>
  </p:clrMapOvr>
</p:sld>
</file>

<file path=ppt/slides/slide2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시작 상태를 먼저 맞춘다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실습 시작 전에 현재 폴더·이전 파일·실행 프로그램을 확인합니다.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기반 AGV End-to-End 개발 커리큘럼 · M15 · Block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시작    |    현재 폴더 ~/ros2_curri/my_agv_ws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1783080"/>
            <a:ext cx="10972800" cy="3429000"/>
          </a:xfrm>
          <a:prstGeom prst="roundRect">
            <a:avLst/>
          </a:prstGeom>
          <a:solidFill>
            <a:srgbClr val="F4F7FB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914400" y="2011680"/>
            <a:ext cx="10424160" cy="283464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122C4E"/>
                </a:solidFill>
                <a:latin typeface="Noto Sans CJK KR"/>
              </a:defRPr>
            </a:pPr>
            <a:r>
              <a:rPr/>
              <a:t>• 시작 상태: M12~M14에서 세 sensor topic이 각각 존재하는 상태.</a:t>
            </a:r>
          </a:p>
          <a:p>
            <a:pPr>
              <a:spcAft>
                <a:spcPts val="800"/>
              </a:spcAft>
              <a:defRPr sz="1900">
                <a:solidFill>
                  <a:srgbClr val="122C4E"/>
                </a:solidFill>
                <a:latin typeface="Noto Sans CJK KR"/>
              </a:defRPr>
            </a:pPr>
            <a:r>
              <a:rPr/>
              <a:t>• 이전 Complete: M12~M14 센서 topic</a:t>
            </a:r>
          </a:p>
          <a:p>
            <a:pPr>
              <a:spcAft>
                <a:spcPts val="800"/>
              </a:spcAft>
              <a:defRPr sz="1900">
                <a:solidFill>
                  <a:srgbClr val="122C4E"/>
                </a:solidFill>
                <a:latin typeface="Noto Sans CJK KR"/>
              </a:defRPr>
            </a:pPr>
            <a:r>
              <a:rPr/>
              <a:t>• 현재 폴더: ~/ros2_curri/my_agv_ws</a:t>
            </a:r>
          </a:p>
          <a:p>
            <a:pPr>
              <a:spcAft>
                <a:spcPts val="800"/>
              </a:spcAft>
              <a:defRPr sz="1900">
                <a:solidFill>
                  <a:srgbClr val="122C4E"/>
                </a:solidFill>
                <a:latin typeface="Noto Sans CJK KR"/>
              </a:defRPr>
            </a:pPr>
            <a:r>
              <a:rPr/>
              <a:t>• 새 터미널마다: source /opt/ros/jazzy/setup.bash → source install/setup.bash</a:t>
            </a:r>
          </a:p>
          <a:p>
            <a:pPr>
              <a:spcAft>
                <a:spcPts val="800"/>
              </a:spcAft>
              <a:defRPr sz="1900">
                <a:solidFill>
                  <a:srgbClr val="122C4E"/>
                </a:solidFill>
                <a:latin typeface="Noto Sans CJK KR"/>
              </a:defRPr>
            </a:pPr>
            <a:r>
              <a:rPr/>
              <a:t>• 파일 경로는 PPT와 Complete 폴더에서 같은 이름으로 유지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5532120"/>
            <a:ext cx="10515600" cy="3200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2A8B5A"/>
                </a:solidFill>
                <a:latin typeface="Noto Sans CJK KR"/>
              </a:defRPr>
            </a:pPr>
            <a:r>
              <a:rPr/>
              <a:t>확인: pwd가 ~/ros2_curri/my_agv_ws이고, 이전 모듈의 완료 조건을 한 문장으로 설명할 수 있으면 시작합니다.</a:t>
            </a:r>
          </a:p>
        </p:txBody>
      </p:sp>
    </p:spTree>
  </p:cSld>
  <p:clrMapOvr>
    <a:masterClrMapping/>
  </p:clrMapOvr>
</p:sld>
</file>

<file path=ppt/slides/slide2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이번 모듈의 눈으로 확인할 완료 조건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‘이해했다’가 아니라 실제로 보이는 결과를 기준으로 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기반 AGV End-to-End 개발 커리큘럼 · M15 · Block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700784"/>
            <a:ext cx="10744200" cy="1325880"/>
          </a:xfrm>
          <a:prstGeom prst="roundRect">
            <a:avLst/>
          </a:prstGeom>
          <a:solidFill>
            <a:srgbClr val="EEF7F1"/>
          </a:solidFill>
          <a:ln>
            <a:solidFill>
              <a:srgbClr val="A8D3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2500" b="1">
                <a:solidFill>
                  <a:srgbClr val="122C4E"/>
                </a:solidFill>
                <a:latin typeface="Noto Sans CJK KR"/>
              </a:defRPr>
            </a:pPr>
            <a:r>
              <a:rPr/>
              <a:t>use_sim_time·/clock·QoS·rate·frame_id로 camera/LiDAR/IMU를 공통 점검한다.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3401568"/>
            <a:ext cx="10744200" cy="1325880"/>
          </a:xfrm>
          <a:prstGeom prst="roundRect">
            <a:avLst/>
          </a:prstGeom>
          <a:solidFill>
            <a:srgbClr val="F4F7FB"/>
          </a:solidFill>
          <a:ln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2200" b="1">
                <a:solidFill>
                  <a:srgbClr val="2A8B5A"/>
                </a:solidFill>
                <a:latin typeface="Noto Sans CJK KR"/>
              </a:defRPr>
            </a:pPr>
            <a:r>
              <a:rPr/>
              <a:t>완료 화면/결과</a:t>
            </a:r>
            <a:r>
              <a:rPr/>
              <a:t>모든 sensor 노드가 같은 시뮬레이션 시간과 기대 publish rate를 사용한다.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5349240"/>
            <a:ext cx="10424160" cy="4114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800" b="0">
                <a:solidFill>
                  <a:srgbClr val="122C4E"/>
                </a:solidFill>
                <a:latin typeface="Noto Sans CJK KR"/>
              </a:defRPr>
            </a:pPr>
            <a:r>
              <a:rPr/>
              <a:t>종료 전에는 ‘무엇이 보이면 성공인가’를 terminal 또는 Gazebo/RViz 화면에서 반드시 확인합니다.</a:t>
            </a:r>
          </a:p>
        </p:txBody>
      </p:sp>
    </p:spTree>
  </p:cSld>
  <p:clrMapOvr>
    <a:masterClrMapping/>
  </p:clrMapOvr>
</p:sld>
</file>

<file path=ppt/slides/slide2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프로젝트에 이번 기능을 직접 추가한다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완성본을 먼저 복사하지 않습니다. 빈 workspace에 지금 필요한 폴더와 파일을 하나씩 만듭니다.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기반 AGV End-to-End 개발 커리큘럼 · M15 · Block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프로젝트 조립    |    현재 폴더 ~/ros2_curri/my_agv_ws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55648"/>
            <a:ext cx="10835640" cy="1033271"/>
          </a:xfrm>
          <a:prstGeom prst="roundRect">
            <a:avLst/>
          </a:prstGeom>
          <a:solidFill>
            <a:srgbClr val="F4F7FB"/>
          </a:solidFill>
          <a:ln>
            <a:solidFill>
              <a:srgbClr val="5C66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960120" y="1911095"/>
            <a:ext cx="19202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5C6672"/>
                </a:solidFill>
                <a:latin typeface="Noto Sans CJK KR"/>
              </a:defRPr>
            </a:pPr>
            <a:r>
              <a:rPr/>
              <a:t>이미 있는 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88920" y="1892807"/>
            <a:ext cx="8229600" cy="56692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122C4E"/>
                </a:solidFill>
                <a:latin typeface="Noto Sans CJK KR"/>
              </a:defRPr>
            </a:pPr>
            <a:r>
              <a:rPr/>
              <a:t>M12~M14 센서 topic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81528"/>
            <a:ext cx="10835640" cy="1033271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960120" y="3236976"/>
            <a:ext cx="19202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225B9B"/>
                </a:solidFill>
                <a:latin typeface="Noto Sans CJK KR"/>
              </a:defRPr>
            </a:pPr>
            <a:r>
              <a:rPr/>
              <a:t>이번에 직접 만들 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88920" y="3218688"/>
            <a:ext cx="8229600" cy="56692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122C4E"/>
                </a:solidFill>
                <a:latin typeface="Noto Sans CJK KR"/>
              </a:defRPr>
            </a:pPr>
            <a:r>
              <a:rPr/>
              <a:t>use_sim_time·/clock·QoS·rate·frame_id로 camera/LiDAR/IMU를 공통 점검한다.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407408"/>
            <a:ext cx="10835640" cy="1033271"/>
          </a:xfrm>
          <a:prstGeom prst="roundRect">
            <a:avLst/>
          </a:prstGeom>
          <a:solidFill>
            <a:srgbClr val="F4F7FB"/>
          </a:solidFill>
          <a:ln>
            <a:solidFill>
              <a:srgbClr val="2A8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960120" y="4562856"/>
            <a:ext cx="19202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2A8B5A"/>
                </a:solidFill>
                <a:latin typeface="Noto Sans CJK KR"/>
              </a:defRPr>
            </a:pPr>
            <a:r>
              <a:rPr/>
              <a:t>만들고 나서 확인할 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88920" y="4544568"/>
            <a:ext cx="8229600" cy="56692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122C4E"/>
                </a:solidFill>
                <a:latin typeface="Noto Sans CJK KR"/>
              </a:defRPr>
            </a:pPr>
            <a:r>
              <a:rPr/>
              <a:t>모든 sensor 노드가 같은 시뮬레이션 시간과 기대 publish rate를 사용한다.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" y="5833872"/>
            <a:ext cx="10561320" cy="3657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DB7E22"/>
                </a:solidFill>
                <a:latin typeface="Noto Sans CJK KR"/>
              </a:defRPr>
            </a:pPr>
            <a:r>
              <a:rPr/>
              <a:t>이번 모듈에서는 4개 파일을 빈 상태에서 직접 만듭니다. 다음 슬라이드의 명령을 입력한 뒤에만 코드를 작성합니다.</a:t>
            </a:r>
          </a:p>
        </p:txBody>
      </p:sp>
    </p:spTree>
  </p:cSld>
  <p:clrMapOvr>
    <a:masterClrMapping/>
  </p:clrMapOvr>
</p:sld>
</file>

<file path=ppt/slides/slide2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먼저 이번 단계의 완료 모습을 본다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지금부터 폴더·파일·코드를 만들면 아래의 실제 결과에 도달합니다. 보이는 기준을 기억한 뒤 구현합니다.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기반 AGV End-to-End 개발 커리큘럼 · M15 · Block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4190" y="1389888"/>
            <a:ext cx="6420570" cy="46634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" y="6126480"/>
            <a:ext cx="106070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2A8B5A"/>
                </a:solidFill>
                <a:latin typeface="Noto Sans CJK KR"/>
              </a:defRPr>
            </a:pPr>
            <a:r>
              <a:rPr/>
              <a:t>목표 화면: 실제 terminal: Camera topic의 type·연결 수·실측 rate  |  나중에 확인할 것: camera가 message를 내보내고 있는지 type·publisher·rate로 확인합니다.</a:t>
            </a:r>
          </a:p>
        </p:txBody>
      </p:sp>
    </p:spTree>
  </p:cSld>
  <p:clrMapOvr>
    <a:masterClrMapping/>
  </p:clrMapOvr>
</p:sld>
</file>

<file path=ppt/slides/slide2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먼저 이번 단계의 완료 모습을 본다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지금부터 폴더·파일·코드를 만들면 아래의 실제 결과에 도달합니다. 보이는 기준을 기억한 뒤 구현합니다.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기반 AGV End-to-End 개발 커리큘럼 · M15 · Block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4190" y="1389888"/>
            <a:ext cx="6420570" cy="46634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" y="6126480"/>
            <a:ext cx="106070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2A8B5A"/>
                </a:solidFill>
                <a:latin typeface="Noto Sans CJK KR"/>
              </a:defRPr>
            </a:pPr>
            <a:r>
              <a:rPr/>
              <a:t>목표 화면: 실제 terminal: LiDAR의 frame·range·실측 rate  |  나중에 확인할 것: SDF 설정값과 실제 range/angle/rate가 논리적으로 맞는지 대조합니다.</a:t>
            </a:r>
          </a:p>
        </p:txBody>
      </p:sp>
    </p:spTree>
  </p:cSld>
  <p:clrMapOvr>
    <a:masterClrMapping/>
  </p:clrMapOvr>
</p:sld>
</file>

<file path=ppt/slides/slide2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먼저 이번 단계의 완료 모습을 본다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지금부터 폴더·파일·코드를 만들면 아래의 실제 결과에 도달합니다. 보이는 기준을 기억한 뒤 구현합니다.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기반 AGV End-to-End 개발 커리큘럼 · M15 · Block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4190" y="1389888"/>
            <a:ext cx="6420570" cy="46634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" y="6126480"/>
            <a:ext cx="106070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2A8B5A"/>
                </a:solidFill>
                <a:latin typeface="Noto Sans CJK KR"/>
              </a:defRPr>
            </a:pPr>
            <a:r>
              <a:rPr/>
              <a:t>목표 화면: 실제 terminal: IMU frame·필드·실측 rate  |  나중에 확인할 것: IMU도 같은 simulation 시간에 갱신되는지 average rate를 확인합니다.</a:t>
            </a:r>
          </a:p>
        </p:txBody>
      </p:sp>
    </p:spTree>
  </p:cSld>
  <p:clrMapOvr>
    <a:masterClrMapping/>
  </p:clrMapOvr>
</p:sld>
</file>

<file path=ppt/slides/slide2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먼저 이번 단계의 완료 모습을 본다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지금부터 폴더·파일·코드를 만들면 아래의 실제 결과에 도달합니다. 보이는 기준을 기억한 뒤 구현합니다.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기반 AGV End-to-End 개발 커리큘럼 · M15 · Block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0639" y="1389888"/>
            <a:ext cx="6067672" cy="46634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" y="6126480"/>
            <a:ext cx="106070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2A8B5A"/>
                </a:solidFill>
                <a:latin typeface="Noto Sans CJK KR"/>
              </a:defRPr>
            </a:pPr>
            <a:r>
              <a:rPr/>
              <a:t>목표 화면: 실제 RViz2: sensor display를 같은 Fixed Frame에서 대조  |  나중에 확인할 것: camera·LiDAR·IMU 각각을 화면·terminal·frame 기준으로 교차 확인합니다.</a:t>
            </a:r>
          </a:p>
        </p:txBody>
      </p:sp>
    </p:spTree>
  </p:cSld>
  <p:clrMapOvr>
    <a:masterClrMapping/>
  </p:clrMapOvr>
</p:sld>
</file>

<file path=ppt/slides/slide2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핵심 흐름을 한 장으로 이해하기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상자와 화살표의 방향을 따라 데이터 또는 제어의 흐름을 읽습니다.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기반 AGV End-to-End 개발 커리큘럼 · M15 · Block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568195" y="2743200"/>
            <a:ext cx="2029968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1900" b="1">
                <a:solidFill>
                  <a:srgbClr val="122C4E"/>
                </a:solidFill>
                <a:latin typeface="Noto Sans CJK KR"/>
              </a:defRPr>
            </a:pPr>
            <a:r>
              <a:rPr/>
              <a:t>/clock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598164" y="3264408"/>
            <a:ext cx="283464" cy="0"/>
          </a:xfrm>
          <a:prstGeom prst="line">
            <a:avLst/>
          </a:prstGeom>
          <a:ln w="31750">
            <a:solidFill>
              <a:srgbClr val="225B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909060" y="2743200"/>
            <a:ext cx="2029968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1900" b="1">
                <a:solidFill>
                  <a:srgbClr val="122C4E"/>
                </a:solidFill>
                <a:latin typeface="Noto Sans CJK KR"/>
              </a:defRPr>
            </a:pPr>
            <a:r>
              <a:rPr/>
              <a:t>use_sim_time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939028" y="3264408"/>
            <a:ext cx="283464" cy="0"/>
          </a:xfrm>
          <a:prstGeom prst="line">
            <a:avLst/>
          </a:prstGeom>
          <a:ln w="31750">
            <a:solidFill>
              <a:srgbClr val="225B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249924" y="2743200"/>
            <a:ext cx="2029968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1900" b="1">
                <a:solidFill>
                  <a:srgbClr val="122C4E"/>
                </a:solidFill>
                <a:latin typeface="Noto Sans CJK KR"/>
              </a:defRPr>
            </a:pPr>
            <a:r>
              <a:rPr/>
              <a:t>sensor topic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279892" y="3264408"/>
            <a:ext cx="283464" cy="0"/>
          </a:xfrm>
          <a:prstGeom prst="line">
            <a:avLst/>
          </a:prstGeom>
          <a:ln w="31750">
            <a:solidFill>
              <a:srgbClr val="225B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590788" y="2743200"/>
            <a:ext cx="2029968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1900" b="1">
                <a:solidFill>
                  <a:srgbClr val="122C4E"/>
                </a:solidFill>
                <a:latin typeface="Noto Sans CJK KR"/>
              </a:defRPr>
            </a:pPr>
            <a:r>
              <a:rPr/>
              <a:t>processing node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800600"/>
            <a:ext cx="10332720" cy="5029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225B9B"/>
                </a:solidFill>
                <a:latin typeface="Noto Sans CJK KR"/>
              </a:defRPr>
            </a:pPr>
            <a:r>
              <a:rPr/>
              <a:t>기억할 한 문장: 앞 단계의 출력이 다음 단계의 입력이 되도록 topic·frame·파일 이름을 끝까지 유지합니다.</a:t>
            </a:r>
          </a:p>
        </p:txBody>
      </p:sp>
    </p:spTree>
  </p:cSld>
  <p:clrMapOvr>
    <a:masterClrMapping/>
  </p:clrMapOvr>
</p:sld>
</file>

<file path=ppt/slides/slide2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이번에 프로젝트 안에 새로 만드는 파일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아래 파일은 완성본을 복사하지 않고, 다음 슬라이드에서 폴더·빈 파일부터 직접 만듭니다.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기반 AGV End-to-End 개발 커리큘럼 · M15 · Block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600200"/>
            <a:ext cx="10789920" cy="4407408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rPr/>
              <a:t>~/ros2_curri/my_agv_ws/src/</a:t>
            </a:r>
            <a:r>
              <a:rPr/>
              <a:t>└── agv_bringup/config/sensors.yaml</a:t>
            </a:r>
            <a:r>
              <a:rPr/>
              <a:t>└── agv_gazebo/config/bridge.yaml</a:t>
            </a:r>
            <a:r>
              <a:rPr/>
              <a:t>└── agv_sensors/agv_sensors/lidar_processor.py</a:t>
            </a:r>
            <a:r>
              <a:rPr/>
              <a:t>└── agv_sensors/agv_sensors/imu_monitor.py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" y="6144768"/>
            <a:ext cx="103327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5C6672"/>
                </a:solidFill>
                <a:latin typeface="Noto Sans CJK KR"/>
              </a:defRPr>
            </a:pPr>
            <a:r>
              <a:rPr/>
              <a:t>파일 하나를 만들고 저장한 뒤에만 다음 파일로 넘어갑니다. Complete는 오류가 풀리지 않을 때만 비교합니다.</a:t>
            </a:r>
          </a:p>
        </p:txBody>
      </p:sp>
    </p:spTree>
  </p:cSld>
  <p:clrMapOvr>
    <a:masterClrMapping/>
  </p:clrMapOvr>
</p:sld>
</file>

<file path=ppt/slides/slide2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코드/설정이 실제로 만드는 것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파일을 입력하기 전에 ‘무엇을 만들고 어디서 볼지’를 먼저 연결합니다.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기반 AGV End-to-End 개발 커리큘럼 · M15 · Block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파일 역할    |    현재 폴더 ~/ros2_curri/my_agv_ws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27632"/>
            <a:ext cx="10972800" cy="2048256"/>
          </a:xfrm>
          <a:prstGeom prst="roundRect">
            <a:avLst/>
          </a:prstGeom>
          <a:solidFill>
            <a:srgbClr val="F4F7FB"/>
          </a:solidFill>
          <a:ln>
            <a:solidFill>
              <a:srgbClr val="CCD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850392" y="1764792"/>
            <a:ext cx="1042416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25B9B"/>
                </a:solidFill>
                <a:latin typeface="DejaVu Sans Mono"/>
              </a:defRPr>
            </a:pPr>
            <a:r>
              <a:rPr/>
              <a:t>~/ros2_curri/my_agv_ws/src/agv_bringup/config/sensors.yaml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130552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2A8B5A"/>
                </a:solidFill>
                <a:latin typeface="Noto Sans CJK KR"/>
              </a:defRPr>
            </a:pPr>
            <a:r>
              <a:rPr/>
              <a:t>만드는 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75104" y="2112264"/>
            <a:ext cx="91897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0">
                <a:solidFill>
                  <a:srgbClr val="122C4E"/>
                </a:solidFill>
                <a:latin typeface="Noto Sans CJK KR"/>
              </a:defRPr>
            </a:pPr>
            <a:r>
              <a:rPr/>
              <a:t>센서 처리 노드가 공통으로 사용할 use_sim_time 등 실행 파라미터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505456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DB7E22"/>
                </a:solidFill>
                <a:latin typeface="Noto Sans CJK KR"/>
              </a:defRPr>
            </a:pPr>
            <a:r>
              <a:rPr/>
              <a:t>코드 읽기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75104" y="2487168"/>
            <a:ext cx="9189720" cy="30175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Noto Sans CJK KR"/>
              </a:defRPr>
            </a:pPr>
            <a:r>
              <a:rPr/>
              <a:t>노드 이름 아래 parameter와 값의 단위를 확인한다.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889504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225B9B"/>
                </a:solidFill>
                <a:latin typeface="Noto Sans CJK KR"/>
              </a:defRPr>
            </a:pPr>
            <a:r>
              <a:rPr/>
              <a:t>사용/확인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75104" y="2871216"/>
            <a:ext cx="9189720" cy="51206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rPr/>
              <a:t>사용: launch가 YAML을 넘긴 뒤 ros2 param get으로 확인한다.</a:t>
            </a:r>
            <a:r>
              <a:rPr/>
              <a:t>화면/출력: /clock과 use_sim_time=true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941063"/>
            <a:ext cx="10972800" cy="2048256"/>
          </a:xfrm>
          <a:prstGeom prst="roundRect">
            <a:avLst/>
          </a:prstGeom>
          <a:solidFill>
            <a:srgbClr val="F4F7FB"/>
          </a:solidFill>
          <a:ln>
            <a:solidFill>
              <a:srgbClr val="CCD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850392" y="4078224"/>
            <a:ext cx="1042416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25B9B"/>
                </a:solidFill>
                <a:latin typeface="DejaVu Sans Mono"/>
              </a:defRPr>
            </a:pPr>
            <a:r>
              <a:rPr/>
              <a:t>~/ros2_curri/my_agv_ws/src/agv_gazebo/config/bridge.yaml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443983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2A8B5A"/>
                </a:solidFill>
                <a:latin typeface="Noto Sans CJK KR"/>
              </a:defRPr>
            </a:pPr>
            <a:r>
              <a:rPr/>
              <a:t>만드는 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75104" y="4425696"/>
            <a:ext cx="91897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0">
                <a:solidFill>
                  <a:srgbClr val="122C4E"/>
                </a:solidFill>
                <a:latin typeface="Noto Sans CJK KR"/>
              </a:defRPr>
            </a:pPr>
            <a:r>
              <a:rPr/>
              <a:t>Gazebo Transport 메시지와 ROS 2 topic을 방향별로 연결하는 번역표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818888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DB7E22"/>
                </a:solidFill>
                <a:latin typeface="Noto Sans CJK KR"/>
              </a:defRPr>
            </a:pPr>
            <a:r>
              <a:rPr/>
              <a:t>코드 읽기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75104" y="4800600"/>
            <a:ext cx="9189720" cy="30175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Noto Sans CJK KR"/>
              </a:defRPr>
            </a:pPr>
            <a:r>
              <a:rPr/>
              <a:t>한 항목에서 ros_topic_name → type → direction을 세 줄씩 비교한다.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5202936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225B9B"/>
                </a:solidFill>
                <a:latin typeface="Noto Sans CJK KR"/>
              </a:defRPr>
            </a:pPr>
            <a:r>
              <a:rPr/>
              <a:t>사용/확인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75104" y="5184648"/>
            <a:ext cx="9189720" cy="51206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rPr/>
              <a:t>사용: parameter_bridge가 이 YAML을 읽도록 launch한다.</a:t>
            </a:r>
            <a:r>
              <a:rPr/>
              <a:t>화면/출력: ros2 topic info에서 보이는 type과 publisher 수</a:t>
            </a:r>
          </a:p>
        </p:txBody>
      </p:sp>
    </p:spTree>
  </p:cSld>
  <p:clrMapOvr>
    <a:masterClrMapping/>
  </p:clrMapOvr>
</p:sld>
</file>

<file path=ppt/slides/slide2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코드/설정이 실제로 만드는 것 (2/2)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파일을 입력하기 전에 ‘무엇을 만들고 어디서 볼지’를 먼저 연결합니다.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기반 AGV End-to-End 개발 커리큘럼 · M15 · Block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파일 역할    |    현재 폴더 ~/ros2_curri/my_agv_ws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27632"/>
            <a:ext cx="10972800" cy="2048256"/>
          </a:xfrm>
          <a:prstGeom prst="roundRect">
            <a:avLst/>
          </a:prstGeom>
          <a:solidFill>
            <a:srgbClr val="F4F7FB"/>
          </a:solidFill>
          <a:ln>
            <a:solidFill>
              <a:srgbClr val="CCD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850392" y="1764792"/>
            <a:ext cx="1042416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25B9B"/>
                </a:solidFill>
                <a:latin typeface="DejaVu Sans Mono"/>
              </a:defRPr>
            </a:pPr>
            <a:r>
              <a:rPr/>
              <a:t>~/ros2_curri/my_agv_ws/src/agv_sensors/agv_sensors/lidar_processor.py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130552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2A8B5A"/>
                </a:solidFill>
                <a:latin typeface="Noto Sans CJK KR"/>
              </a:defRPr>
            </a:pPr>
            <a:r>
              <a:rPr/>
              <a:t>만드는 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75104" y="2112264"/>
            <a:ext cx="91897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0">
                <a:solidFill>
                  <a:srgbClr val="122C4E"/>
                </a:solidFill>
                <a:latin typeface="Noto Sans CJK KR"/>
              </a:defRPr>
            </a:pPr>
            <a:r>
              <a:rPr/>
              <a:t>LaserScan의 전방 sector에서 유효 거리 최소값을 계산하는 안전 입력 노드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505456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DB7E22"/>
                </a:solidFill>
                <a:latin typeface="Noto Sans CJK KR"/>
              </a:defRPr>
            </a:pPr>
            <a:r>
              <a:rPr/>
              <a:t>코드 읽기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75104" y="2487168"/>
            <a:ext cx="9189720" cy="30175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Noto Sans CJK KR"/>
              </a:defRPr>
            </a:pPr>
            <a:r>
              <a:rPr/>
              <a:t>ranges 필터 → 각도 index → minimum → /obstacle_distance publish 순서로 읽는다.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889504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225B9B"/>
                </a:solidFill>
                <a:latin typeface="Noto Sans CJK KR"/>
              </a:defRPr>
            </a:pPr>
            <a:r>
              <a:rPr/>
              <a:t>사용/확인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75104" y="2871216"/>
            <a:ext cx="9189720" cy="51206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rPr/>
              <a:t>사용: launch 뒤 /scan과 /obstacle_distance를 별 터미널에서 본다.</a:t>
            </a:r>
            <a:r>
              <a:rPr/>
              <a:t>화면/출력: LiDAR terminal의 frame·range와 RViz LaserScan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941063"/>
            <a:ext cx="10972800" cy="2048256"/>
          </a:xfrm>
          <a:prstGeom prst="roundRect">
            <a:avLst/>
          </a:prstGeom>
          <a:solidFill>
            <a:srgbClr val="F4F7FB"/>
          </a:solidFill>
          <a:ln>
            <a:solidFill>
              <a:srgbClr val="CCD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850392" y="4078224"/>
            <a:ext cx="1042416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25B9B"/>
                </a:solidFill>
                <a:latin typeface="DejaVu Sans Mono"/>
              </a:defRPr>
            </a:pPr>
            <a:r>
              <a:rPr/>
              <a:t>~/ros2_curri/my_agv_ws/src/agv_sensors/agv_sensors/imu_monitor.py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443983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2A8B5A"/>
                </a:solidFill>
                <a:latin typeface="Noto Sans CJK KR"/>
              </a:defRPr>
            </a:pPr>
            <a:r>
              <a:rPr/>
              <a:t>만드는 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75104" y="4425696"/>
            <a:ext cx="91897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0">
                <a:solidFill>
                  <a:srgbClr val="122C4E"/>
                </a:solidFill>
                <a:latin typeface="Noto Sans CJK KR"/>
              </a:defRPr>
            </a:pPr>
            <a:r>
              <a:rPr/>
              <a:t>IMU frame·각속도·가속도를 단위와 함께 출력하는 진단 노드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818888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DB7E22"/>
                </a:solidFill>
                <a:latin typeface="Noto Sans CJK KR"/>
              </a:defRPr>
            </a:pPr>
            <a:r>
              <a:rPr/>
              <a:t>코드 읽기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75104" y="4800600"/>
            <a:ext cx="9189720" cy="30175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Noto Sans CJK KR"/>
              </a:defRPr>
            </a:pPr>
            <a:r>
              <a:rPr/>
              <a:t>message header → angular_velocity → linear_acceleration 순서로 읽는다.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5202936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225B9B"/>
                </a:solidFill>
                <a:latin typeface="Noto Sans CJK KR"/>
              </a:defRPr>
            </a:pPr>
            <a:r>
              <a:rPr/>
              <a:t>사용/확인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75104" y="5184648"/>
            <a:ext cx="9189720" cy="51206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rPr/>
              <a:t>사용: 제자리 회전 명령과 함께 실행해 z축 부호를 비교한다.</a:t>
            </a:r>
            <a:r>
              <a:rPr/>
              <a:t>화면/출력: IMU terminal의 frame_id와 publish rate</a:t>
            </a:r>
          </a:p>
        </p:txBody>
      </p:sp>
    </p:spTree>
  </p:cSld>
  <p:clrMapOvr>
    <a:masterClrMapping/>
  </p:clrMapOvr>
</p:sld>
</file>

<file path=ppt/slides/slide2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코드를 ‘만드는 것 → 표시할 줄 → 바꾼 결과’로 읽는다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PDF 예시처럼 화면을 보기 전에 코드의 역할과 관찰 지점을 한 번 짚고 갑니다.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기반 AGV End-to-End 개발 커리큘럼 · M15 · Block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코드 해설    |    현재 폴더 ~/ros2_curri/my_agv_ws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664208"/>
            <a:ext cx="5321808" cy="1764792"/>
          </a:xfrm>
          <a:prstGeom prst="roundRect">
            <a:avLst/>
          </a:prstGeom>
          <a:solidFill>
            <a:srgbClr val="F4F7FB"/>
          </a:solidFill>
          <a:ln>
            <a:solidFill>
              <a:srgbClr val="2A8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859536" y="1828800"/>
            <a:ext cx="4892040" cy="2651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2A8B5A"/>
                </a:solidFill>
                <a:latin typeface="Noto Sans CJK KR"/>
              </a:defRPr>
            </a:pPr>
            <a:r>
              <a:rPr/>
              <a:t>1. 이 파일이 만드는 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240280"/>
            <a:ext cx="4846320" cy="9418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600" b="0">
                <a:solidFill>
                  <a:srgbClr val="122C4E"/>
                </a:solidFill>
                <a:latin typeface="Noto Sans CJK KR"/>
              </a:defRPr>
            </a:pPr>
            <a:r>
              <a:rPr/>
              <a:t>센서를 동시에 운영할 때는 ‘topic이 있다’보다 시간·QoS·frame·rate가 서로 맞는지가 중요합니다.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64208"/>
            <a:ext cx="5321808" cy="1764792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419088" y="1828800"/>
            <a:ext cx="4892040" cy="2651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225B9B"/>
                </a:solidFill>
                <a:latin typeface="Noto Sans CJK KR"/>
              </a:defRPr>
            </a:pPr>
            <a:r>
              <a:rPr/>
              <a:t>2. 먼저 찾을 코드/태그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2240280"/>
            <a:ext cx="4846320" cy="9418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600" b="0">
                <a:solidFill>
                  <a:srgbClr val="122C4E"/>
                </a:solidFill>
                <a:latin typeface="Noto Sans CJK KR"/>
              </a:defRPr>
            </a:pPr>
            <a:r>
              <a:rPr/>
              <a:t>/clock, use_sim_time, qos_profile_sensor_data, ros2 topic hz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813048"/>
            <a:ext cx="5321808" cy="1764792"/>
          </a:xfrm>
          <a:prstGeom prst="roundRect">
            <a:avLst/>
          </a:prstGeom>
          <a:solidFill>
            <a:srgbClr val="F4F7FB"/>
          </a:solidFill>
          <a:ln>
            <a:solidFill>
              <a:srgbClr val="DB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859536" y="3977639"/>
            <a:ext cx="4892040" cy="2651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DB7E22"/>
                </a:solidFill>
                <a:latin typeface="Noto Sans CJK KR"/>
              </a:defRPr>
            </a:pPr>
            <a:r>
              <a:rPr/>
              <a:t>3. 값을 바꾸면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" y="4389120"/>
            <a:ext cx="4846320" cy="9418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600" b="0">
                <a:solidFill>
                  <a:srgbClr val="122C4E"/>
                </a:solidFill>
                <a:latin typeface="Noto Sans CJK KR"/>
              </a:defRPr>
            </a:pPr>
            <a:r>
              <a:rPr/>
              <a:t>SDF update_rate와 실제 hz가 크게 다르면 시뮬레이터 부하·QoS·bridge를 먼저 점검합니다.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813048"/>
            <a:ext cx="5321808" cy="1764792"/>
          </a:xfrm>
          <a:prstGeom prst="roundRect">
            <a:avLst/>
          </a:prstGeom>
          <a:solidFill>
            <a:srgbClr val="F4F7FB"/>
          </a:solidFill>
          <a:ln>
            <a:solidFill>
              <a:srgbClr val="BE3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6419088" y="3977639"/>
            <a:ext cx="4892040" cy="2651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BE3B3B"/>
                </a:solidFill>
                <a:latin typeface="Noto Sans CJK KR"/>
              </a:defRPr>
            </a:pPr>
            <a:r>
              <a:rPr/>
              <a:t>4. 실제로 보는 곳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9088" y="4389120"/>
            <a:ext cx="4846320" cy="9418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600" b="0">
                <a:solidFill>
                  <a:srgbClr val="122C4E"/>
                </a:solidFill>
                <a:latin typeface="Noto Sans CJK KR"/>
              </a:defRPr>
            </a:pPr>
            <a:r>
              <a:rPr/>
              <a:t>camera/LiDAR/IMU terminal과 RViz를 함께 열어 이름·rate·Fixed Frame을 대조합니다.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6172200"/>
            <a:ext cx="1060704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200" b="1">
                <a:solidFill>
                  <a:srgbClr val="2A8B5A"/>
                </a:solidFill>
                <a:latin typeface="Noto Sans CJK KR"/>
              </a:defRPr>
            </a:pPr>
            <a:r>
              <a:rPr/>
              <a:t>다음 코드 슬라이드에서는 위의 태그/함수를 찾아 색으로 표시하며 한 줄씩 설명합니다.</a:t>
            </a:r>
          </a:p>
        </p:txBody>
      </p:sp>
    </p:spTree>
  </p:cSld>
  <p:clrMapOvr>
    <a:masterClrMapping/>
  </p:clrMapOvr>
</p:sld>
</file>

<file path=ppt/slides/slide2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1/4: 폴더를 만들고 빈 파일을 연다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파일을 먼저 만든 뒤, 다음 슬라이드의 코드 블록을 위에서 아래로 직접 입력합니다.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기반 AGV End-to-End 개발 커리큘럼 · M15 · Block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파일 생성 1/4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19072"/>
            <a:ext cx="141732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25B9B"/>
                </a:solidFill>
                <a:latin typeface="Noto Sans CJK KR"/>
              </a:defRPr>
            </a:pPr>
            <a:r>
              <a:rPr/>
              <a:t>이번 파일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719072"/>
            <a:ext cx="923544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DejaVu Sans Mono"/>
              </a:defRPr>
            </a:pPr>
            <a:r>
              <a:rPr/>
              <a:t>~/ros2_curri/my_agv_ws/src/agv_bringup/config/sensors.yaml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103120"/>
            <a:ext cx="141732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A8B5A"/>
                </a:solidFill>
                <a:latin typeface="Noto Sans CJK KR"/>
              </a:defRPr>
            </a:pPr>
            <a:r>
              <a:rPr/>
              <a:t>만드는 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2103120"/>
            <a:ext cx="923544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122C4E"/>
                </a:solidFill>
                <a:latin typeface="Noto Sans CJK KR"/>
              </a:defRPr>
            </a:pPr>
            <a:r>
              <a:rPr/>
              <a:t>센서 처리 노드가 공통으로 사용할 use_sim_time 등 실행 파라미터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6656" y="2852928"/>
            <a:ext cx="10881360" cy="1682496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rPr/>
              <a:t>mkdir -p ~/ros2_curri/my_agv_ws/src/agv_bringup/config</a:t>
            </a:r>
          </a:p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rPr/>
              <a:t>nano ~/ros2_curri/my_agv_ws/src/agv_bringup/config/sensors.yaml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4901184"/>
            <a:ext cx="10241280" cy="32918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DB7E22"/>
                </a:solidFill>
                <a:latin typeface="Noto Sans CJK KR"/>
              </a:defRPr>
            </a:pPr>
            <a:r>
              <a:rPr/>
              <a:t>nano 저장: Ctrl+O → Enter → Ctrl+X  |  파일이 열리면 아직 비어 있는 것이 정상입니다.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5504688"/>
            <a:ext cx="10241280" cy="32918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2A8B5A"/>
                </a:solidFill>
                <a:latin typeface="Noto Sans CJK KR"/>
              </a:defRPr>
            </a:pPr>
            <a:r>
              <a:rPr/>
              <a:t>다음 단계의 확인 화면: /clock과 use_sim_time=true</a:t>
            </a:r>
          </a:p>
        </p:txBody>
      </p:sp>
    </p:spTree>
  </p:cSld>
  <p:clrMapOvr>
    <a:masterClrMapping/>
  </p:clrMapOvr>
</p:sld>
</file>

<file path=ppt/slides/slide2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1/4: 코드 읽기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짧은 실제 코드 조각을 먼저 읽고, 다음 슬라이드에서 같은 코드를 직접 입력합니다.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기반 AGV End-to-End 개발 커리큘럼 · M15 · Block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코드 해설 1/4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61848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25B9B"/>
                </a:solidFill>
                <a:latin typeface="DejaVu Sans Mono"/>
              </a:defRPr>
            </a:pPr>
            <a:r>
              <a:rPr/>
              <a:t>~/ros2_curri/my_agv_ws/src/agv_bringup/config/sensors.yaml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" y="193852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DB7E22"/>
                </a:solidFill>
                <a:latin typeface="Noto Sans CJK KR"/>
              </a:defRPr>
            </a:pPr>
            <a:r>
              <a:rPr/>
              <a:t>말로 먼저 답해 보세요: 이 줄은 무엇을 만들고, 실행하면 어디에서 확인할 수 있을까요?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359152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rPr/>
              <a:t>lidar_processor: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2359152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5239512" y="2468880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rPr/>
              <a:t>1.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96128" y="2450592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rPr/>
              <a:t>뜻: 실행 코드와 분리한 설정 키와 값을 적습니다.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96128" y="3108960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rPr/>
              <a:t>실행에서: launch 뒤 parameter/topic 동작에서 이 값의 효과를 확인합니다.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078224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rPr/>
              <a:t>ros__parameters: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0" y="4078224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5239512" y="4187952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rPr/>
              <a:t>2.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96128" y="4169663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rPr/>
              <a:t>뜻: 이 값은 센서 처리 노드가 공통으로 사용할 use_sim_time 등 실행 파라미터의 일부입니다.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96128" y="4828032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rPr/>
              <a:t>실행에서: 다음에 launch가 YAML을 넘긴 뒤 ros2 param get으로 확인한다.; /clock과 use_sim_time=true로 확인합니다.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6199632"/>
            <a:ext cx="10698480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5C6672"/>
                </a:solidFill>
                <a:latin typeface="Noto Sans CJK KR"/>
              </a:defRPr>
            </a:pPr>
            <a:r>
              <a:rPr/>
              <a:t>다음 코드 입력 슬라이드에서 이 줄을 발견하면, 방금 설명한 ‘뜻’과 ‘실행에서 보이는 변화’를 다시 말해 봅니다.</a:t>
            </a:r>
          </a:p>
        </p:txBody>
      </p:sp>
    </p:spTree>
  </p:cSld>
  <p:clrMapOvr>
    <a:masterClrMapping/>
  </p:clrMapOvr>
</p:sld>
</file>

<file path=ppt/slides/slide2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1/4: 코드 읽기 (2/2)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짧은 실제 코드 조각을 먼저 읽고, 다음 슬라이드에서 같은 코드를 직접 입력합니다.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기반 AGV End-to-End 개발 커리큘럼 · M15 · Block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코드 해설 1/4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61848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25B9B"/>
                </a:solidFill>
                <a:latin typeface="DejaVu Sans Mono"/>
              </a:defRPr>
            </a:pPr>
            <a:r>
              <a:rPr/>
              <a:t>~/ros2_curri/my_agv_ws/src/agv_bringup/config/sensors.yaml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" y="193852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DB7E22"/>
                </a:solidFill>
                <a:latin typeface="Noto Sans CJK KR"/>
              </a:defRPr>
            </a:pPr>
            <a:r>
              <a:rPr/>
              <a:t>말로 먼저 답해 보세요: 이 줄은 무엇을 만들고, 실행하면 어디에서 확인할 수 있을까요?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359152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rPr/>
              <a:t>use_sim_time: true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2359152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5239512" y="2468880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rPr/>
              <a:t>1.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96128" y="2450592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rPr/>
              <a:t>뜻: 이 값은 센서 처리 노드가 공통으로 사용할 use_sim_time 등 실행 파라미터의 일부입니다.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96128" y="3108960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rPr/>
              <a:t>실행에서: 다음에 launch가 YAML을 넘긴 뒤 ros2 param get으로 확인한다.; /clock과 use_sim_time=true로 확인합니다.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6199632"/>
            <a:ext cx="10698480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5C6672"/>
                </a:solidFill>
                <a:latin typeface="Noto Sans CJK KR"/>
              </a:defRPr>
            </a:pPr>
            <a:r>
              <a:rPr/>
              <a:t>다음 코드 입력 슬라이드에서 이 줄을 발견하면, 방금 설명한 ‘뜻’과 ‘실행에서 보이는 변화’를 다시 말해 봅니다.</a:t>
            </a:r>
          </a:p>
        </p:txBody>
      </p:sp>
    </p:spTree>
  </p:cSld>
  <p:clrMapOvr>
    <a:masterClrMapping/>
  </p:clrMapOvr>
</p:sld>
</file>

<file path=ppt/slides/slide2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1/4: 코드 입력 (1/1)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~/ros2_curri/my_agv_ws/src/agv_bringup/config/sensors.yaml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기반 AGV End-to-End 개발 커리큘럼 · M15 · Block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파일 1/4 · 입력 1/1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 블록이 하는 일: 들여쓰기와 key 이름을 그대로 입력합니다. 설정 이름은 launch·코드가 찾는 이름과 같아야 합니다.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rPr/>
              <a:t>현재 열린 파일: ~/ros2_curri/my_agv_ws/src/agv_bringup/config/sensors.yaml</a:t>
            </a:r>
            <a:r>
              <a:rPr/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73152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lidar_processor: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ros__parameters: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use_sim_time: true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front_half_angle_deg: 15.0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imu_monitor: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ros__parameters: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use_sim_time: true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입력 1/1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2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2/4: 폴더를 만들고 빈 파일을 연다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파일을 먼저 만든 뒤, 다음 슬라이드의 코드 블록을 위에서 아래로 직접 입력합니다.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기반 AGV End-to-End 개발 커리큘럼 · M15 · Block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파일 생성 2/4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19072"/>
            <a:ext cx="141732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25B9B"/>
                </a:solidFill>
                <a:latin typeface="Noto Sans CJK KR"/>
              </a:defRPr>
            </a:pPr>
            <a:r>
              <a:rPr/>
              <a:t>이번 파일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719072"/>
            <a:ext cx="923544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DejaVu Sans Mono"/>
              </a:defRPr>
            </a:pPr>
            <a:r>
              <a:rPr/>
              <a:t>~/ros2_curri/my_agv_ws/src/agv_gazebo/config/bridge.yaml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103120"/>
            <a:ext cx="141732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A8B5A"/>
                </a:solidFill>
                <a:latin typeface="Noto Sans CJK KR"/>
              </a:defRPr>
            </a:pPr>
            <a:r>
              <a:rPr/>
              <a:t>만드는 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2103120"/>
            <a:ext cx="923544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122C4E"/>
                </a:solidFill>
                <a:latin typeface="Noto Sans CJK KR"/>
              </a:defRPr>
            </a:pPr>
            <a:r>
              <a:rPr/>
              <a:t>Gazebo Transport 메시지와 ROS 2 topic을 방향별로 연결하는 번역표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6656" y="2852928"/>
            <a:ext cx="10881360" cy="1682496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rPr/>
              <a:t>mkdir -p ~/ros2_curri/my_agv_ws/src/agv_gazebo/config</a:t>
            </a:r>
          </a:p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rPr/>
              <a:t>nano ~/ros2_curri/my_agv_ws/src/agv_gazebo/config/bridge.yaml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4901184"/>
            <a:ext cx="10241280" cy="32918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DB7E22"/>
                </a:solidFill>
                <a:latin typeface="Noto Sans CJK KR"/>
              </a:defRPr>
            </a:pPr>
            <a:r>
              <a:rPr/>
              <a:t>nano 저장: Ctrl+O → Enter → Ctrl+X  |  파일이 열리면 아직 비어 있는 것이 정상입니다.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5504688"/>
            <a:ext cx="10241280" cy="32918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2A8B5A"/>
                </a:solidFill>
                <a:latin typeface="Noto Sans CJK KR"/>
              </a:defRPr>
            </a:pPr>
            <a:r>
              <a:rPr/>
              <a:t>다음 단계의 확인 화면: ros2 topic info에서 보이는 type과 publisher 수</a:t>
            </a:r>
          </a:p>
        </p:txBody>
      </p:sp>
    </p:spTree>
  </p:cSld>
  <p:clrMapOvr>
    <a:masterClrMapping/>
  </p:clrMapOvr>
</p:sld>
</file>

<file path=ppt/slides/slide2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2/4: 코드 읽기 (1/1)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짧은 실제 코드 조각을 먼저 읽고, 다음 슬라이드에서 같은 코드를 직접 입력합니다.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기반 AGV End-to-End 개발 커리큘럼 · M15 · Block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코드 해설 2/4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61848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25B9B"/>
                </a:solidFill>
                <a:latin typeface="DejaVu Sans Mono"/>
              </a:defRPr>
            </a:pPr>
            <a:r>
              <a:rPr/>
              <a:t>~/ros2_curri/my_agv_ws/src/agv_gazebo/config/bridge.yaml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" y="193852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DB7E22"/>
                </a:solidFill>
                <a:latin typeface="Noto Sans CJK KR"/>
              </a:defRPr>
            </a:pPr>
            <a:r>
              <a:rPr/>
              <a:t>말로 먼저 답해 보세요: 이 줄은 무엇을 만들고, 실행하면 어디에서 확인할 수 있을까요?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359152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rPr/>
              <a:t>- ros_topic_name: "/cmd_vel"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2359152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5239512" y="2468880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rPr/>
              <a:t>1.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96128" y="2450592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rPr/>
              <a:t>뜻: 데이터가 오가는 채널의 정확한 이름을 지정합니다.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96128" y="3108960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rPr/>
              <a:t>실행에서: SDF·bridge·node 세 곳의 이름이 같을 때 message가 연결됩니다.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078224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rPr/>
              <a:t>ros_type_name: "geometry_msgs/msg/Twist"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0" y="4078224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5239512" y="4187952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rPr/>
              <a:t>2.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96128" y="4169663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rPr/>
              <a:t>뜻: 실행 코드와 분리한 설정 키와 값을 적습니다.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96128" y="4828032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rPr/>
              <a:t>실행에서: launch 뒤 parameter/topic 동작에서 이 값의 효과를 확인합니다.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6199632"/>
            <a:ext cx="10698480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5C6672"/>
                </a:solidFill>
                <a:latin typeface="Noto Sans CJK KR"/>
              </a:defRPr>
            </a:pPr>
            <a:r>
              <a:rPr/>
              <a:t>다음 코드 입력 슬라이드에서 이 줄을 발견하면, 방금 설명한 ‘뜻’과 ‘실행에서 보이는 변화’를 다시 말해 봅니다.</a:t>
            </a:r>
          </a:p>
        </p:txBody>
      </p:sp>
    </p:spTree>
  </p:cSld>
  <p:clrMapOvr>
    <a:masterClrMapping/>
  </p:clrMapOvr>
</p:sld>
</file>

<file path=ppt/slides/slide2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2/4: 코드 입력 (1/3)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~/ros2_curri/my_agv_ws/src/agv_gazebo/config/bridge.yaml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기반 AGV End-to-End 개발 커리큘럼 · M15 · Block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파일 2/4 · 입력 1/3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 블록이 하는 일: 들여쓰기와 key 이름을 그대로 입력합니다. 설정 이름은 launch·코드가 찾는 이름과 같아야 합니다.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rPr/>
              <a:t>현재 열린 파일: ~/ros2_curri/my_agv_ws/src/agv_gazebo/config/bridge.yaml</a:t>
            </a:r>
            <a:r>
              <a:rPr/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73152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- ros_topic_name: "/cmd_vel"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gz_topic_name: "/cmd_vel"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ros_type_name: "geometry_msgs/msg/Twist"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gz_type_name: "gz.msgs.Twist"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direction: ROS_TO_GZ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- ros_topic_name: "/odom"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gz_topic_name: "/odom"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ros_type_name: "nav_msgs/msg/Odometry"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gz_type_name: "gz.msgs.Odometry"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direction: GZ_TO_ROS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- ros_topic_name: "/scan"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gz_topic_name: "/scan"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입력 1/3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2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2/4: 코드 입력 (2/3)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~/ros2_curri/my_agv_ws/src/agv_gazebo/config/bridge.yaml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기반 AGV End-to-End 개발 커리큘럼 · M15 · Block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파일 2/4 · 입력 2/3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 블록이 하는 일: 들여쓰기와 key 이름을 그대로 입력합니다. 설정 이름은 launch·코드가 찾는 이름과 같아야 합니다.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rPr/>
              <a:t>현재 열린 파일: ~/ros2_curri/my_agv_ws/src/agv_gazebo/config/bridge.yaml</a:t>
            </a:r>
            <a:r>
              <a:rPr/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73152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ros_type_name: "sensor_msgs/msg/LaserScan"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gz_type_name: "gz.msgs.LaserScan"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direction: GZ_TO_ROS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- ros_topic_name: "/imu/data"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gz_topic_name: "/imu/data"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ros_type_name: "sensor_msgs/msg/Imu"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gz_type_name: "gz.msgs.IMU"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direction: GZ_TO_ROS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- ros_topic_name: "/camera/image_raw"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gz_topic_name: "/camera/image_raw"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ros_type_name: "sensor_msgs/msg/Image"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gz_type_name: "gz.msgs.Image"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입력 2/3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2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2/4: 코드 입력 (3/3)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~/ros2_curri/my_agv_ws/src/agv_gazebo/config/bridge.yaml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기반 AGV End-to-End 개발 커리큘럼 · M15 · Block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파일 2/4 · 입력 3/3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 블록이 하는 일: 들여쓰기와 key 이름을 그대로 입력합니다. 설정 이름은 launch·코드가 찾는 이름과 같아야 합니다.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rPr/>
              <a:t>현재 열린 파일: ~/ros2_curri/my_agv_ws/src/agv_gazebo/config/bridge.yaml</a:t>
            </a:r>
            <a:r>
              <a:rPr/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73152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direction: GZ_TO_ROS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- ros_topic_name: "/clock"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gz_topic_name: "/clock"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ros_type_name: "rosgraph_msgs/msg/Clock"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gz_type_name: "gz.msgs.Clock"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direction: GZ_TO_ROS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입력 3/3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2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3/4: 폴더를 만들고 빈 파일을 연다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파일을 먼저 만든 뒤, 다음 슬라이드의 코드 블록을 위에서 아래로 직접 입력합니다.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기반 AGV End-to-End 개발 커리큘럼 · M15 · Block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파일 생성 3/4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19072"/>
            <a:ext cx="141732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25B9B"/>
                </a:solidFill>
                <a:latin typeface="Noto Sans CJK KR"/>
              </a:defRPr>
            </a:pPr>
            <a:r>
              <a:rPr/>
              <a:t>이번 파일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719072"/>
            <a:ext cx="923544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DejaVu Sans Mono"/>
              </a:defRPr>
            </a:pPr>
            <a:r>
              <a:rPr/>
              <a:t>~/ros2_curri/my_agv_ws/src/agv_sensors/agv_sensors/lidar_processor.py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103120"/>
            <a:ext cx="141732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A8B5A"/>
                </a:solidFill>
                <a:latin typeface="Noto Sans CJK KR"/>
              </a:defRPr>
            </a:pPr>
            <a:r>
              <a:rPr/>
              <a:t>만드는 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2103120"/>
            <a:ext cx="923544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122C4E"/>
                </a:solidFill>
                <a:latin typeface="Noto Sans CJK KR"/>
              </a:defRPr>
            </a:pPr>
            <a:r>
              <a:rPr/>
              <a:t>LaserScan의 전방 sector에서 유효 거리 최소값을 계산하는 안전 입력 노드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6656" y="2852928"/>
            <a:ext cx="10881360" cy="1682496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rPr/>
              <a:t>mkdir -p ~/ros2_curri/my_agv_ws/src/agv_sensors/agv_sensors</a:t>
            </a:r>
          </a:p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rPr/>
              <a:t>nano ~/ros2_curri/my_agv_ws/src/agv_sensors/agv_sensors/lidar_processor.py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4901184"/>
            <a:ext cx="10241280" cy="32918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DB7E22"/>
                </a:solidFill>
                <a:latin typeface="Noto Sans CJK KR"/>
              </a:defRPr>
            </a:pPr>
            <a:r>
              <a:rPr/>
              <a:t>nano 저장: Ctrl+O → Enter → Ctrl+X  |  파일이 열리면 아직 비어 있는 것이 정상입니다.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5504688"/>
            <a:ext cx="10241280" cy="32918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2A8B5A"/>
                </a:solidFill>
                <a:latin typeface="Noto Sans CJK KR"/>
              </a:defRPr>
            </a:pPr>
            <a:r>
              <a:rPr/>
              <a:t>다음 단계의 확인 화면: LiDAR terminal의 frame·range와 RViz LaserScan</a:t>
            </a:r>
          </a:p>
        </p:txBody>
      </p:sp>
    </p:spTree>
  </p:cSld>
  <p:clrMapOvr>
    <a:masterClrMapping/>
  </p:clrMapOvr>
</p:sld>
</file>

<file path=ppt/slides/slide2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3/4: 코드 읽기 (1/5)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짧은 실제 코드 조각을 먼저 읽고, 다음 슬라이드에서 같은 코드를 직접 입력합니다.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기반 AGV End-to-End 개발 커리큘럼 · M15 · Block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코드 해설 3/4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61848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25B9B"/>
                </a:solidFill>
                <a:latin typeface="DejaVu Sans Mono"/>
              </a:defRPr>
            </a:pPr>
            <a:r>
              <a:rPr/>
              <a:t>~/ros2_curri/my_agv_ws/src/agv_sensors/agv_sensors/lidar_processor.py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" y="193852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DB7E22"/>
                </a:solidFill>
                <a:latin typeface="Noto Sans CJK KR"/>
              </a:defRPr>
            </a:pPr>
            <a:r>
              <a:rPr/>
              <a:t>말로 먼저 답해 보세요: 이 줄은 무엇을 만들고, 실행하면 어디에서 확인할 수 있을까요?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359152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rPr/>
              <a:t>import math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2359152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5239512" y="2468880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rPr/>
              <a:t>1.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96128" y="2450592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rPr/>
              <a:t>뜻: 다른 파일에 이미 있는 도구를 이 파일에서 쓰겠다고 가져옵니다.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96128" y="3108960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rPr/>
              <a:t>실행에서: 이 import가 빠지면 실행 전에 이름을 찾지 못했다는 오류가 납니다.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078224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rPr/>
              <a:t>class LidarProcessor(Node):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0" y="4078224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5239512" y="4187952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rPr/>
              <a:t>2.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96128" y="4169663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rPr/>
              <a:t>뜻: 이 Node가 가질 변수와 callback을 한 덩어리로 묶는 설계도입니다.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96128" y="4828032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rPr/>
              <a:t>실행에서: 아래 초기화·callback이 모두 이 node 한 개의 동작이 됩니다.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6199632"/>
            <a:ext cx="10698480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5C6672"/>
                </a:solidFill>
                <a:latin typeface="Noto Sans CJK KR"/>
              </a:defRPr>
            </a:pPr>
            <a:r>
              <a:rPr/>
              <a:t>다음 코드 입력 슬라이드에서 이 줄을 발견하면, 방금 설명한 ‘뜻’과 ‘실행에서 보이는 변화’를 다시 말해 봅니다.</a:t>
            </a:r>
          </a:p>
        </p:txBody>
      </p:sp>
    </p:spTree>
  </p:cSld>
  <p:clrMapOvr>
    <a:masterClrMapping/>
  </p:clrMapOvr>
</p:sld>
</file>

<file path=ppt/slides/slide2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3/4: 코드 읽기 (2/5)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짧은 실제 코드 조각을 먼저 읽고, 다음 슬라이드에서 같은 코드를 직접 입력합니다.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기반 AGV End-to-End 개발 커리큘럼 · M15 · Block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코드 해설 3/4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61848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25B9B"/>
                </a:solidFill>
                <a:latin typeface="DejaVu Sans Mono"/>
              </a:defRPr>
            </a:pPr>
            <a:r>
              <a:rPr/>
              <a:t>~/ros2_curri/my_agv_ws/src/agv_sensors/agv_sensors/lidar_processor.py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" y="193852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DB7E22"/>
                </a:solidFill>
                <a:latin typeface="Noto Sans CJK KR"/>
              </a:defRPr>
            </a:pPr>
            <a:r>
              <a:rPr/>
              <a:t>말로 먼저 답해 보세요: 이 줄은 무엇을 만들고, 실행하면 어디에서 확인할 수 있을까요?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359152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rPr/>
              <a:t>super().__init__('lidar_processor')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2359152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5239512" y="2468880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rPr/>
              <a:t>1.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96128" y="2450592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rPr/>
              <a:t>뜻: ROS graph에 표시될 node 이름을 실제로 정합니다.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96128" y="3108960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rPr/>
              <a:t>실행에서: 실행 후 `ros2 node list`에서 이 이름을 찾습니다.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078224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rPr/>
              <a:t>self.declare_parameter('front_half_angle_deg', 15.0)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0" y="4078224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5239512" y="4187952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rPr/>
              <a:t>2.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96128" y="4169663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rPr/>
              <a:t>뜻: 코드 밖에서 바꿀 값을 이름과 기본값으로 등록합니다.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96128" y="4828032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rPr/>
              <a:t>실행에서: launch/CLI parameter를 바꾸면 코드 수정 없이 동작이 달라집니다.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6199632"/>
            <a:ext cx="10698480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5C6672"/>
                </a:solidFill>
                <a:latin typeface="Noto Sans CJK KR"/>
              </a:defRPr>
            </a:pPr>
            <a:r>
              <a:rPr/>
              <a:t>다음 코드 입력 슬라이드에서 이 줄을 발견하면, 방금 설명한 ‘뜻’과 ‘실행에서 보이는 변화’를 다시 말해 봅니다.</a:t>
            </a:r>
          </a:p>
        </p:txBody>
      </p:sp>
    </p:spTree>
  </p:cSld>
  <p:clrMapOvr>
    <a:masterClrMapping/>
  </p:clrMapOvr>
</p:sld>
</file>

<file path=ppt/slides/slide2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3/4: 코드 읽기 (3/5)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짧은 실제 코드 조각을 먼저 읽고, 다음 슬라이드에서 같은 코드를 직접 입력합니다.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기반 AGV End-to-End 개발 커리큘럼 · M15 · Block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코드 해설 3/4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61848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25B9B"/>
                </a:solidFill>
                <a:latin typeface="DejaVu Sans Mono"/>
              </a:defRPr>
            </a:pPr>
            <a:r>
              <a:rPr/>
              <a:t>~/ros2_curri/my_agv_ws/src/agv_sensors/agv_sensors/lidar_processor.py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" y="193852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DB7E22"/>
                </a:solidFill>
                <a:latin typeface="Noto Sans CJK KR"/>
              </a:defRPr>
            </a:pPr>
            <a:r>
              <a:rPr/>
              <a:t>말로 먼저 답해 보세요: 이 줄은 무엇을 만들고, 실행하면 어디에서 확인할 수 있을까요?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359152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rPr/>
              <a:t>self.subscription = self.create_subscription(LaserScan,</a:t>
            </a:r>
            <a:r>
              <a:rPr/>
              <a:t>'/scan', self.callback,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2359152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5239512" y="2468880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rPr/>
              <a:t>1.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96128" y="2450592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rPr/>
              <a:t>뜻: 이 node가 지정 topic의 message를 받아 callback으로 넘깁니다.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96128" y="3108960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rPr/>
              <a:t>실행에서: 입력 topic을 publish하면 callback의 log 또는 출력이 바뀝니다.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078224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rPr/>
              <a:t>self.publisher = self.create_publisher(Float32,</a:t>
            </a:r>
            <a:r>
              <a:rPr/>
              <a:t>'/obstacle_distance', 10)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0" y="4078224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5239512" y="4187952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rPr/>
              <a:t>2.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96128" y="4169663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rPr/>
              <a:t>뜻: 이 node가 어떤 message를 어느 topic으로 내보낼지 만듭니다.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96128" y="4828032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rPr/>
              <a:t>실행에서: 실행 후 `ros2 topic info`에서 publisher 수가 늘어납니다.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6199632"/>
            <a:ext cx="10698480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5C6672"/>
                </a:solidFill>
                <a:latin typeface="Noto Sans CJK KR"/>
              </a:defRPr>
            </a:pPr>
            <a:r>
              <a:rPr/>
              <a:t>다음 코드 입력 슬라이드에서 이 줄을 발견하면, 방금 설명한 ‘뜻’과 ‘실행에서 보이는 변화’를 다시 말해 봅니다.</a:t>
            </a:r>
          </a:p>
        </p:txBody>
      </p:sp>
    </p:spTree>
  </p:cSld>
  <p:clrMapOvr>
    <a:masterClrMapping/>
  </p:clrMapOvr>
</p:sld>
</file>

<file path=ppt/slides/slide2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3/4: 코드 읽기 (4/5)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짧은 실제 코드 조각을 먼저 읽고, 다음 슬라이드에서 같은 코드를 직접 입력합니다.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기반 AGV End-to-End 개발 커리큘럼 · M15 · Block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코드 해설 3/4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61848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25B9B"/>
                </a:solidFill>
                <a:latin typeface="DejaVu Sans Mono"/>
              </a:defRPr>
            </a:pPr>
            <a:r>
              <a:rPr/>
              <a:t>~/ros2_curri/my_agv_ws/src/agv_sensors/agv_sensors/lidar_processor.py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" y="193852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DB7E22"/>
                </a:solidFill>
                <a:latin typeface="Noto Sans CJK KR"/>
              </a:defRPr>
            </a:pPr>
            <a:r>
              <a:rPr/>
              <a:t>말로 먼저 답해 보세요: 이 줄은 무엇을 만들고, 실행하면 어디에서 확인할 수 있을까요?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359152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rPr/>
              <a:t>def callback(self, scan):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2359152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5239512" y="2468880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rPr/>
              <a:t>1.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96128" y="2450592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rPr/>
              <a:t>뜻: 입력 message가 오거나 timer가 울릴 때 실행할 작은 기능 단위입니다.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96128" y="3108960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rPr/>
              <a:t>실행에서: 이 함수 안의 계산·publish가 실제 node의 반응이 됩니다.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078224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rPr/>
              <a:t>half_angle =</a:t>
            </a:r>
            <a:r>
              <a:rPr/>
              <a:t>math.radians(self.get_parameter('front_half_angle_deg').value)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0" y="4078224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5239512" y="4187952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rPr/>
              <a:t>2.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96128" y="4169663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rPr/>
              <a:t>뜻: 등록한 parameter의 현재 값을 읽어 실제 계산에 사용합니다.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96128" y="4828032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rPr/>
              <a:t>실행에서: `ros2 param get` 값이 node 동작에 반영됩니다.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6199632"/>
            <a:ext cx="10698480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5C6672"/>
                </a:solidFill>
                <a:latin typeface="Noto Sans CJK KR"/>
              </a:defRPr>
            </a:pPr>
            <a:r>
              <a:rPr/>
              <a:t>다음 코드 입력 슬라이드에서 이 줄을 발견하면, 방금 설명한 ‘뜻’과 ‘실행에서 보이는 변화’를 다시 말해 봅니다.</a:t>
            </a:r>
          </a:p>
        </p:txBody>
      </p:sp>
    </p:spTree>
  </p:cSld>
  <p:clrMapOvr>
    <a:masterClrMapping/>
  </p:clrMapOvr>
</p:sld>
</file>

<file path=ppt/slides/slide2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3/4: 코드 읽기 (5/5)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짧은 실제 코드 조각을 먼저 읽고, 다음 슬라이드에서 같은 코드를 직접 입력합니다.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기반 AGV End-to-End 개발 커리큘럼 · M15 · Block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코드 해설 3/4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61848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25B9B"/>
                </a:solidFill>
                <a:latin typeface="DejaVu Sans Mono"/>
              </a:defRPr>
            </a:pPr>
            <a:r>
              <a:rPr/>
              <a:t>~/ros2_curri/my_agv_ws/src/agv_sensors/agv_sensors/lidar_processor.py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" y="193852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DB7E22"/>
                </a:solidFill>
                <a:latin typeface="Noto Sans CJK KR"/>
              </a:defRPr>
            </a:pPr>
            <a:r>
              <a:rPr/>
              <a:t>말로 먼저 답해 보세요: 이 줄은 무엇을 만들고, 실행하면 어디에서 확인할 수 있을까요?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359152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rPr/>
              <a:t>self.publisher.publish(result)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2359152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5239512" y="2468880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rPr/>
              <a:t>1.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96128" y="2450592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rPr/>
              <a:t>뜻: 완성한 message를 지금 topic으로 한 번 전송합니다.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96128" y="3108960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rPr/>
              <a:t>실행에서: 다른 terminal의 `ros2 topic echo`에서 같은 값이 보입니다.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6199632"/>
            <a:ext cx="10698480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5C6672"/>
                </a:solidFill>
                <a:latin typeface="Noto Sans CJK KR"/>
              </a:defRPr>
            </a:pPr>
            <a:r>
              <a:rPr/>
              <a:t>다음 코드 입력 슬라이드에서 이 줄을 발견하면, 방금 설명한 ‘뜻’과 ‘실행에서 보이는 변화’를 다시 말해 봅니다.</a:t>
            </a:r>
          </a:p>
        </p:txBody>
      </p:sp>
    </p:spTree>
  </p:cSld>
  <p:clrMapOvr>
    <a:masterClrMapping/>
  </p:clrMapOvr>
</p:sld>
</file>

<file path=ppt/slides/slide2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3/4: 코드 입력 (1/3)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~/ros2_curri/my_agv_ws/src/agv_sensors/agv_sensors/lidar_processor.py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기반 AGV End-to-End 개발 커리큘럼 · M15 · Block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파일 3/4 · 입력 1/3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 블록이 하는 일: 필요한 ROS message와 Node 도구를 import하고, node의 입력·출력 이름을 먼저 정합니다.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rPr/>
              <a:t>현재 열린 파일: ~/ros2_curri/my_agv_ws/src/agv_sensors/agv_sensors/lidar_processor.py</a:t>
            </a:r>
            <a:r>
              <a:rPr/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73152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import math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import rclpy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from rclpy.node import Node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from rclpy.qos import qos_profile_sensor_data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from sensor_msgs.msg import LaserScan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from std_msgs.msg import Float32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class LidarProcessor(Node):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def __init__(self):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super().__init__('lidar_processor')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self.declare_parameter('front_half_angle_deg', 15.0)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입력 1/3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2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3/4: 코드 입력 (2/3)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~/ros2_curri/my_agv_ws/src/agv_sensors/agv_sensors/lidar_processor.py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기반 AGV End-to-End 개발 커리큘럼 · M15 · Block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파일 3/4 · 입력 2/3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 블록이 하는 일: 앞에서 만든 node에 처리 로직과 publish/subscription 연결을 한 덩어리씩 추가합니다.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rPr/>
              <a:t>현재 열린 파일: ~/ros2_curri/my_agv_ws/src/agv_sensors/agv_sensors/lidar_processor.py</a:t>
            </a:r>
            <a:r>
              <a:rPr/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73152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self.subscription = self.create_subscription(LaserScan, '/scan', self.callback,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  qos_profile_sensor_data)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self.publisher = self.create_publisher(Float32, '/obstacle_distance', 10)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def callback(self, scan):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half_angle = math.radians(self.get_parameter('front_half_angle_deg').value)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front_ranges = [distance for index,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  distance in enumerate(scan.ranges) if abs(scan.angle_min + index * scan.angle_increment) &lt;= half_angle and math.isfinite(distance)]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result = Float32(data=min(front_ranges) if front_ranges else float('inf'))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self.publisher.publish(result)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def main():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입력 2/3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2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3/4: 코드 입력 (3/3)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~/ros2_curri/my_agv_ws/src/agv_sensors/agv_sensors/lidar_processor.py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기반 AGV End-to-End 개발 커리큘럼 · M15 · Block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파일 3/4 · 입력 3/3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 블록이 하는 일: 마지막 callback·timer·main을 입력해 node가 실제로 시작하고 계속 동작하게 만듭니다.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rPr/>
              <a:t>현재 열린 파일: ~/ros2_curri/my_agv_ws/src/agv_sensors/agv_sensors/lidar_processor.py</a:t>
            </a:r>
            <a:r>
              <a:rPr/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73152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rclpy.init()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node = LidarProcessor()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try: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rclpy.spin(node)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except KeyboardInterrupt: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pass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finally: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node.destroy_node()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if rclpy.ok():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  rclpy.shutdown()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입력 3/3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2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4/4: 폴더를 만들고 빈 파일을 연다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파일을 먼저 만든 뒤, 다음 슬라이드의 코드 블록을 위에서 아래로 직접 입력합니다.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기반 AGV End-to-End 개발 커리큘럼 · M15 · Block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파일 생성 4/4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19072"/>
            <a:ext cx="141732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25B9B"/>
                </a:solidFill>
                <a:latin typeface="Noto Sans CJK KR"/>
              </a:defRPr>
            </a:pPr>
            <a:r>
              <a:rPr/>
              <a:t>이번 파일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719072"/>
            <a:ext cx="923544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DejaVu Sans Mono"/>
              </a:defRPr>
            </a:pPr>
            <a:r>
              <a:rPr/>
              <a:t>~/ros2_curri/my_agv_ws/src/agv_sensors/agv_sensors/imu_monitor.py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103120"/>
            <a:ext cx="141732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A8B5A"/>
                </a:solidFill>
                <a:latin typeface="Noto Sans CJK KR"/>
              </a:defRPr>
            </a:pPr>
            <a:r>
              <a:rPr/>
              <a:t>만드는 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2103120"/>
            <a:ext cx="923544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122C4E"/>
                </a:solidFill>
                <a:latin typeface="Noto Sans CJK KR"/>
              </a:defRPr>
            </a:pPr>
            <a:r>
              <a:rPr/>
              <a:t>IMU frame·각속도·가속도를 단위와 함께 출력하는 진단 노드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6656" y="2852928"/>
            <a:ext cx="10881360" cy="1682496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rPr/>
              <a:t>mkdir -p ~/ros2_curri/my_agv_ws/src/agv_sensors/agv_sensors</a:t>
            </a:r>
          </a:p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rPr/>
              <a:t>nano ~/ros2_curri/my_agv_ws/src/agv_sensors/agv_sensors/imu_monitor.py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4901184"/>
            <a:ext cx="10241280" cy="32918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DB7E22"/>
                </a:solidFill>
                <a:latin typeface="Noto Sans CJK KR"/>
              </a:defRPr>
            </a:pPr>
            <a:r>
              <a:rPr/>
              <a:t>nano 저장: Ctrl+O → Enter → Ctrl+X  |  파일이 열리면 아직 비어 있는 것이 정상입니다.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5504688"/>
            <a:ext cx="10241280" cy="32918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2A8B5A"/>
                </a:solidFill>
                <a:latin typeface="Noto Sans CJK KR"/>
              </a:defRPr>
            </a:pPr>
            <a:r>
              <a:rPr/>
              <a:t>다음 단계의 확인 화면: IMU terminal의 frame_id와 publish rate</a:t>
            </a:r>
          </a:p>
        </p:txBody>
      </p:sp>
    </p:spTree>
  </p:cSld>
  <p:clrMapOvr>
    <a:masterClrMapping/>
  </p:clrMapOvr>
</p:sld>
</file>

<file path=ppt/slides/slide2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4/4: 코드 읽기 (1/5)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짧은 실제 코드 조각을 먼저 읽고, 다음 슬라이드에서 같은 코드를 직접 입력합니다.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기반 AGV End-to-End 개발 커리큘럼 · M15 · Block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코드 해설 4/4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61848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25B9B"/>
                </a:solidFill>
                <a:latin typeface="DejaVu Sans Mono"/>
              </a:defRPr>
            </a:pPr>
            <a:r>
              <a:rPr/>
              <a:t>~/ros2_curri/my_agv_ws/src/agv_sensors/agv_sensors/imu_monitor.py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" y="193852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DB7E22"/>
                </a:solidFill>
                <a:latin typeface="Noto Sans CJK KR"/>
              </a:defRPr>
            </a:pPr>
            <a:r>
              <a:rPr/>
              <a:t>말로 먼저 답해 보세요: 이 줄은 무엇을 만들고, 실행하면 어디에서 확인할 수 있을까요?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359152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rPr/>
              <a:t>import rclpy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2359152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5239512" y="2468880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rPr/>
              <a:t>1.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96128" y="2450592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rPr/>
              <a:t>뜻: 다른 파일에 이미 있는 도구를 이 파일에서 쓰겠다고 가져옵니다.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96128" y="3108960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rPr/>
              <a:t>실행에서: 이 import가 빠지면 실행 전에 이름을 찾지 못했다는 오류가 납니다.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078224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rPr/>
              <a:t>class ImuMonitor(Node):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0" y="4078224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5239512" y="4187952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rPr/>
              <a:t>2.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96128" y="4169663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rPr/>
              <a:t>뜻: 이 Node가 가질 변수와 callback을 한 덩어리로 묶는 설계도입니다.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96128" y="4828032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rPr/>
              <a:t>실행에서: 아래 초기화·callback이 모두 이 node 한 개의 동작이 됩니다.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6199632"/>
            <a:ext cx="10698480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5C6672"/>
                </a:solidFill>
                <a:latin typeface="Noto Sans CJK KR"/>
              </a:defRPr>
            </a:pPr>
            <a:r>
              <a:rPr/>
              <a:t>다음 코드 입력 슬라이드에서 이 줄을 발견하면, 방금 설명한 ‘뜻’과 ‘실행에서 보이는 변화’를 다시 말해 봅니다.</a:t>
            </a:r>
          </a:p>
        </p:txBody>
      </p:sp>
    </p:spTree>
  </p:cSld>
  <p:clrMapOvr>
    <a:masterClrMapping/>
  </p:clrMapOvr>
</p:sld>
</file>

<file path=ppt/slides/slide2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4/4: 코드 읽기 (2/5)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짧은 실제 코드 조각을 먼저 읽고, 다음 슬라이드에서 같은 코드를 직접 입력합니다.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기반 AGV End-to-End 개발 커리큘럼 · M15 · Block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코드 해설 4/4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61848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25B9B"/>
                </a:solidFill>
                <a:latin typeface="DejaVu Sans Mono"/>
              </a:defRPr>
            </a:pPr>
            <a:r>
              <a:rPr/>
              <a:t>~/ros2_curri/my_agv_ws/src/agv_sensors/agv_sensors/imu_monitor.py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" y="193852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DB7E22"/>
                </a:solidFill>
                <a:latin typeface="Noto Sans CJK KR"/>
              </a:defRPr>
            </a:pPr>
            <a:r>
              <a:rPr/>
              <a:t>말로 먼저 답해 보세요: 이 줄은 무엇을 만들고, 실행하면 어디에서 확인할 수 있을까요?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359152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rPr/>
              <a:t>super().__init__('imu_monitor')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2359152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5239512" y="2468880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rPr/>
              <a:t>1.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96128" y="2450592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rPr/>
              <a:t>뜻: ROS graph에 표시될 node 이름을 실제로 정합니다.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96128" y="3108960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rPr/>
              <a:t>실행에서: 실행 후 `ros2 node list`에서 이 이름을 찾습니다.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078224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rPr/>
              <a:t>self.create_subscription(Imu, '/imu/data', self.callback,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0" y="4078224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5239512" y="4187952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rPr/>
              <a:t>2.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96128" y="4169663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rPr/>
              <a:t>뜻: 이 node가 지정 topic의 message를 받아 callback으로 넘깁니다.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96128" y="4828032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rPr/>
              <a:t>실행에서: 입력 topic을 publish하면 callback의 log 또는 출력이 바뀝니다.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6199632"/>
            <a:ext cx="10698480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5C6672"/>
                </a:solidFill>
                <a:latin typeface="Noto Sans CJK KR"/>
              </a:defRPr>
            </a:pPr>
            <a:r>
              <a:rPr/>
              <a:t>다음 코드 입력 슬라이드에서 이 줄을 발견하면, 방금 설명한 ‘뜻’과 ‘실행에서 보이는 변화’를 다시 말해 봅니다.</a:t>
            </a:r>
          </a:p>
        </p:txBody>
      </p:sp>
    </p:spTree>
  </p:cSld>
  <p:clrMapOvr>
    <a:masterClrMapping/>
  </p:clrMapOvr>
</p:sld>
</file>

<file path=ppt/slides/slide2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4/4: 코드 읽기 (3/5)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짧은 실제 코드 조각을 먼저 읽고, 다음 슬라이드에서 같은 코드를 직접 입력합니다.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기반 AGV End-to-End 개발 커리큘럼 · M15 · Block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코드 해설 4/4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61848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25B9B"/>
                </a:solidFill>
                <a:latin typeface="DejaVu Sans Mono"/>
              </a:defRPr>
            </a:pPr>
            <a:r>
              <a:rPr/>
              <a:t>~/ros2_curri/my_agv_ws/src/agv_sensors/agv_sensors/imu_monitor.py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" y="193852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DB7E22"/>
                </a:solidFill>
                <a:latin typeface="Noto Sans CJK KR"/>
              </a:defRPr>
            </a:pPr>
            <a:r>
              <a:rPr/>
              <a:t>말로 먼저 답해 보세요: 이 줄은 무엇을 만들고, 실행하면 어디에서 확인할 수 있을까요?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359152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rPr/>
              <a:t>def callback(self, message):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2359152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5239512" y="2468880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rPr/>
              <a:t>1.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96128" y="2450592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rPr/>
              <a:t>뜻: 입력 message가 오거나 timer가 울릴 때 실행할 작은 기능 단위입니다.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96128" y="3108960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rPr/>
              <a:t>실행에서: 이 함수 안의 계산·publish가 실제 node의 반응이 됩니다.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078224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rPr/>
              <a:t>self.get_logger().info('gyro z=%.3f rad/s, acceleration</a:t>
            </a:r>
            <a:r>
              <a:rPr/>
              <a:t>z=%.3f m/s²,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0" y="4078224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5239512" y="4187952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rPr/>
              <a:t>2.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96128" y="4169663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rPr/>
              <a:t>뜻: 현재 상태나 계산 결과를 사람이 볼 수 있게 terminal에 남깁니다.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96128" y="4828032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rPr/>
              <a:t>실행에서: node를 실행한 terminal에서 이 문장이 출력됩니다.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6199632"/>
            <a:ext cx="10698480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5C6672"/>
                </a:solidFill>
                <a:latin typeface="Noto Sans CJK KR"/>
              </a:defRPr>
            </a:pPr>
            <a:r>
              <a:rPr/>
              <a:t>다음 코드 입력 슬라이드에서 이 줄을 발견하면, 방금 설명한 ‘뜻’과 ‘실행에서 보이는 변화’를 다시 말해 봅니다.</a:t>
            </a:r>
          </a:p>
        </p:txBody>
      </p:sp>
    </p:spTree>
  </p:cSld>
  <p:clrMapOvr>
    <a:masterClrMapping/>
  </p:clrMapOvr>
</p:sld>
</file>

<file path=ppt/slides/slide2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4/4: 코드 읽기 (4/5)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짧은 실제 코드 조각을 먼저 읽고, 다음 슬라이드에서 같은 코드를 직접 입력합니다.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기반 AGV End-to-End 개발 커리큘럼 · M15 · Block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코드 해설 4/4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61848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25B9B"/>
                </a:solidFill>
                <a:latin typeface="DejaVu Sans Mono"/>
              </a:defRPr>
            </a:pPr>
            <a:r>
              <a:rPr/>
              <a:t>~/ros2_curri/my_agv_ws/src/agv_sensors/agv_sensors/imu_monitor.py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" y="193852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DB7E22"/>
                </a:solidFill>
                <a:latin typeface="Noto Sans CJK KR"/>
              </a:defRPr>
            </a:pPr>
            <a:r>
              <a:rPr/>
              <a:t>말로 먼저 답해 보세요: 이 줄은 무엇을 만들고, 실행하면 어디에서 확인할 수 있을까요?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359152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rPr/>
              <a:t>rclpy.init()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2359152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5239512" y="2468880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rPr/>
              <a:t>1.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96128" y="2450592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rPr/>
              <a:t>뜻: Python 프로그램을 ROS 2 통신에 참여시키는 첫 준비입니다.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96128" y="3108960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rPr/>
              <a:t>실행에서: 이 호출 전에는 node·publisher·subscription을 정상 생성할 수 없습니다.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078224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rPr/>
              <a:t>rclpy.spin(node)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0" y="4078224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5239512" y="4187952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rPr/>
              <a:t>2.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96128" y="4169663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rPr/>
              <a:t>뜻: 프로그램이 끝나지 않고 message와 timer를 계속 처리하게 합니다.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96128" y="4828032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rPr/>
              <a:t>실행에서: 이 줄이 있어야 실행 뒤 topic을 받고 publish를 계속합니다.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6199632"/>
            <a:ext cx="10698480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5C6672"/>
                </a:solidFill>
                <a:latin typeface="Noto Sans CJK KR"/>
              </a:defRPr>
            </a:pPr>
            <a:r>
              <a:rPr/>
              <a:t>다음 코드 입력 슬라이드에서 이 줄을 발견하면, 방금 설명한 ‘뜻’과 ‘실행에서 보이는 변화’를 다시 말해 봅니다.</a:t>
            </a:r>
          </a:p>
        </p:txBody>
      </p:sp>
    </p:spTree>
  </p:cSld>
  <p:clrMapOvr>
    <a:masterClrMapping/>
  </p:clrMapOvr>
</p:sld>
</file>

<file path=ppt/slides/slide2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4/4: 코드 읽기 (5/5)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짧은 실제 코드 조각을 먼저 읽고, 다음 슬라이드에서 같은 코드를 직접 입력합니다.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기반 AGV End-to-End 개발 커리큘럼 · M15 · Block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코드 해설 4/4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61848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25B9B"/>
                </a:solidFill>
                <a:latin typeface="DejaVu Sans Mono"/>
              </a:defRPr>
            </a:pPr>
            <a:r>
              <a:rPr/>
              <a:t>~/ros2_curri/my_agv_ws/src/agv_sensors/agv_sensors/imu_monitor.py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" y="193852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DB7E22"/>
                </a:solidFill>
                <a:latin typeface="Noto Sans CJK KR"/>
              </a:defRPr>
            </a:pPr>
            <a:r>
              <a:rPr/>
              <a:t>말로 먼저 답해 보세요: 이 줄은 무엇을 만들고, 실행하면 어디에서 확인할 수 있을까요?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359152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rPr/>
              <a:t>node.destroy_node()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2359152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5239512" y="2468880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rPr/>
              <a:t>1.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96128" y="2450592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rPr/>
              <a:t>뜻: node와 ROS 통신을 안전하게 닫는 마무리 단계입니다.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96128" y="3108960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rPr/>
              <a:t>실행에서: Ctrl+C 또는 종료 뒤 자원이 정리됩니다.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6199632"/>
            <a:ext cx="10698480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5C6672"/>
                </a:solidFill>
                <a:latin typeface="Noto Sans CJK KR"/>
              </a:defRPr>
            </a:pPr>
            <a:r>
              <a:rPr/>
              <a:t>다음 코드 입력 슬라이드에서 이 줄을 발견하면, 방금 설명한 ‘뜻’과 ‘실행에서 보이는 변화’를 다시 말해 봅니다.</a:t>
            </a:r>
          </a:p>
        </p:txBody>
      </p:sp>
    </p:spTree>
  </p:cSld>
  <p:clrMapOvr>
    <a:masterClrMapping/>
  </p:clrMapOvr>
</p:sld>
</file>

<file path=ppt/slides/slide2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4/4: 코드 입력 (1/3)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~/ros2_curri/my_agv_ws/src/agv_sensors/agv_sensors/imu_monitor.py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기반 AGV End-to-End 개발 커리큘럼 · M15 · Block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파일 4/4 · 입력 1/3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 블록이 하는 일: 필요한 ROS message와 Node 도구를 import하고, node의 입력·출력 이름을 먼저 정합니다.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rPr/>
              <a:t>현재 열린 파일: ~/ros2_curri/my_agv_ws/src/agv_sensors/agv_sensors/imu_monitor.py</a:t>
            </a:r>
            <a:r>
              <a:rPr/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73152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import rclpy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from rclpy.node import Node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from rclpy.qos import qos_profile_sensor_data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from sensor_msgs.msg import Imu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class ImuMonitor(Node):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def __init__(self):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super().__init__('imu_monitor')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self.create_subscription(Imu, '/imu/data', self.callback,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  qos_profile_sensor_data)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입력 1/3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2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4/4: 코드 입력 (2/3)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~/ros2_curri/my_agv_ws/src/agv_sensors/agv_sensors/imu_monitor.py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기반 AGV End-to-End 개발 커리큘럼 · M15 · Block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파일 4/4 · 입력 2/3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 블록이 하는 일: 앞에서 만든 node에 처리 로직과 publish/subscription 연결을 한 덩어리씩 추가합니다.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rPr/>
              <a:t>현재 열린 파일: ~/ros2_curri/my_agv_ws/src/agv_sensors/agv_sensors/imu_monitor.py</a:t>
            </a:r>
            <a:r>
              <a:rPr/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73152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def callback(self, message):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self.get_logger().info('gyro z=%.3f rad/s, acceleration z=%.3f m/s²,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  frame=%s' % (message.angular_velocity.z, message.linear_acceleration.z,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  message.header.frame_id), throttle_duration_sec=1.0)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def main():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rclpy.init()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node = ImuMonitor()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try: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rclpy.spin(node)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except KeyboardInterrupt: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pass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입력 2/3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2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4/4: 코드 입력 (3/3)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~/ros2_curri/my_agv_ws/src/agv_sensors/agv_sensors/imu_monitor.py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기반 AGV End-to-End 개발 커리큘럼 · M15 · Block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파일 4/4 · 입력 3/3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 블록이 하는 일: 마지막 callback·timer·main을 입력해 node가 실제로 시작하고 계속 동작하게 만듭니다.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rPr/>
              <a:t>현재 열린 파일: ~/ros2_curri/my_agv_ws/src/agv_sensors/agv_sensors/imu_monitor.py</a:t>
            </a:r>
            <a:r>
              <a:rPr/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73152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finally: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node.destroy_node()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if rclpy.ok():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  rclpy.shutdown()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입력 3/3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2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뒤 실행 1/2: 시뮬레이션 시간을 설정한다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방금 직접 만든 파일을 실행·검사하며 다음 파일로 넘어갈 기준을 만듭니다.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기반 AGV End-to-End 개발 커리큘럼 · M15 · Block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실행 1/2    |    현재 폴더 ~/ros2_curri/my_agv_ws    |    터미널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1719072"/>
            <a:ext cx="169164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225B9B"/>
                </a:solidFill>
                <a:latin typeface="Noto Sans CJK KR"/>
              </a:defRPr>
            </a:pPr>
            <a:r>
              <a:rPr/>
              <a:t>명령의 목적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" y="2002536"/>
            <a:ext cx="10789920" cy="51206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0">
                <a:solidFill>
                  <a:srgbClr val="122C4E"/>
                </a:solidFill>
                <a:latin typeface="Noto Sans CJK KR"/>
              </a:defRPr>
            </a:pPr>
            <a:r>
              <a:rPr/>
              <a:t>Gazebo /clock을 안 쓰면 sensor timestamp와 node 시간이 어긋날 수 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" y="2816352"/>
            <a:ext cx="1083564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225B9B"/>
                </a:solidFill>
                <a:latin typeface="Noto Sans CJK KR"/>
              </a:defRPr>
            </a:pPr>
            <a:r>
              <a:rPr/>
              <a:t>터미널 1 — 아래 검은 블록은 명령만 복사합니다.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6656" y="3154680"/>
            <a:ext cx="10835640" cy="1938528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rPr/>
              <a:t>ros2 param get /lidar_processor use_sim_time</a:t>
            </a:r>
          </a:p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rPr/>
              <a:t>ros2 topic echo /clock --once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5276088"/>
            <a:ext cx="1056132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2A8B5A"/>
                </a:solidFill>
                <a:latin typeface="Noto Sans CJK KR"/>
              </a:defRPr>
            </a:pPr>
            <a:r>
              <a:rPr/>
              <a:t>터미널 1 역할: 다른 터미널의 실행 결과를 이 창에서 관찰·검증합니다.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5916168"/>
            <a:ext cx="1056132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122C4E"/>
                </a:solidFill>
                <a:latin typeface="Noto Sans CJK KR"/>
              </a:defRPr>
            </a:pPr>
            <a:r>
              <a:rPr/>
              <a:t>확인: 출력에서 topic·frame·파일 이름 또는 성공 메시지를 찾고, 맞지 않으면 다음 파일로 가지 않습니다.</a:t>
            </a:r>
          </a:p>
        </p:txBody>
      </p:sp>
    </p:spTree>
  </p:cSld>
  <p:clrMapOvr>
    <a:masterClrMapping/>
  </p:clrMapOvr>
</p:sld>
</file>

<file path=ppt/slides/slide2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뒤 실행 2/2: rate와 QoS를 점검한다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방금 직접 만든 파일을 실행·검사하며 다음 파일로 넘어갈 기준을 만듭니다.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기반 AGV End-to-End 개발 커리큘럼 · M15 · Block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실행 2/2    |    현재 폴더 ~/ros2_curri/my_agv_ws    |    터미널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1719072"/>
            <a:ext cx="169164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225B9B"/>
                </a:solidFill>
                <a:latin typeface="Noto Sans CJK KR"/>
              </a:defRPr>
            </a:pPr>
            <a:r>
              <a:rPr/>
              <a:t>명령의 목적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" y="2002536"/>
            <a:ext cx="10789920" cy="51206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0">
                <a:solidFill>
                  <a:srgbClr val="122C4E"/>
                </a:solidFill>
                <a:latin typeface="Noto Sans CJK KR"/>
              </a:defRPr>
            </a:pPr>
            <a:r>
              <a:rPr/>
              <a:t>topic이 있어도 QoS가 호환되지 않으면 callback이 받지 못할 수 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" y="2816352"/>
            <a:ext cx="1083564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225B9B"/>
                </a:solidFill>
                <a:latin typeface="Noto Sans CJK KR"/>
              </a:defRPr>
            </a:pPr>
            <a:r>
              <a:rPr/>
              <a:t>터미널 1 — 아래 검은 블록은 명령만 복사합니다.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6656" y="3154680"/>
            <a:ext cx="10835640" cy="1938528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rPr/>
              <a:t>ros2 topic hz /scan</a:t>
            </a:r>
          </a:p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rPr/>
              <a:t>ros2 topic hz /imu/data</a:t>
            </a:r>
          </a:p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rPr/>
              <a:t>ros2 topic info --verbose /scan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5276088"/>
            <a:ext cx="1056132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2A8B5A"/>
                </a:solidFill>
                <a:latin typeface="Noto Sans CJK KR"/>
              </a:defRPr>
            </a:pPr>
            <a:r>
              <a:rPr/>
              <a:t>터미널 1 역할: 다른 터미널의 실행 결과를 이 창에서 관찰·검증합니다.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5916168"/>
            <a:ext cx="1056132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122C4E"/>
                </a:solidFill>
                <a:latin typeface="Noto Sans CJK KR"/>
              </a:defRPr>
            </a:pPr>
            <a:r>
              <a:rPr/>
              <a:t>확인: 출력에서 topic·frame·파일 이름 또는 성공 메시지를 찾고, 맞지 않으면 다음 파일로 가지 않습니다.</a:t>
            </a:r>
          </a:p>
        </p:txBody>
      </p:sp>
    </p:spTree>
  </p:cSld>
  <p:clrMapOvr>
    <a:masterClrMapping/>
  </p:clrMapOvr>
</p:sld>
</file>

<file path=ppt/slides/slide2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build → source → run 순서로 실행한다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새 파일 또는 수정 파일은 build와 source 뒤에만 실행 이름·설정에 반영됩니다.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기반 AGV End-to-End 개발 커리큘럼 · M15 · Block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실행    |    현재 폴더 ~/ros2_curri/my_agv_ws    |    터미널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1719072"/>
            <a:ext cx="169164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225B9B"/>
                </a:solidFill>
                <a:latin typeface="Noto Sans CJK KR"/>
              </a:defRPr>
            </a:pPr>
            <a:r>
              <a:rPr/>
              <a:t>명령의 목적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" y="2002536"/>
            <a:ext cx="10789920" cy="51206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0">
                <a:solidFill>
                  <a:srgbClr val="122C4E"/>
                </a:solidFill>
                <a:latin typeface="Noto Sans CJK KR"/>
              </a:defRPr>
            </a:pPr>
            <a:r>
              <a:rPr/>
              <a:t>명령 순서를 바꾸지 않습니다. build가 끝난 뒤 source하고, 마지막 명령으로 node·Gazebo·RViz를 실행합니다.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" y="2816352"/>
            <a:ext cx="1083564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225B9B"/>
                </a:solidFill>
                <a:latin typeface="Noto Sans CJK KR"/>
              </a:defRPr>
            </a:pPr>
            <a:r>
              <a:rPr/>
              <a:t>터미널 1 — 아래 검은 블록은 명령만 복사합니다.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6656" y="3154680"/>
            <a:ext cx="10835640" cy="1938528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rPr/>
              <a:t>ros2 launch agv_bringup agv_sim.launch.py rviz:=false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5276088"/>
            <a:ext cx="1056132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2A8B5A"/>
                </a:solidFill>
                <a:latin typeface="Noto Sans CJK KR"/>
              </a:defRPr>
            </a:pPr>
            <a:r>
              <a:rPr/>
              <a:t>터미널 1 역할: 시뮬레이터·bridge·node를 먼저 시작한 뒤 이 창은 종료하지 않고 둡니다.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5916168"/>
            <a:ext cx="1056132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122C4E"/>
                </a:solidFill>
                <a:latin typeface="Noto Sans CJK KR"/>
              </a:defRPr>
            </a:pPr>
            <a:r>
              <a:rPr/>
              <a:t>확인: 모든 sensor 노드가 같은 시뮬레이션 시간과 기대 publish rate를 사용한다.</a:t>
            </a:r>
          </a:p>
        </p:txBody>
      </p:sp>
    </p:spTree>
  </p:cSld>
  <p:clrMapOvr>
    <a:masterClrMapping/>
  </p:clrMapOvr>
</p:sld>
</file>

<file path=ppt/slides/slide2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정상 결과: 실제 환경에서 확인한 출력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실제 terminal: Camera topic의 type·연결 수·실측 rate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기반 AGV End-to-End 개발 커리큘럼 · M15 · Block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9770" y="1353312"/>
            <a:ext cx="6609411" cy="4800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" y="6144768"/>
            <a:ext cx="10607040" cy="31089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2A8B5A"/>
                </a:solidFill>
                <a:latin typeface="Noto Sans CJK KR"/>
              </a:defRPr>
            </a:pPr>
            <a:r>
              <a:rPr/>
              <a:t>화면에서 확인: camera가 message를 내보내고 있는지 type·publisher·rate로 확인합니다.</a:t>
            </a:r>
          </a:p>
        </p:txBody>
      </p:sp>
    </p:spTree>
  </p:cSld>
  <p:clrMapOvr>
    <a:masterClrMapping/>
  </p:clrMapOvr>
</p:sld>
</file>

<file path=ppt/slides/slide3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정상 결과: 실제 환경에서 확인한 출력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실제 terminal: LiDAR의 frame·range·실측 rate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기반 AGV End-to-End 개발 커리큘럼 · M15 · Block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9770" y="1353312"/>
            <a:ext cx="6609411" cy="4800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" y="6144768"/>
            <a:ext cx="10607040" cy="31089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2A8B5A"/>
                </a:solidFill>
                <a:latin typeface="Noto Sans CJK KR"/>
              </a:defRPr>
            </a:pPr>
            <a:r>
              <a:rPr/>
              <a:t>화면에서 확인: SDF 설정값과 실제 range/angle/rate가 논리적으로 맞는지 대조합니다.</a:t>
            </a:r>
          </a:p>
        </p:txBody>
      </p:sp>
    </p:spTree>
  </p:cSld>
  <p:clrMapOvr>
    <a:masterClrMapping/>
  </p:clrMapOvr>
</p:sld>
</file>

<file path=ppt/slides/slide3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정상 결과: 실제 환경에서 확인한 출력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실제 terminal: IMU frame·필드·실측 rate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기반 AGV End-to-End 개발 커리큘럼 · M15 · Block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9770" y="1353312"/>
            <a:ext cx="6609411" cy="4800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" y="6144768"/>
            <a:ext cx="10607040" cy="31089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2A8B5A"/>
                </a:solidFill>
                <a:latin typeface="Noto Sans CJK KR"/>
              </a:defRPr>
            </a:pPr>
            <a:r>
              <a:rPr/>
              <a:t>화면에서 확인: IMU도 같은 simulation 시간에 갱신되는지 average rate를 확인합니다.</a:t>
            </a:r>
          </a:p>
        </p:txBody>
      </p:sp>
    </p:spTree>
  </p:cSld>
  <p:clrMapOvr>
    <a:masterClrMapping/>
  </p:clrMapOvr>
</p:sld>
</file>

<file path=ppt/slides/slide3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정상 결과: 실제 환경에서 확인한 출력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실제 RViz2: sensor display를 같은 Fixed Frame에서 대조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기반 AGV End-to-End 개발 커리큘럼 · M15 · Block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1409" y="1353312"/>
            <a:ext cx="6246133" cy="4800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" y="6144768"/>
            <a:ext cx="10607040" cy="31089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2A8B5A"/>
                </a:solidFill>
                <a:latin typeface="Noto Sans CJK KR"/>
              </a:defRPr>
            </a:pPr>
            <a:r>
              <a:rPr/>
              <a:t>화면에서 확인: camera·LiDAR·IMU 각각을 화면·terminal·frame 기준으로 교차 확인합니다.</a:t>
            </a:r>
          </a:p>
        </p:txBody>
      </p:sp>
    </p:spTree>
  </p:cSld>
  <p:clrMapOvr>
    <a:masterClrMapping/>
  </p:clrMapOvr>
</p:sld>
</file>

<file path=ppt/slides/slide3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정상 결과: 실제 환경에서 확인한 출력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실제 ROS 2 환경의 파일·패키지·구성 검증 로그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기반 AGV End-to-End 개발 커리큘럼 · M15 · Block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56" y="1453970"/>
            <a:ext cx="10607040" cy="459928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" y="6144768"/>
            <a:ext cx="10607040" cy="31089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2A8B5A"/>
                </a:solidFill>
                <a:latin typeface="Noto Sans CJK KR"/>
              </a:defRPr>
            </a:pPr>
            <a:r>
              <a:rPr/>
              <a:t>화면에서 확인: ① 명령/설정  ② 정상 출력 또는 화면  ③ 다음 검증 명령으로 재확인</a:t>
            </a:r>
          </a:p>
        </p:txBody>
      </p:sp>
    </p:spTree>
  </p:cSld>
  <p:clrMapOvr>
    <a:masterClrMapping/>
  </p:clrMapOvr>
</p:sld>
</file>

<file path=ppt/slides/slide3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객관적 검증 명령으로 완료를 확인한다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화면만 보지 말고 topic·frame·파일·parameter를 다시 확인합니다.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기반 AGV End-to-End 개발 커리큘럼 · M15 · Block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검증    |    현재 폴더 ~/ros2_curri/my_agv_ws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755648"/>
            <a:ext cx="10972800" cy="214884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rPr/>
              <a:t>ros2 topic echo /clock --once</a:t>
            </a:r>
          </a:p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rPr/>
              <a:t>ros2 topic hz /scan</a:t>
            </a:r>
          </a:p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rPr/>
              <a:t>ros2 topic hz /imu/data</a:t>
            </a:r>
          </a:p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rPr/>
              <a:t>ros2 param get /lidar_processor use_sim_time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4206240"/>
            <a:ext cx="10972800" cy="1554480"/>
          </a:xfrm>
          <a:prstGeom prst="roundRect">
            <a:avLst/>
          </a:prstGeom>
          <a:solidFill>
            <a:srgbClr val="F4F7FB"/>
          </a:solidFill>
          <a:ln>
            <a:solidFill>
              <a:srgbClr val="D1DF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800" b="1">
                <a:solidFill>
                  <a:srgbClr val="2A8B5A"/>
                </a:solidFill>
                <a:latin typeface="Noto Sans CJK KR"/>
              </a:defRPr>
            </a:pPr>
            <a:r>
              <a:rPr/>
              <a:t>완료 체크</a:t>
            </a:r>
            <a:r>
              <a:rPr/>
              <a:t>□ 명령이 오류 없이 실행된다.</a:t>
            </a:r>
            <a:r>
              <a:rPr/>
              <a:t>□ 기대한 파일·topic·frame·parameter 이름이 보인다.</a:t>
            </a:r>
            <a:r>
              <a:rPr/>
              <a:t>□ 값의 단위와 방향을 한 문장으로 설명할 수 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989320"/>
            <a:ext cx="10789920" cy="23774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22C4E"/>
                </a:solidFill>
                <a:latin typeface="Noto Sans CJK KR"/>
              </a:defRPr>
            </a:pPr>
            <a:r>
              <a:rPr/>
              <a:t>완료 조건: 모든 sensor 노드가 같은 시뮬레이션 시간과 기대 publish rate를 사용한다.</a:t>
            </a:r>
          </a:p>
        </p:txBody>
      </p:sp>
    </p:spTree>
  </p:cSld>
  <p:clrMapOvr>
    <a:masterClrMapping/>
  </p:clrMapOvr>
</p:sld>
</file>

<file path=ppt/slides/slide3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막히면: 증상 → 우선 확인 → 재검증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오류 메시지를 숨기지 않고 같은 순서로 점검합니다.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기반 AGV End-to-End 개발 커리큘럼 · M15 · Block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오류 대응    |    현재 폴더 ~/ros2_curri/my_agv_ws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" y="1755648"/>
            <a:ext cx="10972800" cy="1115568"/>
          </a:xfrm>
          <a:prstGeom prst="roundRect">
            <a:avLst/>
          </a:prstGeom>
          <a:solidFill>
            <a:srgbClr val="FFF7F4"/>
          </a:solidFill>
          <a:ln>
            <a:solidFill>
              <a:srgbClr val="EDB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896112" y="1901952"/>
            <a:ext cx="292608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BE3B3B"/>
                </a:solidFill>
                <a:latin typeface="Noto Sans CJK KR"/>
              </a:defRPr>
            </a:pPr>
            <a:r>
              <a:rPr/>
              <a:t>증상 1: ROS 노드 시간이 안 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94760" y="1883664"/>
            <a:ext cx="7543800" cy="62179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600" b="0">
                <a:solidFill>
                  <a:srgbClr val="122C4E"/>
                </a:solidFill>
                <a:latin typeface="Noto Sans CJK KR"/>
              </a:defRPr>
            </a:pPr>
            <a:r>
              <a:rPr/>
              <a:t>우선 확인: use_sim_time과 /clock bridge를 확인한다.</a:t>
            </a:r>
            <a:r>
              <a:rPr/>
              <a:t>수정 후: ros2 topic echo /clock --once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" y="3172968"/>
            <a:ext cx="10972800" cy="1115568"/>
          </a:xfrm>
          <a:prstGeom prst="roundRect">
            <a:avLst/>
          </a:prstGeom>
          <a:solidFill>
            <a:srgbClr val="FFF7F4"/>
          </a:solidFill>
          <a:ln>
            <a:solidFill>
              <a:srgbClr val="EDB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896112" y="3319272"/>
            <a:ext cx="292608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BE3B3B"/>
                </a:solidFill>
                <a:latin typeface="Noto Sans CJK KR"/>
              </a:defRPr>
            </a:pPr>
            <a:r>
              <a:rPr/>
              <a:t>증상 2: topic은 있는데 subscriber가 못 받음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94760" y="3300984"/>
            <a:ext cx="7543800" cy="62179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600" b="0">
                <a:solidFill>
                  <a:srgbClr val="122C4E"/>
                </a:solidFill>
                <a:latin typeface="Noto Sans CJK KR"/>
              </a:defRPr>
            </a:pPr>
            <a:r>
              <a:rPr/>
              <a:t>우선 확인: publisher/subscriber QoS reliability 호환을 확인한다.</a:t>
            </a:r>
            <a:r>
              <a:rPr/>
              <a:t>수정 후: ros2 topic echo /clock --once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102352"/>
            <a:ext cx="10607040" cy="40233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800" b="1">
                <a:solidFill>
                  <a:srgbClr val="DB7E22"/>
                </a:solidFill>
                <a:latin typeface="Noto Sans CJK KR"/>
              </a:defRPr>
            </a:pPr>
            <a:r>
              <a:rPr/>
              <a:t>공통 순서: ① 현재 폴더 ② source ③ 파일 경로 ④ 이름/타입/단위 ⑤ build·source 후 재실행</a:t>
            </a:r>
          </a:p>
        </p:txBody>
      </p:sp>
    </p:spTree>
  </p:cSld>
  <p:clrMapOvr>
    <a:masterClrMapping/>
  </p:clrMapOvr>
</p:sld>
</file>

<file path=ppt/slides/slide3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막혔을 때만: Complete를 복구용으로 사용한다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이 슬라이드가 먼저가 아닙니다. 직접 입력·실행을 시도한 뒤에만 내 파일과 Complete를 비교합니다.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기반 AGV End-to-End 개발 커리큘럼 · M15 · Block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복구용 Complete    |    현재 폴더 ~/ros2_curri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664208"/>
            <a:ext cx="10698480" cy="40233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800" b="1">
                <a:solidFill>
                  <a:srgbClr val="DB7E22"/>
                </a:solidFill>
                <a:latin typeface="Noto Sans CJK KR"/>
              </a:defRPr>
            </a:pPr>
            <a:r>
              <a:rPr/>
              <a:t>권장 순서: ① 내 오류를 확인  ② Complete와 diff  ③ 꼭 필요할 때만 backup 후 복사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6656" y="2423160"/>
            <a:ext cx="10881360" cy="260604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cd ~/ros2_curri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diff -ru my_agv_ws/src blocks/D_sensors/M15_sensor_operations/complete/agv_ws/src || true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cp -a my_agv_ws/src my_agv_ws/src_before_M15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cp -a blocks/D_sensors/M15_sensor_operations/complete/agv_ws/src/. my_agv_ws/src/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cd my_agv_ws &amp;&amp; colcon build --symlink-install &amp;&amp; source install/setup.bash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5413248"/>
            <a:ext cx="10424160" cy="4297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700" b="1">
                <a:solidFill>
                  <a:srgbClr val="2A8B5A"/>
                </a:solidFill>
                <a:latin typeface="Noto Sans CJK KR"/>
              </a:defRPr>
            </a:pPr>
            <a:r>
              <a:rPr/>
              <a:t>복구 뒤에는 끝내지 말고, 내 파일과 Complete의 차이를 한 줄씩 설명한 뒤 다시 직접 입력해 봅니다.</a:t>
            </a:r>
          </a:p>
        </p:txBody>
      </p:sp>
    </p:spTree>
  </p:cSld>
  <p:clrMapOvr>
    <a:masterClrMapping/>
  </p:clrMapOvr>
</p:sld>
</file>

<file path=ppt/slides/slide3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미니 실습: 값 하나를 바꾸고 결과를 비교한다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정상 결과를 만든 뒤에는 한 번에 하나의 값만 바꿉니다.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기반 AGV End-to-End 개발 커리큘럼 · M15 · Block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미니 실습    |    현재 폴더 ~/ros2_curri/my_agv_ws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874519"/>
            <a:ext cx="10652760" cy="1993392"/>
          </a:xfrm>
          <a:prstGeom prst="roundRect">
            <a:avLst/>
          </a:prstGeom>
          <a:solidFill>
            <a:srgbClr val="FFF8EB"/>
          </a:solidFill>
          <a:ln>
            <a:solidFill>
              <a:srgbClr val="ECC6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2300" b="1">
                <a:solidFill>
                  <a:srgbClr val="122C4E"/>
                </a:solidFill>
                <a:latin typeface="Noto Sans CJK KR"/>
              </a:defRPr>
            </a:pPr>
            <a:r>
              <a:rPr/>
              <a:t>/scan과 /imu/data의 hz를 표로 기록하고 SDF update_rate 10/100 Hz와 비교한다.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4590288"/>
            <a:ext cx="10241280" cy="5943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900" b="1">
                <a:solidFill>
                  <a:srgbClr val="DB7E22"/>
                </a:solidFill>
                <a:latin typeface="Noto Sans CJK KR"/>
              </a:defRPr>
            </a:pPr>
            <a:r>
              <a:rPr/>
              <a:t>기록할 것: 바꾼 값(단위) · 기대한 변화 · 실제 출력/화면 · 원래 값으로 되돌린 결과</a:t>
            </a:r>
          </a:p>
        </p:txBody>
      </p:sp>
    </p:spTree>
  </p:cSld>
  <p:clrMapOvr>
    <a:masterClrMapping/>
  </p:clrMapOvr>
</p:sld>
</file>

<file path=ppt/slides/slide3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내 프로젝트 체크포인트를 저장하고 다음 모듈로 넘긴다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Complete는 복구용 비교 기준이고, 다음 단계는 내가 직접 만든 workspace에서 계속합니다.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기반 AGV End-to-End 개발 커리큘럼 · M15 · Block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체크포인트    |    현재 폴더 ~/ros2_curri/my_agv_ws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737360"/>
            <a:ext cx="10972800" cy="3611880"/>
          </a:xfrm>
          <a:prstGeom prst="roundRect">
            <a:avLst/>
          </a:prstGeom>
          <a:solidFill>
            <a:srgbClr val="F4F7FB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896112" y="1993392"/>
            <a:ext cx="10332720" cy="297180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22C4E"/>
                </a:solidFill>
                <a:latin typeface="Noto Sans CJK KR"/>
              </a:defRPr>
            </a:pPr>
            <a:r>
              <a:rPr/>
              <a:t>• □ 완료 화면: 모든 sensor 노드가 같은 시뮬레이션 시간과 기대 publish rate를 사용한다.</a:t>
            </a:r>
          </a:p>
          <a:p>
            <a:pPr>
              <a:spcAft>
                <a:spcPts val="800"/>
              </a:spcAft>
              <a:defRPr sz="1800">
                <a:solidFill>
                  <a:srgbClr val="122C4E"/>
                </a:solidFill>
                <a:latin typeface="Noto Sans CJK KR"/>
              </a:defRPr>
            </a:pPr>
            <a:r>
              <a:rPr/>
              <a:t>• □ 막혔을 때 비교할 Complete: blocks/D_sensors/M15_sensor_operations/complete/</a:t>
            </a:r>
          </a:p>
          <a:p>
            <a:pPr>
              <a:spcAft>
                <a:spcPts val="800"/>
              </a:spcAft>
              <a:defRPr sz="1800">
                <a:solidFill>
                  <a:srgbClr val="122C4E"/>
                </a:solidFill>
                <a:latin typeface="Noto Sans CJK KR"/>
              </a:defRPr>
            </a:pPr>
            <a:r>
              <a:rPr/>
              <a:t>• □ 정상 로그·캡처: logs/validation.log, screenshots/validation_terminal.png</a:t>
            </a:r>
          </a:p>
          <a:p>
            <a:pPr>
              <a:spcAft>
                <a:spcPts val="800"/>
              </a:spcAft>
              <a:defRPr sz="1800">
                <a:solidFill>
                  <a:srgbClr val="122C4E"/>
                </a:solidFill>
                <a:latin typeface="Noto Sans CJK KR"/>
              </a:defRPr>
            </a:pPr>
            <a:r>
              <a:rPr/>
              <a:t>• □ 버전 식별: CHECKSUM_or_TAG.txt의 SHA-256 manifest</a:t>
            </a:r>
          </a:p>
          <a:p>
            <a:pPr>
              <a:spcAft>
                <a:spcPts val="800"/>
              </a:spcAft>
              <a:defRPr sz="1800">
                <a:solidFill>
                  <a:srgbClr val="122C4E"/>
                </a:solidFill>
                <a:latin typeface="Noto Sans CJK KR"/>
              </a:defRPr>
            </a:pPr>
            <a:r>
              <a:rPr/>
              <a:t>• □ 다음 시작 조건: M16 제어 interface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5596128"/>
            <a:ext cx="10515600" cy="33832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700" b="1">
                <a:solidFill>
                  <a:srgbClr val="2A8B5A"/>
                </a:solidFill>
                <a:latin typeface="Noto Sans CJK KR"/>
              </a:defRPr>
            </a:pPr>
            <a:r>
              <a:rPr/>
              <a:t>다음 모듈을 시작하기 전, 내 src의 변경사항을 저장하고 현재 완료 조건을 다시 확인합니다.</a:t>
            </a:r>
          </a:p>
        </p:txBody>
      </p:sp>
    </p:spTree>
  </p:cSld>
  <p:clrMapOvr>
    <a:masterClrMapping/>
  </p:clrMapOvr>
</p:sld>
</file>

<file path=ppt/slides/slide3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공식 참고 자료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본문 단계는 링크를 열지 않아도 완료할 수 있으며, 링크는 개념을 더 확인할 때만 사용합니다.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기반 AGV End-to-End 개발 커리큘럼 · M15 · Block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54480"/>
            <a:ext cx="10972800" cy="4526280"/>
          </a:xfrm>
          <a:prstGeom prst="roundRect">
            <a:avLst/>
          </a:prstGeom>
          <a:solidFill>
            <a:srgbClr val="F4F7FB"/>
          </a:solidFill>
          <a:ln>
            <a:solidFill>
              <a:srgbClr val="D7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914400" y="1773936"/>
            <a:ext cx="384048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122C4E"/>
                </a:solidFill>
                <a:latin typeface="Noto Sans CJK KR"/>
              </a:defRPr>
            </a:pPr>
            <a:r>
              <a:rPr/>
              <a:t>ROS 2 Jazzy — Gazebo Simulation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48255"/>
            <a:ext cx="9966960" cy="47548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225B9B"/>
                </a:solidFill>
                <a:latin typeface="DejaVu Sans Mono"/>
              </a:defRPr>
            </a:pPr>
            <a:r>
              <a:rPr/>
              <a:t>https://docs.ros.org/en/jazzy/Tutorials/Advanced/Simulators/Gazebo/Simulation-Gazebo.html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852928"/>
            <a:ext cx="384048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122C4E"/>
                </a:solidFill>
                <a:latin typeface="Noto Sans CJK KR"/>
              </a:defRPr>
            </a:pPr>
            <a:r>
              <a:rPr/>
              <a:t>ROS 2 Jazzy — URDF / robot_state_publisher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127248"/>
            <a:ext cx="9966960" cy="47548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225B9B"/>
                </a:solidFill>
                <a:latin typeface="DejaVu Sans Mono"/>
              </a:defRPr>
            </a:pPr>
            <a:r>
              <a:rPr/>
              <a:t>https://docs.ros.org/en/jazzy/Tutorials/Intermediate/URDF/Using-URDF-with-Robot-State-Publisher-py.html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931920"/>
            <a:ext cx="384048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122C4E"/>
                </a:solidFill>
                <a:latin typeface="Noto Sans CJK KR"/>
              </a:defRPr>
            </a:pPr>
            <a:r>
              <a:rPr/>
              <a:t>Gazebo — ROS 2 Integration / ros_gz_bridge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206240"/>
            <a:ext cx="9966960" cy="47548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225B9B"/>
                </a:solidFill>
                <a:latin typeface="DejaVu Sans Mono"/>
              </a:defRPr>
            </a:pPr>
            <a:r>
              <a:rPr/>
              <a:t>https://gazebosim.org/docs/latest/ros2_integration/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010912"/>
            <a:ext cx="384048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122C4E"/>
                </a:solidFill>
                <a:latin typeface="Noto Sans CJK KR"/>
              </a:defRPr>
            </a:pPr>
            <a:r>
              <a:rPr/>
              <a:t>ROS 2 Jazzy — rosbag2 Recording and Playback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285232"/>
            <a:ext cx="9966960" cy="47548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225B9B"/>
                </a:solidFill>
                <a:latin typeface="DejaVu Sans Mono"/>
              </a:defRPr>
            </a:pPr>
            <a:r>
              <a:rPr/>
              <a:t>https://docs.ros.org/en/jazzy/Tutorials/Beginner-CLI-Tools/Recording-And-Playing-Back-Data/Recording-And-Playing-Back-Data.html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